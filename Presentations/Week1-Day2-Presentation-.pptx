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8"/>
  </p:notesMasterIdLst>
  <p:handoutMasterIdLst>
    <p:handoutMasterId r:id="rId39"/>
  </p:handoutMasterIdLst>
  <p:sldIdLst>
    <p:sldId id="825" r:id="rId2"/>
    <p:sldId id="264" r:id="rId3"/>
    <p:sldId id="828" r:id="rId4"/>
    <p:sldId id="827" r:id="rId5"/>
    <p:sldId id="830" r:id="rId6"/>
    <p:sldId id="826" r:id="rId7"/>
    <p:sldId id="831" r:id="rId8"/>
    <p:sldId id="425" r:id="rId9"/>
    <p:sldId id="375" r:id="rId10"/>
    <p:sldId id="384" r:id="rId11"/>
    <p:sldId id="814" r:id="rId12"/>
    <p:sldId id="815" r:id="rId13"/>
    <p:sldId id="816" r:id="rId14"/>
    <p:sldId id="817" r:id="rId15"/>
    <p:sldId id="818" r:id="rId16"/>
    <p:sldId id="819" r:id="rId17"/>
    <p:sldId id="379" r:id="rId18"/>
    <p:sldId id="376" r:id="rId19"/>
    <p:sldId id="377" r:id="rId20"/>
    <p:sldId id="820" r:id="rId21"/>
    <p:sldId id="378" r:id="rId22"/>
    <p:sldId id="380" r:id="rId23"/>
    <p:sldId id="383" r:id="rId24"/>
    <p:sldId id="381" r:id="rId25"/>
    <p:sldId id="382" r:id="rId26"/>
    <p:sldId id="386" r:id="rId27"/>
    <p:sldId id="385" r:id="rId28"/>
    <p:sldId id="387" r:id="rId29"/>
    <p:sldId id="388" r:id="rId30"/>
    <p:sldId id="389" r:id="rId31"/>
    <p:sldId id="390" r:id="rId32"/>
    <p:sldId id="391" r:id="rId33"/>
    <p:sldId id="392" r:id="rId34"/>
    <p:sldId id="393" r:id="rId35"/>
    <p:sldId id="394" r:id="rId36"/>
    <p:sldId id="832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y1" id="{49A715C7-4BEA-9A4F-B272-17FDCE994C55}">
          <p14:sldIdLst/>
        </p14:section>
        <p14:section name="Week 1-Day1-14-Sep-2026" id="{CFE34B4D-AD69-FD42-AC47-D1DFCFF7A3EC}">
          <p14:sldIdLst/>
        </p14:section>
        <p14:section name="Week1-Day1" id="{592707E5-7470-2141-B09D-1305FA42EF84}">
          <p14:sldIdLst>
            <p14:sldId id="825"/>
            <p14:sldId id="264"/>
            <p14:sldId id="828"/>
            <p14:sldId id="827"/>
            <p14:sldId id="830"/>
            <p14:sldId id="826"/>
            <p14:sldId id="831"/>
            <p14:sldId id="425"/>
            <p14:sldId id="375"/>
            <p14:sldId id="384"/>
            <p14:sldId id="814"/>
            <p14:sldId id="815"/>
            <p14:sldId id="816"/>
            <p14:sldId id="817"/>
            <p14:sldId id="818"/>
            <p14:sldId id="819"/>
            <p14:sldId id="379"/>
            <p14:sldId id="376"/>
            <p14:sldId id="377"/>
            <p14:sldId id="820"/>
            <p14:sldId id="378"/>
            <p14:sldId id="380"/>
            <p14:sldId id="383"/>
            <p14:sldId id="381"/>
            <p14:sldId id="382"/>
            <p14:sldId id="386"/>
            <p14:sldId id="385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83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793D"/>
    <a:srgbClr val="D59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73"/>
    <p:restoredTop sz="96260"/>
  </p:normalViewPr>
  <p:slideViewPr>
    <p:cSldViewPr snapToGrid="0" snapToObjects="1">
      <p:cViewPr varScale="1">
        <p:scale>
          <a:sx n="155" d="100"/>
          <a:sy n="155" d="100"/>
        </p:scale>
        <p:origin x="184" y="3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5" d="100"/>
          <a:sy n="95" d="100"/>
        </p:scale>
        <p:origin x="423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D411ED-FF75-59A5-42FB-01ED8694C8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AE26E-BEA9-FA20-95B3-051D9DC010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A6D3E-BFB1-0DBE-6CA5-9BDCA669FF9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CE009-1979-7F48-9F14-60D43B6B5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311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8559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5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46B9D-6FC7-0B39-0FAF-6224B7A64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93723-602E-31C0-5AF5-530EB2940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01766-A164-8C43-E0A0-ECDB86F34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2E4E2-CD0C-6B19-36D0-D761EFDC9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57240-9234-C8A0-6E4F-BFDEC5571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1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11182-2A58-44E3-1B26-B335EDFC9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1600"/>
            <a:ext cx="7886700" cy="5666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43031-510D-25CD-098D-63BACC815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17685"/>
            <a:ext cx="7886700" cy="381464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540CB-A181-E958-DFF4-A042CF71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6AAD5-04C7-079F-AEBC-92CF2A26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3E8D6-FA7A-5FB8-C639-635EEDC37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57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CD159-D858-91AF-23CA-028E074A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134B8-D84D-80C4-205C-F15175B8D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AD7BA-2C8E-8290-169D-5593496CE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8B649-038E-ECAB-B5A7-B5A536B8A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59DA7-941E-3489-0B06-9364F44C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55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8058-9251-142D-B2C7-0E4A33ABA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43F97-FB91-4C48-9F41-34EAE0EA6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41ECD-2B03-3533-3905-8655F3DE3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6F127-D1B5-4E9D-4E89-A46B69AD9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C6C06-B485-F7D1-4016-3927367B2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38C1E-570A-B60E-3985-0FB26721E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1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B2BA5-9394-6C2A-A215-FA13A60AF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8FE5A-798F-0339-FE62-2CCFA5756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4C3B6-4969-88DF-C2A4-309172BF7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C91313-9F1D-5701-5611-43920FEEA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6F02FC-F5A7-B71D-1729-6C226F4E1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2E2A1B-CAED-3987-3975-7AC687E55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41F795-828B-BBB3-22DA-70EBB30E2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7E514A-7D36-052A-8171-C7A1894F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03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BFFAB-C0C4-8606-011A-1B2667D78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F31B80-6E56-FEDD-7573-44ABE3C59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C2227-4571-9E75-B293-81626719E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AD3066-7472-657F-5B11-F21BB1C23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40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1B5C5C-54B0-33A6-A2AF-07985F1FF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EB333E-011F-8374-CAF7-BB1D7EBFC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779C9-A436-F8FE-761C-B53E365D7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19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FF90-3A83-7251-9D07-B9452676F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68BCB-78B4-1B47-99E4-778FC3504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C1916-1F9A-A98A-93F3-D45727042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74FBC-0127-F788-1394-90A21C95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8AEC2-895A-3F54-DF19-69C193399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8F825-027C-8089-AC7B-89EA062C7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79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1982E-0FA9-C371-2980-773309FC1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747075-BC91-CB48-261D-3F2AA37E74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5E86D8-18F7-812A-85DC-458D617BC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E3033-140A-B4C8-87FD-8932AF379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0F370-C06F-FFCE-58F1-7A5149FA1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76566-C6F1-D693-0F10-E9AEF0394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221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86F2-CCA8-9E8A-200A-341CC9BA2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F3053-EE75-ABB1-E0A2-55639A541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4E7F5-B203-10CC-CB3C-7F18FD107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7CFAF-CC6B-6746-F8FE-388283D5E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94E20-1008-E61C-7FAD-94D616BBA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9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24C26A-B925-1DF1-3DD9-9551F6DE2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2019B-BDA0-1BFA-F4E5-41F93E2CA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A2221-91D9-EFE6-5EA2-A92F8333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7D1CE-249C-FA4D-14C8-E4051215B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0F923-E62F-245F-AF69-1AFDD92E0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9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5F5D18-534C-85C8-761D-E0527FE1E180}"/>
              </a:ext>
            </a:extLst>
          </p:cNvPr>
          <p:cNvSpPr txBox="1"/>
          <p:nvPr userDrawn="1"/>
        </p:nvSpPr>
        <p:spPr>
          <a:xfrm>
            <a:off x="-111407" y="4845879"/>
            <a:ext cx="2455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CA" b="1" i="0" dirty="0">
                <a:solidFill>
                  <a:srgbClr val="040053"/>
                </a:solidFill>
                <a:effectLst/>
              </a:rPr>
              <a:t>@AnnotateTech </a:t>
            </a:r>
            <a:r>
              <a:rPr lang="en-CA" b="1" i="0" dirty="0">
                <a:solidFill>
                  <a:srgbClr val="FF751F"/>
                </a:solidFill>
                <a:effectLst/>
              </a:rPr>
              <a:t>Claude</a:t>
            </a:r>
            <a:endParaRPr lang="en-CA" dirty="0">
              <a:effectLst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D48564E-05BF-32FD-9E94-FA1C1A0A07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7946"/>
            <a:ext cx="9144000" cy="513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479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505FA82D-CB5E-9AB7-9395-DEFC805C2AE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7946"/>
            <a:ext cx="9144000" cy="513555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0EF53C-D697-2C00-ADC9-9BB9256E2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035F9-E156-A203-C8A8-F23C780F3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CE358-E585-7C7E-4E6E-46267937F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8DB79-93ED-BA07-B6CE-B2D66D871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548CB-0803-4CC5-5323-FA201A09E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03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 smtClean="0">
          <a:solidFill>
            <a:srgbClr val="7C2D0A"/>
          </a:solidFill>
          <a:latin typeface="Cambria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600" b="1" kern="1200" dirty="0" smtClean="0">
          <a:solidFill>
            <a:srgbClr val="7C2D0A"/>
          </a:solidFill>
          <a:latin typeface="Cambria" pitchFamily="34" charset="0"/>
          <a:ea typeface="+mj-ea"/>
          <a:cs typeface="+mj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B05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EB793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03AF70-689C-4845-E07D-EE4F02FF0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1- Day2</a:t>
            </a:r>
          </a:p>
        </p:txBody>
      </p:sp>
    </p:spTree>
    <p:extLst>
      <p:ext uri="{BB962C8B-B14F-4D97-AF65-F5344CB8AC3E}">
        <p14:creationId xmlns:p14="http://schemas.microsoft.com/office/powerpoint/2010/main" val="1716716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EF54B-F602-CCC4-2ABD-B3708680E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BBDD9A4-E80D-717D-302C-59189DD18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437"/>
            <a:ext cx="9144000" cy="5135554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8E058705-D9B6-A3B4-6996-3541076C5067}"/>
              </a:ext>
            </a:extLst>
          </p:cNvPr>
          <p:cNvSpPr/>
          <p:nvPr/>
        </p:nvSpPr>
        <p:spPr>
          <a:xfrm>
            <a:off x="327495" y="650789"/>
            <a:ext cx="7505082" cy="99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7C2D0A"/>
                </a:solidFill>
                <a:latin typeface="Cambria" pitchFamily="34" charset="0"/>
              </a:rPr>
              <a:t>Core Formula </a:t>
            </a:r>
            <a:endParaRPr lang="en-US" sz="40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D17D0CC9-E1C4-E88E-8E9B-3F1FA39AA7FA}"/>
              </a:ext>
            </a:extLst>
          </p:cNvPr>
          <p:cNvSpPr/>
          <p:nvPr/>
        </p:nvSpPr>
        <p:spPr>
          <a:xfrm>
            <a:off x="411480" y="35273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Week1 – Day2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C5A6D6-210C-6954-4D7F-0F49A88BA593}"/>
              </a:ext>
            </a:extLst>
          </p:cNvPr>
          <p:cNvSpPr txBox="1"/>
          <p:nvPr/>
        </p:nvSpPr>
        <p:spPr>
          <a:xfrm>
            <a:off x="588461" y="1645920"/>
            <a:ext cx="84050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% Calculations (variance , margins)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Absolute vs relative references ($)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Error Type (#N/A, #Value)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Basic Validations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A3C217-578F-B2AA-4250-8AF033146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058" y="174301"/>
            <a:ext cx="2081038" cy="479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261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14723-46E2-5152-3617-4E00C9577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7C127-C68A-1E80-9682-D04849150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Currency : </a:t>
            </a:r>
            <a:r>
              <a:rPr lang="en-CA" dirty="0"/>
              <a:t>Apply Decimal Places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42686-3137-B37E-FF1D-81F97D5B9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=Round(G2,2)</a:t>
            </a:r>
          </a:p>
          <a:p>
            <a:r>
              <a:rPr lang="en-US" dirty="0"/>
              <a:t>Format the currency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144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A30FE-7546-A503-1622-72784BF22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E050002-DEE3-99A9-72B2-D9A652C65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064"/>
            <a:ext cx="8908026" cy="4771925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F9D7FDDE-1B55-3DA5-76C8-F00F3FF2BCDC}"/>
              </a:ext>
            </a:extLst>
          </p:cNvPr>
          <p:cNvSpPr/>
          <p:nvPr/>
        </p:nvSpPr>
        <p:spPr>
          <a:xfrm>
            <a:off x="327495" y="367393"/>
            <a:ext cx="7505082" cy="76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7C2D0A"/>
                </a:solidFill>
                <a:latin typeface="Cambria" pitchFamily="34" charset="0"/>
              </a:rPr>
              <a:t>Excel Foundations </a:t>
            </a:r>
            <a:endParaRPr lang="en-US" sz="40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EE99C6E4-0408-9A36-A563-1D3118D97DC5}"/>
              </a:ext>
            </a:extLst>
          </p:cNvPr>
          <p:cNvSpPr/>
          <p:nvPr/>
        </p:nvSpPr>
        <p:spPr>
          <a:xfrm>
            <a:off x="411480" y="47937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Week1 - Day1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812F4-F998-5B3E-8F65-BAB96BEEC5A7}"/>
              </a:ext>
            </a:extLst>
          </p:cNvPr>
          <p:cNvSpPr txBox="1"/>
          <p:nvPr/>
        </p:nvSpPr>
        <p:spPr>
          <a:xfrm>
            <a:off x="328642" y="1134642"/>
            <a:ext cx="837290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Structuring datasets into table</a:t>
            </a:r>
          </a:p>
          <a:p>
            <a:r>
              <a:rPr lang="en-CA" sz="1400" dirty="0"/>
              <a:t>Structuring a dataset into a table means organizing related data into rows and columns and converting the range into an Excel Table for easier sorting, filtering, analysis, and management.</a:t>
            </a:r>
          </a:p>
          <a:p>
            <a:endParaRPr lang="en-CA" sz="1400" b="1" dirty="0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400" b="1" dirty="0">
                <a:solidFill>
                  <a:srgbClr val="00B050"/>
                </a:solidFill>
              </a:rPr>
              <a:t>Filter buttons</a:t>
            </a:r>
            <a:r>
              <a:rPr lang="en-CA" sz="1400" dirty="0">
                <a:solidFill>
                  <a:srgbClr val="00B050"/>
                </a:solidFill>
              </a:rPr>
              <a:t> on column headings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B050"/>
                </a:solidFill>
              </a:rPr>
              <a:t>Consistent formatting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B050"/>
                </a:solidFill>
              </a:rPr>
              <a:t>Automatic expansion when new rows are added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B050"/>
                </a:solidFill>
              </a:rPr>
              <a:t>Easier sorting and filtering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B050"/>
                </a:solidFill>
              </a:rPr>
              <a:t>Structured references for formulas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B050"/>
                </a:solidFill>
              </a:rPr>
              <a:t>Easier PivotTable and chart creation</a:t>
            </a:r>
            <a:endParaRPr lang="en-US" sz="1400" b="1" dirty="0">
              <a:solidFill>
                <a:srgbClr val="00B050"/>
              </a:solidFill>
            </a:endParaRPr>
          </a:p>
          <a:p>
            <a:endParaRPr lang="en-US" sz="2000" b="1" dirty="0">
              <a:solidFill>
                <a:srgbClr val="C00000"/>
              </a:solidFill>
            </a:endParaRPr>
          </a:p>
          <a:p>
            <a:endParaRPr lang="en-US" sz="2000" b="1" dirty="0">
              <a:solidFill>
                <a:srgbClr val="C00000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4E40D7-5B82-1954-DA8B-C0F3708D46A3}"/>
              </a:ext>
            </a:extLst>
          </p:cNvPr>
          <p:cNvGraphicFramePr>
            <a:graphicFrameLocks noGrp="1"/>
          </p:cNvGraphicFramePr>
          <p:nvPr/>
        </p:nvGraphicFramePr>
        <p:xfrm>
          <a:off x="142444" y="3611772"/>
          <a:ext cx="8765580" cy="1097280"/>
        </p:xfrm>
        <a:graphic>
          <a:graphicData uri="http://schemas.openxmlformats.org/drawingml/2006/table">
            <a:tbl>
              <a:tblPr/>
              <a:tblGrid>
                <a:gridCol w="1460930">
                  <a:extLst>
                    <a:ext uri="{9D8B030D-6E8A-4147-A177-3AD203B41FA5}">
                      <a16:colId xmlns:a16="http://schemas.microsoft.com/office/drawing/2014/main" val="3162416279"/>
                    </a:ext>
                  </a:extLst>
                </a:gridCol>
                <a:gridCol w="1460930">
                  <a:extLst>
                    <a:ext uri="{9D8B030D-6E8A-4147-A177-3AD203B41FA5}">
                      <a16:colId xmlns:a16="http://schemas.microsoft.com/office/drawing/2014/main" val="395810345"/>
                    </a:ext>
                  </a:extLst>
                </a:gridCol>
                <a:gridCol w="1460930">
                  <a:extLst>
                    <a:ext uri="{9D8B030D-6E8A-4147-A177-3AD203B41FA5}">
                      <a16:colId xmlns:a16="http://schemas.microsoft.com/office/drawing/2014/main" val="3063022444"/>
                    </a:ext>
                  </a:extLst>
                </a:gridCol>
                <a:gridCol w="1460930">
                  <a:extLst>
                    <a:ext uri="{9D8B030D-6E8A-4147-A177-3AD203B41FA5}">
                      <a16:colId xmlns:a16="http://schemas.microsoft.com/office/drawing/2014/main" val="2884742223"/>
                    </a:ext>
                  </a:extLst>
                </a:gridCol>
                <a:gridCol w="1460930">
                  <a:extLst>
                    <a:ext uri="{9D8B030D-6E8A-4147-A177-3AD203B41FA5}">
                      <a16:colId xmlns:a16="http://schemas.microsoft.com/office/drawing/2014/main" val="3125920785"/>
                    </a:ext>
                  </a:extLst>
                </a:gridCol>
                <a:gridCol w="1460930">
                  <a:extLst>
                    <a:ext uri="{9D8B030D-6E8A-4147-A177-3AD203B41FA5}">
                      <a16:colId xmlns:a16="http://schemas.microsoft.com/office/drawing/2014/main" val="3716572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Transaction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Customer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Branch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Amount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301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T001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Rahul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Pune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₹25,000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01-Aug-26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Approved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208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T002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Mumbai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₹45,000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02-Aug-26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Pending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061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T003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Amit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Pune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₹12,000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03-Aug-26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Approved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080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620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60AED-A969-BE90-BF5F-657D72A73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5DE31FE3-664B-5B45-01BF-A5A86227683B}"/>
              </a:ext>
            </a:extLst>
          </p:cNvPr>
          <p:cNvSpPr/>
          <p:nvPr/>
        </p:nvSpPr>
        <p:spPr>
          <a:xfrm>
            <a:off x="327495" y="224178"/>
            <a:ext cx="7505082" cy="99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7C2D0A"/>
                </a:solidFill>
                <a:latin typeface="Cambria" pitchFamily="34" charset="0"/>
              </a:rPr>
              <a:t>Excel Foundations-Filter </a:t>
            </a:r>
            <a:endParaRPr lang="en-US" sz="40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684ABE62-B501-1364-C2A6-D66399AA5D0F}"/>
              </a:ext>
            </a:extLst>
          </p:cNvPr>
          <p:cNvSpPr/>
          <p:nvPr/>
        </p:nvSpPr>
        <p:spPr>
          <a:xfrm>
            <a:off x="411480" y="47937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Week1 - Day1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3FA48-2A36-91DB-B405-0A27723A0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36" y="1227195"/>
            <a:ext cx="7772400" cy="13559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9B6C0D-137A-BCBA-6951-4E003C1650B2}"/>
              </a:ext>
            </a:extLst>
          </p:cNvPr>
          <p:cNvSpPr txBox="1"/>
          <p:nvPr/>
        </p:nvSpPr>
        <p:spPr>
          <a:xfrm>
            <a:off x="6123482" y="989354"/>
            <a:ext cx="16770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Cleaned_Data-Week1- Day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59B92B-68A3-0C8A-F5D6-F2997566928F}"/>
              </a:ext>
            </a:extLst>
          </p:cNvPr>
          <p:cNvSpPr txBox="1"/>
          <p:nvPr/>
        </p:nvSpPr>
        <p:spPr>
          <a:xfrm>
            <a:off x="382249" y="2683239"/>
            <a:ext cx="3523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LcPeriod"/>
            </a:pPr>
            <a:r>
              <a:rPr lang="en-US" dirty="0"/>
              <a:t>Filter based on Transaction type</a:t>
            </a:r>
          </a:p>
          <a:p>
            <a:pPr marL="342900" indent="-342900">
              <a:buAutoNum type="alphaLcPeriod"/>
            </a:pPr>
            <a:r>
              <a:rPr lang="en-US" dirty="0"/>
              <a:t>Filter based on color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8ED29-EC6C-F0E8-C957-2D9EF9BE56EC}"/>
              </a:ext>
            </a:extLst>
          </p:cNvPr>
          <p:cNvSpPr txBox="1"/>
          <p:nvPr/>
        </p:nvSpPr>
        <p:spPr>
          <a:xfrm>
            <a:off x="299803" y="4107305"/>
            <a:ext cx="8214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also data from “</a:t>
            </a:r>
            <a:r>
              <a:rPr lang="en-US" b="1" dirty="0"/>
              <a:t>Retail Banking Operational Analyst_Lab1_Data</a:t>
            </a:r>
            <a:r>
              <a:rPr lang="en-US" dirty="0"/>
              <a:t>”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51D42A-BA25-BDD1-BB57-6CE7AF9B3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043" y="2591057"/>
            <a:ext cx="3523016" cy="143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112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2AA2F-2CBD-013B-1CDE-30806C1D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38FE4C3-CBEF-236E-EE92-3D4965AC2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064"/>
            <a:ext cx="5673213" cy="4771925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126E485A-322D-0940-2C52-F7580463794C}"/>
              </a:ext>
            </a:extLst>
          </p:cNvPr>
          <p:cNvSpPr/>
          <p:nvPr/>
        </p:nvSpPr>
        <p:spPr>
          <a:xfrm>
            <a:off x="327495" y="224178"/>
            <a:ext cx="7505082" cy="99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7C2D0A"/>
                </a:solidFill>
                <a:latin typeface="Cambria" pitchFamily="34" charset="0"/>
              </a:rPr>
              <a:t>Excel Foundations </a:t>
            </a:r>
            <a:endParaRPr lang="en-US" sz="40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2BE41F29-21B2-654F-DC45-F5E3A8DD1F2C}"/>
              </a:ext>
            </a:extLst>
          </p:cNvPr>
          <p:cNvSpPr/>
          <p:nvPr/>
        </p:nvSpPr>
        <p:spPr>
          <a:xfrm>
            <a:off x="411480" y="47937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Week1 - Day1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61EB5-6C4F-753F-22B9-BA40150EB0EA}"/>
              </a:ext>
            </a:extLst>
          </p:cNvPr>
          <p:cNvSpPr txBox="1"/>
          <p:nvPr/>
        </p:nvSpPr>
        <p:spPr>
          <a:xfrm>
            <a:off x="106680" y="1370069"/>
            <a:ext cx="501592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>
                <a:solidFill>
                  <a:srgbClr val="EB793D"/>
                </a:solidFill>
              </a:rPr>
              <a:t>Sorting</a:t>
            </a:r>
            <a:r>
              <a:rPr lang="en-CA" sz="1100" dirty="0">
                <a:solidFill>
                  <a:srgbClr val="EB793D"/>
                </a:solidFill>
              </a:rPr>
              <a:t> </a:t>
            </a:r>
            <a:r>
              <a:rPr lang="en-CA" sz="1100" dirty="0"/>
              <a:t>is the process of arranging data in a specific order so that it becomes easier to analyze, compare, and find information.</a:t>
            </a:r>
          </a:p>
          <a:p>
            <a:r>
              <a:rPr lang="en-CA" sz="1100" dirty="0">
                <a:solidFill>
                  <a:srgbClr val="EB793D"/>
                </a:solidFill>
              </a:rPr>
              <a:t>In Excel, you can sort data in:</a:t>
            </a:r>
          </a:p>
          <a:p>
            <a:r>
              <a:rPr lang="en-CA" sz="1100" b="1" dirty="0">
                <a:solidFill>
                  <a:srgbClr val="EB793D"/>
                </a:solidFill>
              </a:rPr>
              <a:t>Ascending order</a:t>
            </a:r>
            <a:r>
              <a:rPr lang="en-CA" sz="1100" dirty="0">
                <a:solidFill>
                  <a:srgbClr val="EB793D"/>
                </a:solidFill>
              </a:rPr>
              <a:t> </a:t>
            </a:r>
            <a:r>
              <a:rPr lang="en-CA" sz="1100" dirty="0"/>
              <a:t>– Smallest to Largest, A to Z, or Oldest to Newest</a:t>
            </a:r>
          </a:p>
          <a:p>
            <a:r>
              <a:rPr lang="en-CA" sz="1100" b="1" dirty="0">
                <a:solidFill>
                  <a:srgbClr val="EB793D"/>
                </a:solidFill>
              </a:rPr>
              <a:t>Descending order</a:t>
            </a:r>
            <a:r>
              <a:rPr lang="en-CA" sz="1100" dirty="0">
                <a:solidFill>
                  <a:srgbClr val="EB793D"/>
                </a:solidFill>
              </a:rPr>
              <a:t> </a:t>
            </a:r>
            <a:r>
              <a:rPr lang="en-CA" sz="1100" dirty="0"/>
              <a:t>– Largest to Smallest, Z to A, or Newest to Oldest</a:t>
            </a:r>
          </a:p>
          <a:p>
            <a:r>
              <a:rPr lang="en-CA" sz="1100" dirty="0"/>
              <a:t>	For a banking operations dataset, you may want to: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CA" sz="1100" dirty="0"/>
              <a:t>Sort </a:t>
            </a:r>
            <a:r>
              <a:rPr lang="en-CA" sz="1100" b="1" dirty="0"/>
              <a:t>Transaction Amount</a:t>
            </a:r>
            <a:r>
              <a:rPr lang="en-CA" sz="1100" dirty="0"/>
              <a:t> from highest to lowest.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CA" sz="1100" dirty="0"/>
              <a:t>Sort </a:t>
            </a:r>
            <a:r>
              <a:rPr lang="en-CA" sz="1100" b="1" dirty="0"/>
              <a:t>Customer Name</a:t>
            </a:r>
            <a:r>
              <a:rPr lang="en-CA" sz="1100" dirty="0"/>
              <a:t> from A to Z.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CA" sz="1100" dirty="0"/>
              <a:t>Sort </a:t>
            </a:r>
            <a:r>
              <a:rPr lang="en-CA" sz="1100" b="1" dirty="0"/>
              <a:t>Transaction Date</a:t>
            </a:r>
            <a:r>
              <a:rPr lang="en-CA" sz="1100" dirty="0"/>
              <a:t> from oldest to newest.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A19BB5-59C2-D091-903F-AD3F095A07F7}"/>
              </a:ext>
            </a:extLst>
          </p:cNvPr>
          <p:cNvSpPr txBox="1"/>
          <p:nvPr/>
        </p:nvSpPr>
        <p:spPr>
          <a:xfrm>
            <a:off x="5593080" y="1022555"/>
            <a:ext cx="32234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You could sort:</a:t>
            </a:r>
          </a:p>
          <a:p>
            <a:r>
              <a:rPr lang="en-CA" b="1" dirty="0"/>
              <a:t>First level:</a:t>
            </a:r>
            <a:r>
              <a:rPr lang="en-CA" dirty="0"/>
              <a:t> Branch → A to Z</a:t>
            </a:r>
            <a:br>
              <a:rPr lang="en-CA" dirty="0"/>
            </a:br>
            <a:r>
              <a:rPr lang="en-CA" b="1" dirty="0"/>
              <a:t>Second level:</a:t>
            </a:r>
            <a:r>
              <a:rPr lang="en-CA" dirty="0"/>
              <a:t> Transaction Amount → Largest to Smallest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271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B008D-29F8-75DD-EE06-998BA1CB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1CF28-3894-7C54-0503-28E09E976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KPMG_W1_D1_Sorting_Lab_Manual</a:t>
            </a:r>
          </a:p>
          <a:p>
            <a:r>
              <a:rPr lang="en-US" dirty="0"/>
              <a:t>KPMG_W1_Day1_Lab_Formatting_LabManual</a:t>
            </a:r>
          </a:p>
        </p:txBody>
      </p:sp>
    </p:spTree>
    <p:extLst>
      <p:ext uri="{BB962C8B-B14F-4D97-AF65-F5344CB8AC3E}">
        <p14:creationId xmlns:p14="http://schemas.microsoft.com/office/powerpoint/2010/main" val="3281505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2F64-5328-9135-5DF8-82E8CA7C5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6B93B-BD9E-2A6B-9594-50D2B2FDD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02323"/>
            <a:ext cx="7886700" cy="1969477"/>
          </a:xfrm>
        </p:spPr>
        <p:txBody>
          <a:bodyPr>
            <a:normAutofit/>
          </a:bodyPr>
          <a:lstStyle/>
          <a:p>
            <a:r>
              <a:rPr lang="en-CA" sz="1400" dirty="0"/>
              <a:t>Calculate transaction totals, record counts and averages</a:t>
            </a:r>
          </a:p>
          <a:p>
            <a:r>
              <a:rPr lang="en-CA" sz="1400" dirty="0"/>
              <a:t>Compare branch performance and transaction volumes</a:t>
            </a:r>
          </a:p>
          <a:p>
            <a:r>
              <a:rPr lang="en-CA" sz="1400" dirty="0"/>
              <a:t>Build reusable calculation models without incorrect references</a:t>
            </a:r>
          </a:p>
          <a:p>
            <a:r>
              <a:rPr lang="en-CA" sz="1400" dirty="0"/>
              <a:t>Detect incorrect or incomplete calculations</a:t>
            </a:r>
          </a:p>
          <a:p>
            <a:r>
              <a:rPr lang="en-CA" sz="1400" dirty="0"/>
              <a:t>Verify whether operational reports are accurate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397A3-86E7-A32F-6BC5-D4F2321D9774}"/>
              </a:ext>
            </a:extLst>
          </p:cNvPr>
          <p:cNvSpPr txBox="1"/>
          <p:nvPr/>
        </p:nvSpPr>
        <p:spPr>
          <a:xfrm>
            <a:off x="202223" y="4537838"/>
            <a:ext cx="863890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/Users/</a:t>
            </a:r>
            <a:r>
              <a:rPr lang="en-US" sz="900" dirty="0" err="1"/>
              <a:t>ashujauhari</a:t>
            </a:r>
            <a:r>
              <a:rPr lang="en-US" sz="900" dirty="0"/>
              <a:t>/Data-2026/Client-2026/REVATURE-KPMG-</a:t>
            </a:r>
            <a:r>
              <a:rPr lang="en-US" sz="900" dirty="0" err="1"/>
              <a:t>OperationAnalyst</a:t>
            </a:r>
            <a:r>
              <a:rPr lang="en-US" sz="900" dirty="0"/>
              <a:t>/Week1-ExcelFoundation/Day2/KPMG_W1_Day1_Practice.xlsx</a:t>
            </a:r>
          </a:p>
          <a:p>
            <a:r>
              <a:rPr lang="en-US" sz="900" dirty="0"/>
              <a:t>'/Users/</a:t>
            </a:r>
            <a:r>
              <a:rPr lang="en-US" sz="900" dirty="0" err="1"/>
              <a:t>ashujauhari</a:t>
            </a:r>
            <a:r>
              <a:rPr lang="en-US" sz="900" dirty="0"/>
              <a:t>/Data-2026/Client-2026/REVATURE-KPMG-</a:t>
            </a:r>
            <a:r>
              <a:rPr lang="en-US" sz="900" dirty="0" err="1"/>
              <a:t>OperationAnalyst</a:t>
            </a:r>
            <a:r>
              <a:rPr lang="en-US" sz="900" dirty="0"/>
              <a:t>/Week1-ExcelFoundation/Day2/KPMG_W1_D2_Basic </a:t>
            </a:r>
            <a:r>
              <a:rPr lang="en-US" sz="900" dirty="0" err="1"/>
              <a:t>Validation_Lab_Manual.docx</a:t>
            </a:r>
            <a:r>
              <a:rPr lang="en-US" sz="900" dirty="0"/>
              <a:t>'</a:t>
            </a:r>
          </a:p>
          <a:p>
            <a:r>
              <a:rPr lang="en-US" sz="900" dirty="0"/>
              <a:t>'/Users/</a:t>
            </a:r>
            <a:r>
              <a:rPr lang="en-US" sz="900" dirty="0" err="1"/>
              <a:t>ashujauhari</a:t>
            </a:r>
            <a:r>
              <a:rPr lang="en-US" sz="900" dirty="0"/>
              <a:t>/Data-2026/Client-2026/REVATURE-KPMG-</a:t>
            </a:r>
            <a:r>
              <a:rPr lang="en-US" sz="900" dirty="0" err="1"/>
              <a:t>OperationAnalyst</a:t>
            </a:r>
            <a:r>
              <a:rPr lang="en-US" sz="900" dirty="0"/>
              <a:t>/Week1-ExcelFoundation/Day2/KPMG_W1_D2_Covariance and </a:t>
            </a:r>
            <a:r>
              <a:rPr lang="en-US" sz="900" dirty="0" err="1"/>
              <a:t>Margin_Lab_Manual.docx</a:t>
            </a:r>
            <a:r>
              <a:rPr lang="en-US" sz="900" dirty="0"/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177050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731D5-D23F-AE6E-3004-EB24ABE96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13679-B405-918D-B8D4-A607C4367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dirty="0" err="1"/>
              <a:t>Clean_Data_Practice</a:t>
            </a:r>
            <a:r>
              <a:rPr lang="en-US" sz="1100" dirty="0"/>
              <a:t> tab:</a:t>
            </a:r>
          </a:p>
          <a:p>
            <a:r>
              <a:rPr lang="en-US" sz="1100" dirty="0"/>
              <a:t>Count ()    			 =COUNT(F2:F31)</a:t>
            </a:r>
          </a:p>
          <a:p>
            <a:r>
              <a:rPr lang="en-US" sz="1100" dirty="0"/>
              <a:t>Sum() 			=Sum(F2:F31)</a:t>
            </a:r>
          </a:p>
          <a:p>
            <a:r>
              <a:rPr lang="en-US" sz="1100" dirty="0"/>
              <a:t>Average()			=Average(F2:F31)</a:t>
            </a:r>
          </a:p>
          <a:p>
            <a:r>
              <a:rPr lang="en-US" sz="1100" dirty="0" err="1"/>
              <a:t>Isnumber</a:t>
            </a:r>
            <a:r>
              <a:rPr lang="en-US" sz="1100" dirty="0"/>
              <a:t>()		=</a:t>
            </a:r>
            <a:r>
              <a:rPr lang="en-US" sz="1100" dirty="0" err="1"/>
              <a:t>isnumber</a:t>
            </a:r>
            <a:r>
              <a:rPr lang="en-US" sz="1100" dirty="0"/>
              <a:t>(F2)</a:t>
            </a:r>
          </a:p>
          <a:p>
            <a:r>
              <a:rPr lang="en-US" sz="1100" dirty="0" err="1"/>
              <a:t>isText</a:t>
            </a:r>
            <a:r>
              <a:rPr lang="en-US" sz="1100" dirty="0"/>
              <a:t>()			=</a:t>
            </a:r>
            <a:r>
              <a:rPr lang="en-US" sz="1100" dirty="0" err="1"/>
              <a:t>isText</a:t>
            </a:r>
            <a:r>
              <a:rPr lang="en-US" sz="1100" dirty="0"/>
              <a:t>(F2)</a:t>
            </a:r>
          </a:p>
          <a:p>
            <a:r>
              <a:rPr lang="en-US" sz="1100" dirty="0"/>
              <a:t>CountA()			=CountA(F2:F31)	“</a:t>
            </a:r>
          </a:p>
          <a:p>
            <a:endParaRPr lang="en-US" sz="1100" dirty="0"/>
          </a:p>
          <a:p>
            <a:pPr lvl="1"/>
            <a:r>
              <a:rPr lang="en-US" sz="100" dirty="0"/>
              <a:t>Con	</a:t>
            </a:r>
          </a:p>
          <a:p>
            <a:pPr lvl="1"/>
            <a:r>
              <a:rPr lang="en-CA" sz="800" b="1" dirty="0"/>
              <a:t>COUNTA()</a:t>
            </a:r>
            <a:r>
              <a:rPr lang="en-CA" sz="800" dirty="0"/>
              <a:t> counts the number of </a:t>
            </a:r>
            <a:r>
              <a:rPr lang="en-CA" sz="800" b="1" dirty="0"/>
              <a:t>non-empty cells</a:t>
            </a:r>
            <a:r>
              <a:rPr lang="en-CA" sz="800" dirty="0"/>
              <a:t> in a range.</a:t>
            </a:r>
            <a:r>
              <a:rPr lang="en-US" sz="100" dirty="0"/>
              <a:t> </a:t>
            </a:r>
          </a:p>
          <a:p>
            <a:pPr lvl="1"/>
            <a:endParaRPr lang="en-US" sz="100" dirty="0"/>
          </a:p>
        </p:txBody>
      </p:sp>
    </p:spTree>
    <p:extLst>
      <p:ext uri="{BB962C8B-B14F-4D97-AF65-F5344CB8AC3E}">
        <p14:creationId xmlns:p14="http://schemas.microsoft.com/office/powerpoint/2010/main" val="1723856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8CB6E-B125-489E-EC53-4C241389C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490293"/>
          </a:xfrm>
        </p:spPr>
        <p:txBody>
          <a:bodyPr>
            <a:normAutofit fontScale="90000"/>
          </a:bodyPr>
          <a:lstStyle/>
          <a:p>
            <a:r>
              <a:rPr lang="en-US" dirty="0"/>
              <a:t>Absolute Vs Relative Reference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F544F7-5CBD-25AD-5690-7278114264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390" y="1053490"/>
            <a:ext cx="8714726" cy="38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85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0E6EE1-F73D-E4D8-223E-98986D2A357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6937" y="753029"/>
          <a:ext cx="7434471" cy="4486022"/>
        </p:xfrm>
        <a:graphic>
          <a:graphicData uri="http://schemas.openxmlformats.org/drawingml/2006/table">
            <a:tbl>
              <a:tblPr/>
              <a:tblGrid>
                <a:gridCol w="2178656">
                  <a:extLst>
                    <a:ext uri="{9D8B030D-6E8A-4147-A177-3AD203B41FA5}">
                      <a16:colId xmlns:a16="http://schemas.microsoft.com/office/drawing/2014/main" val="2804290974"/>
                    </a:ext>
                  </a:extLst>
                </a:gridCol>
                <a:gridCol w="2777658">
                  <a:extLst>
                    <a:ext uri="{9D8B030D-6E8A-4147-A177-3AD203B41FA5}">
                      <a16:colId xmlns:a16="http://schemas.microsoft.com/office/drawing/2014/main" val="3979320012"/>
                    </a:ext>
                  </a:extLst>
                </a:gridCol>
                <a:gridCol w="2478157">
                  <a:extLst>
                    <a:ext uri="{9D8B030D-6E8A-4147-A177-3AD203B41FA5}">
                      <a16:colId xmlns:a16="http://schemas.microsoft.com/office/drawing/2014/main" val="2175277417"/>
                    </a:ext>
                  </a:extLst>
                </a:gridCol>
              </a:tblGrid>
              <a:tr h="376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/>
                        <a:t>Analysis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/>
                        <a:t>Excel Formula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/>
                        <a:t>Expected Result / Purpose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027909"/>
                  </a:ext>
                </a:extLst>
              </a:tr>
              <a:tr h="376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/>
                        <a:t>Total transaction amount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>
                          <a:latin typeface="Courier New" panose="02070309020205020404" pitchFamily="49" charset="0"/>
                        </a:rPr>
                        <a:t>=SUM(F2:F16)</a:t>
                      </a:r>
                      <a:endParaRPr lang="en-CA" sz="1100" dirty="0"/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Adds numeric transaction amounts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296350"/>
                  </a:ext>
                </a:extLst>
              </a:tr>
              <a:tr h="376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/>
                        <a:t>Number of transactions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>
                          <a:latin typeface="Courier New" panose="02070309020205020404" pitchFamily="49" charset="0"/>
                        </a:rPr>
                        <a:t>=COUNT(F2:F16)</a:t>
                      </a:r>
                      <a:endParaRPr lang="en-CA" sz="1100" dirty="0"/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Counts numeric amounts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401466"/>
                  </a:ext>
                </a:extLst>
              </a:tr>
              <a:tr h="376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/>
                        <a:t>Number of populated transaction records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>
                          <a:latin typeface="Courier New" panose="02070309020205020404" pitchFamily="49" charset="0"/>
                        </a:rPr>
                        <a:t>=COUNTA(I2:I16)</a:t>
                      </a:r>
                      <a:endParaRPr lang="en-CA" sz="1100" dirty="0"/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Counts non-empty Transaction IDs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483075"/>
                  </a:ext>
                </a:extLst>
              </a:tr>
              <a:tr h="451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/>
                        <a:t>Average transaction amount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>
                          <a:latin typeface="Courier New" panose="02070309020205020404" pitchFamily="49" charset="0"/>
                        </a:rPr>
                        <a:t>=AVERAGE(F2:F16)</a:t>
                      </a:r>
                      <a:endParaRPr lang="en-CA" sz="1100" dirty="0"/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Calculates average of numeric amounts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590195"/>
                  </a:ext>
                </a:extLst>
              </a:tr>
              <a:tr h="214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/>
                        <a:t>Highest transaction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>
                          <a:latin typeface="Courier New" panose="02070309020205020404" pitchFamily="49" charset="0"/>
                        </a:rPr>
                        <a:t>=MAX(F2:F16)</a:t>
                      </a:r>
                      <a:endParaRPr lang="en-CA" sz="1100" dirty="0"/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Finds largest amount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384150"/>
                  </a:ext>
                </a:extLst>
              </a:tr>
              <a:tr h="214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/>
                        <a:t>Lowest transaction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>
                          <a:latin typeface="Courier New" panose="02070309020205020404" pitchFamily="49" charset="0"/>
                        </a:rPr>
                        <a:t>=MIN(F2:F16)</a:t>
                      </a:r>
                      <a:endParaRPr lang="en-CA" sz="1100" dirty="0"/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Finds smallest amount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284780"/>
                  </a:ext>
                </a:extLst>
              </a:tr>
              <a:tr h="376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/>
                        <a:t>Credit count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>
                          <a:latin typeface="Courier New" panose="02070309020205020404" pitchFamily="49" charset="0"/>
                        </a:rPr>
                        <a:t>=COUNTIF(E2:E16,"Credit")</a:t>
                      </a:r>
                      <a:endParaRPr lang="en-CA" sz="1100" dirty="0"/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Counts Credit transactions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038347"/>
                  </a:ext>
                </a:extLst>
              </a:tr>
              <a:tr h="376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/>
                        <a:t>Debit count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>
                          <a:latin typeface="Courier New" panose="02070309020205020404" pitchFamily="49" charset="0"/>
                        </a:rPr>
                        <a:t>=COUNTIF(E2:E16,"Debit")</a:t>
                      </a:r>
                      <a:endParaRPr lang="en-CA" sz="1100" dirty="0"/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Counts Debit transactions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582093"/>
                  </a:ext>
                </a:extLst>
              </a:tr>
              <a:tr h="376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/>
                        <a:t>Credit amount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>
                          <a:latin typeface="Courier New" panose="02070309020205020404" pitchFamily="49" charset="0"/>
                        </a:rPr>
                        <a:t>=SUMIF(E2:E16,"Credit",F2:F16)</a:t>
                      </a:r>
                      <a:endParaRPr lang="en-CA" sz="1100" dirty="0"/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Total Credit value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492993"/>
                  </a:ext>
                </a:extLst>
              </a:tr>
              <a:tr h="376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/>
                        <a:t>Debit amount</a:t>
                      </a:r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>
                          <a:latin typeface="Courier New" panose="02070309020205020404" pitchFamily="49" charset="0"/>
                        </a:rPr>
                        <a:t>=SUMIF(E2:E16,"Debit",F2:F16)</a:t>
                      </a:r>
                      <a:endParaRPr lang="en-CA" sz="1100" dirty="0"/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Total Debit value</a:t>
                      </a:r>
                    </a:p>
                    <a:p>
                      <a:pPr>
                        <a:buNone/>
                      </a:pPr>
                      <a:endParaRPr lang="en-CA" sz="1100" dirty="0"/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049596"/>
                  </a:ext>
                </a:extLst>
              </a:tr>
              <a:tr h="37610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sz="1100" b="1" dirty="0"/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100" dirty="0"/>
                        <a:t>=IF(COUNTIF($I$2:$I$16,I2)&gt;1,"Duplicate","Unique")</a:t>
                      </a:r>
                      <a:endParaRPr lang="en-CA" sz="1100" b="1" dirty="0"/>
                    </a:p>
                    <a:p>
                      <a:pPr>
                        <a:buNone/>
                      </a:pPr>
                      <a:endParaRPr lang="en-CA" sz="1100" dirty="0"/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sz="1100" dirty="0"/>
                    </a:p>
                  </a:txBody>
                  <a:tcPr marL="53729" marR="53729" marT="26865" marB="26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066727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EEE0CF24-69E2-5B15-0B66-7FA2C4C001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Basic Data Analysis Functions</a:t>
            </a:r>
          </a:p>
        </p:txBody>
      </p:sp>
    </p:spTree>
    <p:extLst>
      <p:ext uri="{BB962C8B-B14F-4D97-AF65-F5344CB8AC3E}">
        <p14:creationId xmlns:p14="http://schemas.microsoft.com/office/powerpoint/2010/main" val="1189533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0D08-D8A0-2294-06F3-220DBD01F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Important Issue in 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D95E4-00FF-C7D1-A9BE-5F42A9918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1400" dirty="0"/>
              <a:t>=SUM(F2:F16) 	will ignore CHECK and add only the numeric values.</a:t>
            </a:r>
          </a:p>
          <a:p>
            <a:r>
              <a:rPr lang="en-CA" sz="1400" dirty="0"/>
              <a:t>=COUNT(F2:F16)	will count only the numeric amounts.</a:t>
            </a:r>
          </a:p>
          <a:p>
            <a:r>
              <a:rPr lang="en-CA" sz="1400" dirty="0"/>
              <a:t>=COUNTA(F2:F16) 	will count </a:t>
            </a:r>
            <a:r>
              <a:rPr lang="en-CA" dirty="0"/>
              <a:t>CHECK</a:t>
            </a:r>
            <a:r>
              <a:rPr lang="en-CA" sz="1400" dirty="0"/>
              <a:t> because </a:t>
            </a:r>
            <a:r>
              <a:rPr lang="en-CA" dirty="0"/>
              <a:t>CHECK</a:t>
            </a:r>
            <a:r>
              <a:rPr lang="en-CA" sz="1400" dirty="0"/>
              <a:t> is a non-empty cell.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58225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F89C0-1814-F8C7-B015-B36CD73DD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Quality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B42364-9150-502C-6CF6-B292EEC88D3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0689" y="769858"/>
          <a:ext cx="7949556" cy="4048703"/>
        </p:xfrm>
        <a:graphic>
          <a:graphicData uri="http://schemas.openxmlformats.org/drawingml/2006/table">
            <a:tbl>
              <a:tblPr/>
              <a:tblGrid>
                <a:gridCol w="2649852">
                  <a:extLst>
                    <a:ext uri="{9D8B030D-6E8A-4147-A177-3AD203B41FA5}">
                      <a16:colId xmlns:a16="http://schemas.microsoft.com/office/drawing/2014/main" val="2994316197"/>
                    </a:ext>
                  </a:extLst>
                </a:gridCol>
                <a:gridCol w="2649852">
                  <a:extLst>
                    <a:ext uri="{9D8B030D-6E8A-4147-A177-3AD203B41FA5}">
                      <a16:colId xmlns:a16="http://schemas.microsoft.com/office/drawing/2014/main" val="1238160939"/>
                    </a:ext>
                  </a:extLst>
                </a:gridCol>
                <a:gridCol w="2649852">
                  <a:extLst>
                    <a:ext uri="{9D8B030D-6E8A-4147-A177-3AD203B41FA5}">
                      <a16:colId xmlns:a16="http://schemas.microsoft.com/office/drawing/2014/main" val="2675166069"/>
                    </a:ext>
                  </a:extLst>
                </a:gridCol>
              </a:tblGrid>
              <a:tr h="331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Data Quality Check</a:t>
                      </a:r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Formula</a:t>
                      </a:r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Purpose</a:t>
                      </a:r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600247"/>
                  </a:ext>
                </a:extLst>
              </a:tr>
              <a:tr h="580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Check missing Branch Code</a:t>
                      </a:r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latin typeface="Courier New" panose="02070309020205020404" pitchFamily="49" charset="0"/>
                        </a:rPr>
                        <a:t>=COUNTIF(H2:H16,"UNKNOWN")</a:t>
                      </a:r>
                      <a:endParaRPr lang="en-CA" sz="1200" dirty="0"/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Finds unknown branch codes</a:t>
                      </a:r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125074"/>
                  </a:ext>
                </a:extLst>
              </a:tr>
              <a:tr h="580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Check </a:t>
                      </a:r>
                      <a:r>
                        <a:rPr lang="en-CA" sz="1200" dirty="0">
                          <a:latin typeface="Courier New" panose="02070309020205020404" pitchFamily="49" charset="0"/>
                        </a:rPr>
                        <a:t>CHECK</a:t>
                      </a:r>
                      <a:r>
                        <a:rPr lang="en-CA" sz="1200" dirty="0"/>
                        <a:t> values</a:t>
                      </a:r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latin typeface="Courier New" panose="02070309020205020404" pitchFamily="49" charset="0"/>
                        </a:rPr>
                        <a:t>=COUNTIF(F2:F16,"CHECK")</a:t>
                      </a:r>
                      <a:endParaRPr lang="en-CA" sz="1200" dirty="0"/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Finds invalid amount entries</a:t>
                      </a:r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060577"/>
                  </a:ext>
                </a:extLst>
              </a:tr>
              <a:tr h="580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Find duplicate Transaction IDs</a:t>
                      </a:r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latin typeface="Courier New" panose="02070309020205020404" pitchFamily="49" charset="0"/>
                        </a:rPr>
                        <a:t>=COUNTIF(I:I,I2)</a:t>
                      </a:r>
                      <a:endParaRPr lang="en-CA" sz="1200" dirty="0"/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Checks frequency of each Transaction ID. "</a:t>
                      </a:r>
                      <a:r>
                        <a:rPr lang="en-CA" sz="1200" b="1" dirty="0"/>
                        <a:t>Count how many times the value in I2 appears anywhere in Column I</a:t>
                      </a:r>
                      <a:r>
                        <a:rPr lang="en-CA" sz="1200" dirty="0"/>
                        <a:t>."</a:t>
                      </a:r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680776"/>
                  </a:ext>
                </a:extLst>
              </a:tr>
              <a:tr h="580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Check duplicate Customer IDs</a:t>
                      </a:r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latin typeface="Courier New" panose="02070309020205020404" pitchFamily="49" charset="0"/>
                        </a:rPr>
                        <a:t>=COUNTIF(A:A,A2)</a:t>
                      </a:r>
                      <a:endParaRPr lang="en-CA" sz="1200" dirty="0"/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Identifies repeated customer IDs</a:t>
                      </a:r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575097"/>
                  </a:ext>
                </a:extLst>
              </a:tr>
              <a:tr h="580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Check duplicate transactions</a:t>
                      </a:r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latin typeface="Courier New" panose="02070309020205020404" pitchFamily="49" charset="0"/>
                        </a:rPr>
                        <a:t>=COUNTIFS(A:A,A2,I:I,I2)</a:t>
                      </a:r>
                      <a:endParaRPr lang="en-CA" sz="1200" dirty="0"/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Checks customer + transaction combination</a:t>
                      </a:r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740789"/>
                  </a:ext>
                </a:extLst>
              </a:tr>
              <a:tr h="580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Check missing Customer ID</a:t>
                      </a:r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latin typeface="Courier New" panose="02070309020205020404" pitchFamily="49" charset="0"/>
                        </a:rPr>
                        <a:t>=COUNTBLANK(A2:A16)</a:t>
                      </a:r>
                      <a:endParaRPr lang="en-CA" sz="1200" dirty="0"/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Finds blank Customer IDs</a:t>
                      </a:r>
                    </a:p>
                  </a:txBody>
                  <a:tcPr marL="82930" marR="82930" marT="41465" marB="414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686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6196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DAB69-6470-E100-63DC-B48BB211A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Duplicate Transaction 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D25C0-EFDA-9D39-41A1-129C0E7CE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=COUNTIF($I$2:$I$16,I2)</a:t>
            </a:r>
          </a:p>
          <a:p>
            <a:r>
              <a:rPr lang="en-CA" dirty="0"/>
              <a:t>=IF(COUNTIF($I$2:$I$16,I2)&gt;1,"Duplicate","Unique")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214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56C9D-4AA8-1154-D47C-F027EE1ED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Customer ID Data Cleaning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520B7-083A-25EE-15B7-A501332B8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You have this problematic value:  CUST-CUST -1006</a:t>
            </a:r>
          </a:p>
          <a:p>
            <a:r>
              <a:rPr lang="en-CA" dirty="0"/>
              <a:t>instead of something like:            CUST-1006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=SUBSTITUTE(A7,"CUST-CUST","CUST")</a:t>
            </a:r>
          </a:p>
          <a:p>
            <a:pPr marL="0" indent="0">
              <a:buNone/>
            </a:pPr>
            <a:r>
              <a:rPr lang="en-CA" dirty="0"/>
              <a:t>=TRIM(SUBSTITUTE(A7,"CUST-CUST","CUST"))</a:t>
            </a:r>
          </a:p>
          <a:p>
            <a:pPr marL="0" indent="0">
              <a:buNone/>
            </a:pPr>
            <a:r>
              <a:rPr lang="en-CA" dirty="0"/>
              <a:t>=TRIM(C2)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578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A38FF-EEB5-D391-D86B-E299A1FBC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Transaction Validation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E6629-DD53-AF76-4496-3B8536591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=IF(ISNUMBER(F2),"</a:t>
            </a:r>
            <a:r>
              <a:rPr lang="en-CA" dirty="0" err="1"/>
              <a:t>Valid","Check</a:t>
            </a:r>
            <a:r>
              <a:rPr lang="en-CA" dirty="0"/>
              <a:t>")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319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DC436-D0D5-07BC-CB9B-1E7669EC2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% Calculations (Margin)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243D0-B34C-871F-4409-592A870F6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/>
              <a:t>Three margin views</a:t>
            </a:r>
          </a:p>
          <a:p>
            <a:pPr marL="457200" indent="-457200">
              <a:buAutoNum type="arabicPeriod"/>
            </a:pPr>
            <a:r>
              <a:rPr lang="en-CA" sz="2000" dirty="0"/>
              <a:t>Transaction Type Margin (Credit vs Debit split)</a:t>
            </a:r>
          </a:p>
          <a:p>
            <a:pPr marL="457200" indent="-457200">
              <a:buAutoNum type="arabicPeriod"/>
            </a:pPr>
            <a:r>
              <a:rPr lang="en-CA" sz="2000" dirty="0"/>
              <a:t>Branch Margin (each branch's share of total volume)</a:t>
            </a:r>
          </a:p>
          <a:p>
            <a:pPr marL="457200" indent="-457200">
              <a:buAutoNum type="arabicPeriod"/>
            </a:pPr>
            <a:r>
              <a:rPr lang="en-CA" sz="2000" dirty="0"/>
              <a:t>Row-level Margin (each transaction's share)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10683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24CBB-7BBC-F8E1-71EF-F5B8DD2EA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AD2C4-BB21-2AC7-CFA0-135664A7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0"/>
            <a:ext cx="8868697" cy="629265"/>
          </a:xfrm>
        </p:spPr>
        <p:txBody>
          <a:bodyPr>
            <a:normAutofit/>
          </a:bodyPr>
          <a:lstStyle/>
          <a:p>
            <a:r>
              <a:rPr lang="en-US" sz="3200" dirty="0"/>
              <a:t>% Calculations (variance)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EF14B-8829-E1B3-6BCE-9AA13A6FD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629265"/>
            <a:ext cx="8308873" cy="40030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400" dirty="0">
                <a:solidFill>
                  <a:srgbClr val="EB793D"/>
                </a:solidFill>
              </a:rPr>
              <a:t>Type A — Variance from Average (what we use in operations)</a:t>
            </a:r>
          </a:p>
          <a:p>
            <a:r>
              <a:rPr lang="en-CA" sz="1100" dirty="0"/>
              <a:t>These are two different ways of expressing </a:t>
            </a:r>
            <a:r>
              <a:rPr lang="en-CA" sz="1100" dirty="0">
                <a:solidFill>
                  <a:srgbClr val="00B050"/>
                </a:solidFill>
              </a:rPr>
              <a:t>"how far" </a:t>
            </a:r>
            <a:r>
              <a:rPr lang="en-CA" sz="1100" dirty="0"/>
              <a:t>or "</a:t>
            </a:r>
            <a:r>
              <a:rPr lang="en-CA" sz="1100" dirty="0">
                <a:solidFill>
                  <a:srgbClr val="00B050"/>
                </a:solidFill>
              </a:rPr>
              <a:t>what share</a:t>
            </a:r>
            <a:r>
              <a:rPr lang="en-CA" sz="1100" dirty="0"/>
              <a:t>" — often confused because both use %.</a:t>
            </a:r>
          </a:p>
          <a:p>
            <a:r>
              <a:rPr lang="en-CA" sz="1100" dirty="0"/>
              <a:t>Variation:  		= (Actual - Benchmark) / Benchmark × 100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28A14F-F5D9-1E87-0791-0F7536FBEE85}"/>
              </a:ext>
            </a:extLst>
          </p:cNvPr>
          <p:cNvSpPr txBox="1"/>
          <p:nvPr/>
        </p:nvSpPr>
        <p:spPr>
          <a:xfrm>
            <a:off x="320872" y="1464701"/>
            <a:ext cx="7502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CA" dirty="0"/>
              <a:t>Using your </a:t>
            </a:r>
            <a:r>
              <a:rPr lang="en-CA" dirty="0" err="1"/>
              <a:t>Cleaned_Data</a:t>
            </a:r>
            <a:r>
              <a:rPr lang="en-CA" dirty="0"/>
              <a:t> (</a:t>
            </a:r>
            <a:r>
              <a:rPr lang="en-CA" b="1" dirty="0">
                <a:solidFill>
                  <a:srgbClr val="00B050"/>
                </a:solidFill>
              </a:rPr>
              <a:t>Average = ₹9,755):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2D018-B2B7-A097-72F0-AC70A7983102}"/>
              </a:ext>
            </a:extLst>
          </p:cNvPr>
          <p:cNvSpPr txBox="1"/>
          <p:nvPr/>
        </p:nvSpPr>
        <p:spPr>
          <a:xfrm>
            <a:off x="877341" y="4319104"/>
            <a:ext cx="82007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In Excel (column G):</a:t>
            </a:r>
            <a:r>
              <a:rPr lang="en-CA" sz="1100" dirty="0"/>
              <a:t>   </a:t>
            </a:r>
            <a:r>
              <a:rPr lang="en-US" sz="1100" dirty="0"/>
              <a:t>=(F3 - AVERAGE($F$3:$F$32)) / AVERAGE($F$3:$F$32)</a:t>
            </a:r>
          </a:p>
          <a:p>
            <a:r>
              <a:rPr lang="en-US" sz="1100" dirty="0"/>
              <a:t>→ Format as %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5B5C75-98B3-BF43-BE9F-258F15AB3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76" y="1940028"/>
            <a:ext cx="9130973" cy="22614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D9D18D-0D72-B936-3723-FE48ECC46B55}"/>
              </a:ext>
            </a:extLst>
          </p:cNvPr>
          <p:cNvSpPr txBox="1"/>
          <p:nvPr/>
        </p:nvSpPr>
        <p:spPr>
          <a:xfrm>
            <a:off x="373711" y="4866198"/>
            <a:ext cx="5552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=(F2 - AVERAGE($F$2:$F$12)) / AVERAGE($F$2:$F$12)</a:t>
            </a:r>
          </a:p>
        </p:txBody>
      </p:sp>
    </p:spTree>
    <p:extLst>
      <p:ext uri="{BB962C8B-B14F-4D97-AF65-F5344CB8AC3E}">
        <p14:creationId xmlns:p14="http://schemas.microsoft.com/office/powerpoint/2010/main" val="1550157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C95AA-125A-A057-D22B-39CB30AD4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DE9A8-C1EE-D095-0D5B-BF66E4129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0"/>
            <a:ext cx="8868697" cy="629265"/>
          </a:xfrm>
        </p:spPr>
        <p:txBody>
          <a:bodyPr>
            <a:normAutofit/>
          </a:bodyPr>
          <a:lstStyle/>
          <a:p>
            <a:r>
              <a:rPr lang="en-US" sz="3200" dirty="0"/>
              <a:t>% Calculations (variance)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6BB6C-0837-1595-9936-9A2212F10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1150665"/>
            <a:ext cx="8308873" cy="40030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400" dirty="0">
                <a:solidFill>
                  <a:srgbClr val="EB793D"/>
                </a:solidFill>
              </a:rPr>
              <a:t>Type B — Period-over-Period Variance (month vs month) This month vs last month:</a:t>
            </a:r>
          </a:p>
          <a:p>
            <a:pPr marL="0" indent="0">
              <a:buNone/>
            </a:pPr>
            <a:endParaRPr lang="en-CA" sz="1400" dirty="0">
              <a:solidFill>
                <a:srgbClr val="EB793D"/>
              </a:solidFill>
            </a:endParaRPr>
          </a:p>
          <a:p>
            <a:pPr marL="0" indent="0">
              <a:buNone/>
            </a:pPr>
            <a:endParaRPr lang="en-CA" sz="1400" dirty="0">
              <a:solidFill>
                <a:srgbClr val="EB793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C5DE27-87AD-6F10-F9F9-5E7636CCCA11}"/>
              </a:ext>
            </a:extLst>
          </p:cNvPr>
          <p:cNvSpPr txBox="1"/>
          <p:nvPr/>
        </p:nvSpPr>
        <p:spPr>
          <a:xfrm>
            <a:off x="511276" y="3673504"/>
            <a:ext cx="728570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/>
              <a:t>What variance tells an Ops Analyst: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400" b="1" dirty="0">
                <a:solidFill>
                  <a:srgbClr val="00B050"/>
                </a:solidFill>
                <a:latin typeface="Cambria" pitchFamily="34" charset="0"/>
                <a:ea typeface="+mj-ea"/>
                <a:cs typeface="+mj-cs"/>
              </a:rPr>
              <a:t>Positive variance </a:t>
            </a:r>
            <a:r>
              <a:rPr lang="en-CA" sz="1400" b="1" dirty="0">
                <a:solidFill>
                  <a:srgbClr val="C00000"/>
                </a:solidFill>
                <a:latin typeface="Cambria" pitchFamily="34" charset="0"/>
                <a:ea typeface="+mj-ea"/>
                <a:cs typeface="+mj-cs"/>
              </a:rPr>
              <a:t>→ transaction is unusually large → flag for review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400" b="1" dirty="0">
                <a:solidFill>
                  <a:srgbClr val="00B050"/>
                </a:solidFill>
                <a:latin typeface="Cambria" pitchFamily="34" charset="0"/>
                <a:ea typeface="+mj-ea"/>
                <a:cs typeface="+mj-cs"/>
              </a:rPr>
              <a:t>Negative variance </a:t>
            </a:r>
            <a:r>
              <a:rPr lang="en-CA" sz="1400" b="1" dirty="0">
                <a:solidFill>
                  <a:srgbClr val="C00000"/>
                </a:solidFill>
                <a:latin typeface="Cambria" pitchFamily="34" charset="0"/>
                <a:ea typeface="+mj-ea"/>
                <a:cs typeface="+mj-cs"/>
              </a:rPr>
              <a:t>→ unusually small → possible test entry or error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400" b="1" dirty="0">
                <a:solidFill>
                  <a:srgbClr val="00B050"/>
                </a:solidFill>
                <a:latin typeface="Cambria" pitchFamily="34" charset="0"/>
                <a:ea typeface="+mj-ea"/>
                <a:cs typeface="+mj-cs"/>
              </a:rPr>
              <a:t>Near zero </a:t>
            </a:r>
            <a:r>
              <a:rPr lang="en-CA" sz="1400" b="1" dirty="0">
                <a:solidFill>
                  <a:srgbClr val="C00000"/>
                </a:solidFill>
                <a:latin typeface="Cambria" pitchFamily="34" charset="0"/>
                <a:ea typeface="+mj-ea"/>
                <a:cs typeface="+mj-cs"/>
              </a:rPr>
              <a:t>→ normal, routine transaction</a:t>
            </a:r>
          </a:p>
          <a:p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E196D9-A198-C4D9-745E-72629AB5B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76" y="1816994"/>
            <a:ext cx="7146823" cy="167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5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AE4A-598F-0348-7099-DC9444AA4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>
                <a:solidFill>
                  <a:srgbClr val="EB793D"/>
                </a:solidFill>
              </a:rPr>
              <a:t>Period-over-Period Variance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A3971-1FF8-7103-B661-12F32B763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490" y="817685"/>
            <a:ext cx="8268860" cy="3814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>
                <a:solidFill>
                  <a:srgbClr val="EB793D"/>
                </a:solidFill>
              </a:rPr>
              <a:t>Type B — Period-over-Period Variance (month vs month) This month vs last month:</a:t>
            </a:r>
            <a:endParaRPr lang="en-CA" sz="1200" dirty="0">
              <a:solidFill>
                <a:srgbClr val="EB793D"/>
              </a:solidFill>
            </a:endParaRPr>
          </a:p>
          <a:p>
            <a:pPr marL="0" indent="0">
              <a:buNone/>
            </a:pPr>
            <a:r>
              <a:rPr lang="en-CA" sz="1200" dirty="0"/>
              <a:t>1. Find "This Month" Total (August 2026)</a:t>
            </a:r>
          </a:p>
          <a:p>
            <a:r>
              <a:rPr lang="en-CA" sz="1200" b="0" dirty="0"/>
              <a:t>First, we add up every single transaction value in your </a:t>
            </a:r>
            <a:r>
              <a:rPr lang="en-CA" sz="1200" dirty="0" err="1"/>
              <a:t>Amount_Clean</a:t>
            </a:r>
            <a:r>
              <a:rPr lang="en-CA" sz="1200" b="0" dirty="0"/>
              <a:t> column (Column F):</a:t>
            </a:r>
          </a:p>
          <a:p>
            <a:r>
              <a:rPr lang="en-CA" sz="1200" b="0" dirty="0"/>
              <a:t>₹15,000 + ₹8,500 + ₹22,000 + ₹3,750 + ₹9,800 + ₹1,201 + ₹500 + ₹45,000 + ₹2,300 + ₹11,000 + ₹750</a:t>
            </a:r>
          </a:p>
          <a:p>
            <a:r>
              <a:rPr lang="en-CA" sz="1200" dirty="0"/>
              <a:t>August Total = ₹1,19,801</a:t>
            </a:r>
            <a:endParaRPr lang="en-CA" sz="1200" b="0" dirty="0"/>
          </a:p>
          <a:p>
            <a:pPr marL="0" indent="0">
              <a:lnSpc>
                <a:spcPct val="100000"/>
              </a:lnSpc>
              <a:buNone/>
            </a:pPr>
            <a:r>
              <a:rPr lang="en-CA" sz="1200" dirty="0"/>
              <a:t>2. Set a "Last Month" Baseline (July 2026)</a:t>
            </a:r>
          </a:p>
          <a:p>
            <a:pPr>
              <a:lnSpc>
                <a:spcPct val="100000"/>
              </a:lnSpc>
            </a:pPr>
            <a:r>
              <a:rPr lang="en-CA" sz="1200" b="0" dirty="0"/>
              <a:t>Following the example on your slide, let's use a hypothetical baseline for July:</a:t>
            </a:r>
          </a:p>
          <a:p>
            <a:pPr>
              <a:lnSpc>
                <a:spcPct val="100000"/>
              </a:lnSpc>
            </a:pPr>
            <a:r>
              <a:rPr lang="en-CA" sz="1200" b="0" dirty="0"/>
              <a:t>July Total = ₹1,00,000 (Hypothetical)</a:t>
            </a:r>
          </a:p>
          <a:p>
            <a:pPr marL="0" indent="0">
              <a:buNone/>
            </a:pPr>
            <a:br>
              <a:rPr lang="en-CA" dirty="0"/>
            </a:br>
            <a:endParaRPr lang="en-CA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3E6707-E292-1E07-D942-B4E6BDDC8B7D}"/>
              </a:ext>
            </a:extLst>
          </p:cNvPr>
          <p:cNvSpPr txBox="1"/>
          <p:nvPr/>
        </p:nvSpPr>
        <p:spPr>
          <a:xfrm>
            <a:off x="277318" y="4819338"/>
            <a:ext cx="58611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PeriodOverperiod</a:t>
            </a:r>
            <a:r>
              <a:rPr lang="en-US" sz="1100" dirty="0"/>
              <a:t> sheet –  </a:t>
            </a:r>
          </a:p>
        </p:txBody>
      </p:sp>
    </p:spTree>
    <p:extLst>
      <p:ext uri="{BB962C8B-B14F-4D97-AF65-F5344CB8AC3E}">
        <p14:creationId xmlns:p14="http://schemas.microsoft.com/office/powerpoint/2010/main" val="3403854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7082A-3282-7EB1-62A0-4AA4C1A44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342C2-CA35-43D0-CE95-E83C9DCE7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0"/>
            <a:ext cx="8868697" cy="629265"/>
          </a:xfrm>
        </p:spPr>
        <p:txBody>
          <a:bodyPr>
            <a:normAutofit/>
          </a:bodyPr>
          <a:lstStyle/>
          <a:p>
            <a:r>
              <a:rPr lang="en-US" sz="3200" dirty="0"/>
              <a:t>% Calculations (Margin)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1D70A-F42C-6EF9-2DB0-85004CFE5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629265"/>
            <a:ext cx="8308873" cy="40030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400" dirty="0"/>
              <a:t>"What portion of the whole does this piece represent?”</a:t>
            </a:r>
            <a:endParaRPr lang="en-CA" sz="1400" dirty="0">
              <a:solidFill>
                <a:srgbClr val="EB793D"/>
              </a:solidFill>
            </a:endParaRPr>
          </a:p>
          <a:p>
            <a:pPr marL="0" indent="0">
              <a:buNone/>
            </a:pPr>
            <a:r>
              <a:rPr lang="en-CA" sz="1400" dirty="0"/>
              <a:t>Margin answers: </a:t>
            </a:r>
            <a:r>
              <a:rPr lang="en-CA" sz="1400" i="1" dirty="0"/>
              <a:t>Out of everything, how big a slice is this?</a:t>
            </a:r>
          </a:p>
          <a:p>
            <a:pPr marL="0" indent="0">
              <a:buNone/>
            </a:pPr>
            <a:endParaRPr lang="en-CA" sz="1400" dirty="0">
              <a:solidFill>
                <a:srgbClr val="EB793D"/>
              </a:solidFill>
            </a:endParaRPr>
          </a:p>
          <a:p>
            <a:pPr marL="0" indent="0">
              <a:buNone/>
            </a:pPr>
            <a:r>
              <a:rPr lang="en-CA" sz="1400" dirty="0">
                <a:solidFill>
                  <a:srgbClr val="C00000"/>
                </a:solidFill>
              </a:rPr>
              <a:t>= Margin % = Part / Whole × 100</a:t>
            </a:r>
          </a:p>
          <a:p>
            <a:r>
              <a:rPr lang="en-CA" sz="2000" dirty="0"/>
              <a:t>Credit % of Total</a:t>
            </a:r>
          </a:p>
          <a:p>
            <a:pPr lvl="1"/>
            <a:r>
              <a:rPr lang="en-CA" sz="1200" b="1" dirty="0"/>
              <a:t>=SUMIF(E3:E32, "Credit", F3:F32) / SUM(F3:F32)</a:t>
            </a:r>
          </a:p>
          <a:p>
            <a:r>
              <a:rPr lang="en-CA" sz="2400" dirty="0"/>
              <a:t>Debit % of Total</a:t>
            </a:r>
          </a:p>
          <a:p>
            <a:pPr lvl="1"/>
            <a:r>
              <a:rPr lang="en-CA" sz="1200" b="1" dirty="0"/>
              <a:t>=SUMIF(E3:E32, "Debit", F3:F32) / SUM(F3:F32)</a:t>
            </a:r>
          </a:p>
          <a:p>
            <a:r>
              <a:rPr lang="en-CA" dirty="0"/>
              <a:t>Each Row as % of Total</a:t>
            </a:r>
          </a:p>
          <a:p>
            <a:pPr lvl="1"/>
            <a:r>
              <a:rPr lang="en-CA" sz="1200" b="1" dirty="0"/>
              <a:t>=F3 / SUM(F3:F32)</a:t>
            </a:r>
          </a:p>
          <a:p>
            <a:pPr marL="0" indent="0">
              <a:buNone/>
            </a:pPr>
            <a:endParaRPr lang="en-CA" sz="14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CA" sz="1400" dirty="0">
              <a:solidFill>
                <a:srgbClr val="EB79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788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483D-B741-112E-734F-4AB3F3946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B9F59-63D6-25A8-651B-8CA420BF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769" y="274638"/>
            <a:ext cx="8379069" cy="993775"/>
          </a:xfrm>
        </p:spPr>
        <p:txBody>
          <a:bodyPr>
            <a:normAutofit/>
          </a:bodyPr>
          <a:lstStyle/>
          <a:p>
            <a:r>
              <a:rPr lang="en-CA" sz="3200" dirty="0"/>
              <a:t>Transaction Type Margin </a:t>
            </a:r>
            <a:r>
              <a:rPr lang="en-CA" sz="2400" dirty="0"/>
              <a:t>(Credit vs Debit split)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033B2-E44D-1BA1-864C-150189D2F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485" y="1370013"/>
            <a:ext cx="8154865" cy="3262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Credit margin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1400" dirty="0">
                <a:solidFill>
                  <a:srgbClr val="00B050"/>
                </a:solidFill>
              </a:rPr>
              <a:t> = SUM of Credits / SUM of All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</a:rPr>
              <a:t>	 = 2,46,150 / 2,82,900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</a:rPr>
              <a:t>	= 87%</a:t>
            </a:r>
          </a:p>
          <a:p>
            <a:pPr marL="0" indent="0">
              <a:buNone/>
            </a:pPr>
            <a:r>
              <a:rPr lang="en-US" sz="2000" dirty="0"/>
              <a:t>Debit margin  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1400" dirty="0">
                <a:solidFill>
                  <a:srgbClr val="00B050"/>
                </a:solidFill>
              </a:rPr>
              <a:t>= SUM of Debits  / SUM of All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</a:rPr>
              <a:t>	=   36,750 / 2,82,900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</a:rPr>
              <a:t>		= 13%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F3351A-353C-4643-4A8F-27B4885BE684}"/>
              </a:ext>
            </a:extLst>
          </p:cNvPr>
          <p:cNvSpPr txBox="1"/>
          <p:nvPr/>
        </p:nvSpPr>
        <p:spPr>
          <a:xfrm>
            <a:off x="597877" y="4317022"/>
            <a:ext cx="62949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/>
              <a:t>Tells you: </a:t>
            </a:r>
            <a:r>
              <a:rPr lang="en-CA" sz="1400" i="1" dirty="0"/>
              <a:t>Credits dominate — 87 cents of every rupee flowing through is inward.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11428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8F0E4-C464-0726-BDDB-FE62F9AA4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3D375-085B-5094-97C0-F64EFD057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C7478C-6CA4-1CDF-9F71-50D385006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774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6CF0E-F1F6-CDFE-9E88-A447D1A3E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3BC43-8042-AC35-7430-3B39A411B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769" y="274638"/>
            <a:ext cx="8660423" cy="993775"/>
          </a:xfrm>
        </p:spPr>
        <p:txBody>
          <a:bodyPr>
            <a:normAutofit/>
          </a:bodyPr>
          <a:lstStyle/>
          <a:p>
            <a:r>
              <a:rPr lang="en-CA" sz="2800" dirty="0"/>
              <a:t>Branch Margin </a:t>
            </a:r>
            <a:r>
              <a:rPr lang="en-CA" sz="2400" dirty="0"/>
              <a:t>(each branch's share of total volume)</a:t>
            </a:r>
            <a:endParaRPr lang="en-US" sz="24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9321A6A-C42F-DFD9-7021-0FAFE5F1BD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117338"/>
            <a:ext cx="3904090" cy="18644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06F3EE-5DA3-0630-1634-69A10800397C}"/>
              </a:ext>
            </a:extLst>
          </p:cNvPr>
          <p:cNvSpPr txBox="1"/>
          <p:nvPr/>
        </p:nvSpPr>
        <p:spPr>
          <a:xfrm>
            <a:off x="263769" y="4246685"/>
            <a:ext cx="80713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Tells you: </a:t>
            </a:r>
          </a:p>
          <a:p>
            <a:r>
              <a:rPr lang="en-CA" sz="1400" i="1" dirty="0"/>
              <a:t>UNKNOWN branch holds 31.5% of total volume — highest share, no branch code. Red flag.</a:t>
            </a:r>
            <a:endParaRPr lang="en-US" sz="1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3B9097-D600-FCCC-59E2-CCF1A370FE8A}"/>
              </a:ext>
            </a:extLst>
          </p:cNvPr>
          <p:cNvGraphicFramePr>
            <a:graphicFrameLocks noGrp="1"/>
          </p:cNvGraphicFramePr>
          <p:nvPr/>
        </p:nvGraphicFramePr>
        <p:xfrm>
          <a:off x="4167859" y="1117338"/>
          <a:ext cx="4888678" cy="1956043"/>
        </p:xfrm>
        <a:graphic>
          <a:graphicData uri="http://schemas.openxmlformats.org/drawingml/2006/table">
            <a:tbl>
              <a:tblPr/>
              <a:tblGrid>
                <a:gridCol w="1954645">
                  <a:extLst>
                    <a:ext uri="{9D8B030D-6E8A-4147-A177-3AD203B41FA5}">
                      <a16:colId xmlns:a16="http://schemas.microsoft.com/office/drawing/2014/main" val="2962170396"/>
                    </a:ext>
                  </a:extLst>
                </a:gridCol>
                <a:gridCol w="2934033">
                  <a:extLst>
                    <a:ext uri="{9D8B030D-6E8A-4147-A177-3AD203B41FA5}">
                      <a16:colId xmlns:a16="http://schemas.microsoft.com/office/drawing/2014/main" val="2209859131"/>
                    </a:ext>
                  </a:extLst>
                </a:gridCol>
              </a:tblGrid>
              <a:tr h="243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Part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391594"/>
                  </a:ext>
                </a:extLst>
              </a:tr>
              <a:tr h="243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>
                          <a:latin typeface="Courier New" panose="02070309020205020404" pitchFamily="49" charset="0"/>
                        </a:rPr>
                        <a:t>$H$2:$H$31</a:t>
                      </a:r>
                      <a:endParaRPr lang="en-CA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Branch Code column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996304"/>
                  </a:ext>
                </a:extLst>
              </a:tr>
              <a:tr h="243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>
                          <a:latin typeface="Courier New" panose="02070309020205020404" pitchFamily="49" charset="0"/>
                        </a:rPr>
                        <a:t>"BRN-01"</a:t>
                      </a:r>
                      <a:endParaRPr lang="en-CA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Branch we want to analyze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331013"/>
                  </a:ext>
                </a:extLst>
              </a:tr>
              <a:tr h="243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>
                          <a:latin typeface="Courier New" panose="02070309020205020404" pitchFamily="49" charset="0"/>
                        </a:rPr>
                        <a:t>$F$2:$F$31</a:t>
                      </a:r>
                      <a:endParaRPr lang="en-CA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Amount column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146077"/>
                  </a:ext>
                </a:extLst>
              </a:tr>
              <a:tr h="243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>
                          <a:latin typeface="Courier New" panose="02070309020205020404" pitchFamily="49" charset="0"/>
                        </a:rPr>
                        <a:t>SUMIF(...)</a:t>
                      </a:r>
                      <a:endParaRPr lang="en-CA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Adds amounts only for BRN-01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373699"/>
                  </a:ext>
                </a:extLst>
              </a:tr>
              <a:tr h="243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>
                          <a:latin typeface="Courier New" panose="02070309020205020404" pitchFamily="49" charset="0"/>
                        </a:rPr>
                        <a:t>SUM($F$2:$F$31)</a:t>
                      </a:r>
                      <a:endParaRPr lang="en-CA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Adds </a:t>
                      </a:r>
                      <a:r>
                        <a:rPr lang="en-CA" sz="1100" b="1"/>
                        <a:t>all transaction amounts</a:t>
                      </a:r>
                      <a:endParaRPr lang="en-CA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804185"/>
                  </a:ext>
                </a:extLst>
              </a:tr>
              <a:tr h="401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>
                          <a:latin typeface="Courier New" panose="02070309020205020404" pitchFamily="49" charset="0"/>
                        </a:rPr>
                        <a:t>/</a:t>
                      </a:r>
                      <a:endParaRPr lang="en-CA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Divides BRN-01 amount by total amount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8258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0364B24-CDA5-903E-8BB8-5B700B4E4B1A}"/>
              </a:ext>
            </a:extLst>
          </p:cNvPr>
          <p:cNvSpPr txBox="1"/>
          <p:nvPr/>
        </p:nvSpPr>
        <p:spPr>
          <a:xfrm>
            <a:off x="445273" y="3427012"/>
            <a:ext cx="6486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=SUMIF($H$2:$H$31,"BRN-01",$F$2:$F$31) / SUM($F$2:$F$31)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783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5A5B-3DDB-B453-498A-1B235E0FC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5D7CC-CC0E-7307-717F-ED2EA6F2A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769" y="96662"/>
            <a:ext cx="8379069" cy="360540"/>
          </a:xfrm>
        </p:spPr>
        <p:txBody>
          <a:bodyPr>
            <a:normAutofit fontScale="90000"/>
          </a:bodyPr>
          <a:lstStyle/>
          <a:p>
            <a:r>
              <a:rPr lang="en-CA" sz="2400" dirty="0"/>
              <a:t>Row-level Margin (each transaction's share)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AF77F-C1DE-880C-D715-BEC35B4D1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769" y="4158761"/>
            <a:ext cx="7556988" cy="45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=F3 / SUM($F$3:$F$32)   → Deepak Verma ₹45,000 = 15.9% of all transactions alone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4B6BA2-DD8A-8545-9B9F-0C7497CA4683}"/>
              </a:ext>
            </a:extLst>
          </p:cNvPr>
          <p:cNvSpPr txBox="1"/>
          <p:nvPr/>
        </p:nvSpPr>
        <p:spPr>
          <a:xfrm>
            <a:off x="378069" y="4677507"/>
            <a:ext cx="7260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Tells you: </a:t>
            </a:r>
            <a:r>
              <a:rPr lang="en-CA" i="1" dirty="0"/>
              <a:t>One customer accounts for 16% of total — concentration risk.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5E1A51-B9A9-CB2B-E8F7-50DF78329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68" y="553915"/>
            <a:ext cx="847578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934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30D7D-53AB-4E77-9907-DE1C9C463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604593"/>
          </a:xfrm>
        </p:spPr>
        <p:txBody>
          <a:bodyPr>
            <a:normAutofit fontScale="90000"/>
          </a:bodyPr>
          <a:lstStyle/>
          <a:p>
            <a:r>
              <a:rPr lang="en-US" dirty="0"/>
              <a:t>Error Type (#N/A, #Value)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56462D-8195-3A0F-5094-BF9908822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49" y="1006243"/>
            <a:ext cx="7680081" cy="33908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3EDEF3-3FF7-5728-32CA-1EC45A7B3A39}"/>
              </a:ext>
            </a:extLst>
          </p:cNvPr>
          <p:cNvSpPr txBox="1"/>
          <p:nvPr/>
        </p:nvSpPr>
        <p:spPr>
          <a:xfrm>
            <a:off x="694592" y="4501661"/>
            <a:ext cx="1974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=MATCH(100,F2:F14,0)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2F6A97-CB65-B717-5219-91F1E37E186F}"/>
              </a:ext>
            </a:extLst>
          </p:cNvPr>
          <p:cNvSpPr txBox="1"/>
          <p:nvPr/>
        </p:nvSpPr>
        <p:spPr>
          <a:xfrm>
            <a:off x="4686300" y="4519244"/>
            <a:ext cx="864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=F2 + H2</a:t>
            </a:r>
          </a:p>
        </p:txBody>
      </p:sp>
    </p:spTree>
    <p:extLst>
      <p:ext uri="{BB962C8B-B14F-4D97-AF65-F5344CB8AC3E}">
        <p14:creationId xmlns:p14="http://schemas.microsoft.com/office/powerpoint/2010/main" val="1735174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4A81-9491-3D5D-2C5F-A64E50530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393577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Validation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D5A7D-52DA-F736-0862-CC6508BAA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224" y="1370013"/>
            <a:ext cx="2426676" cy="3262312"/>
          </a:xfrm>
        </p:spPr>
        <p:txBody>
          <a:bodyPr>
            <a:normAutofit/>
          </a:bodyPr>
          <a:lstStyle/>
          <a:p>
            <a:r>
              <a:rPr lang="en-CA" sz="1600" dirty="0"/>
              <a:t>“</a:t>
            </a:r>
            <a:r>
              <a:rPr lang="en-CA" sz="1600" dirty="0">
                <a:solidFill>
                  <a:srgbClr val="00B050"/>
                </a:solidFill>
              </a:rPr>
              <a:t>Basic Validation Checks” </a:t>
            </a:r>
            <a:r>
              <a:rPr lang="en-CA" sz="1600" b="0" dirty="0"/>
              <a:t>for an Operational Analyst working in a bank, there are several common scenarios. </a:t>
            </a:r>
          </a:p>
          <a:p>
            <a:r>
              <a:rPr lang="en-CA" sz="1600" b="0" dirty="0"/>
              <a:t>The purpose is </a:t>
            </a:r>
            <a:r>
              <a:rPr lang="en-CA" sz="1600" dirty="0">
                <a:solidFill>
                  <a:srgbClr val="00B050"/>
                </a:solidFill>
              </a:rPr>
              <a:t>to catch obvious data errors </a:t>
            </a:r>
            <a:r>
              <a:rPr lang="en-CA" sz="1600" b="0" dirty="0"/>
              <a:t>before the data is used for reporting, reconciliation, or decision-making.</a:t>
            </a:r>
            <a:endParaRPr lang="en-US" sz="1600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731DE8-BA3D-EE88-6D1D-A17EC35B2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735" y="852855"/>
            <a:ext cx="6690095" cy="429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0986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09277-8BD5-A8D1-3E8A-CB92F9E5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Validation Check 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349A10-3EB7-16DF-2838-259F251ADF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962" y="1127736"/>
            <a:ext cx="8009388" cy="401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1039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94927-96F9-4A39-4922-A17F1F10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5378"/>
            <a:ext cx="7886700" cy="566615"/>
          </a:xfrm>
        </p:spPr>
        <p:txBody>
          <a:bodyPr>
            <a:normAutofit fontScale="90000"/>
          </a:bodyPr>
          <a:lstStyle/>
          <a:p>
            <a:r>
              <a:rPr lang="en-CA" sz="3200" dirty="0"/>
              <a:t>Basic Validation Checks: 6 practical categories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89FEE-F1B0-4796-E238-54742169B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78169"/>
            <a:ext cx="7886700" cy="3454156"/>
          </a:xfrm>
        </p:spPr>
        <p:txBody>
          <a:bodyPr>
            <a:normAutofit/>
          </a:bodyPr>
          <a:lstStyle/>
          <a:p>
            <a:r>
              <a:rPr lang="en-CA" sz="2000" dirty="0"/>
              <a:t>1. </a:t>
            </a:r>
            <a:r>
              <a:rPr lang="en-CA" sz="2000" dirty="0">
                <a:solidFill>
                  <a:srgbClr val="00B050"/>
                </a:solidFill>
              </a:rPr>
              <a:t>Completeness </a:t>
            </a:r>
            <a:r>
              <a:rPr lang="en-CA" sz="2000" dirty="0"/>
              <a:t>→ Are required fields populated?</a:t>
            </a:r>
            <a:br>
              <a:rPr lang="en-CA" sz="2000" dirty="0"/>
            </a:br>
            <a:r>
              <a:rPr lang="en-CA" sz="2000" dirty="0"/>
              <a:t>2</a:t>
            </a:r>
            <a:r>
              <a:rPr lang="en-CA" sz="2000" dirty="0">
                <a:solidFill>
                  <a:srgbClr val="00B050"/>
                </a:solidFill>
              </a:rPr>
              <a:t>. Uniqueness </a:t>
            </a:r>
            <a:r>
              <a:rPr lang="en-CA" sz="2000" dirty="0"/>
              <a:t>→ Are there duplicates?</a:t>
            </a:r>
            <a:br>
              <a:rPr lang="en-CA" sz="2000" dirty="0"/>
            </a:br>
            <a:r>
              <a:rPr lang="en-CA" sz="2000" dirty="0"/>
              <a:t>3. </a:t>
            </a:r>
            <a:r>
              <a:rPr lang="en-CA" sz="2000" dirty="0">
                <a:solidFill>
                  <a:srgbClr val="00B050"/>
                </a:solidFill>
              </a:rPr>
              <a:t>Accuracy</a:t>
            </a:r>
            <a:r>
              <a:rPr lang="en-CA" sz="2000" dirty="0"/>
              <a:t> → Are values correct and valid?</a:t>
            </a:r>
            <a:br>
              <a:rPr lang="en-CA" sz="2000" dirty="0"/>
            </a:br>
            <a:r>
              <a:rPr lang="en-CA" sz="2000" dirty="0"/>
              <a:t>4. </a:t>
            </a:r>
            <a:r>
              <a:rPr lang="en-CA" sz="2000" dirty="0">
                <a:solidFill>
                  <a:srgbClr val="00B050"/>
                </a:solidFill>
              </a:rPr>
              <a:t>Consistency </a:t>
            </a:r>
            <a:r>
              <a:rPr lang="en-CA" sz="2000" dirty="0"/>
              <a:t>→ Do related fields agree?</a:t>
            </a:r>
            <a:br>
              <a:rPr lang="en-CA" sz="2000" dirty="0"/>
            </a:br>
            <a:r>
              <a:rPr lang="en-CA" sz="2000" dirty="0"/>
              <a:t>5. </a:t>
            </a:r>
            <a:r>
              <a:rPr lang="en-CA" sz="2000" dirty="0">
                <a:solidFill>
                  <a:srgbClr val="00B050"/>
                </a:solidFill>
              </a:rPr>
              <a:t>Format</a:t>
            </a:r>
            <a:r>
              <a:rPr lang="en-CA" sz="2000" dirty="0"/>
              <a:t> → Does the data follow the required structure?</a:t>
            </a:r>
            <a:br>
              <a:rPr lang="en-CA" sz="2000" dirty="0"/>
            </a:br>
            <a:r>
              <a:rPr lang="en-CA" sz="2000" dirty="0"/>
              <a:t>6. </a:t>
            </a:r>
            <a:r>
              <a:rPr lang="en-CA" sz="2000" dirty="0">
                <a:solidFill>
                  <a:srgbClr val="00B050"/>
                </a:solidFill>
              </a:rPr>
              <a:t>Reconciliation</a:t>
            </a:r>
            <a:r>
              <a:rPr lang="en-CA" sz="2000" dirty="0"/>
              <a:t> → Do totals/balances match?</a:t>
            </a:r>
          </a:p>
          <a:p>
            <a:endParaRPr lang="en-CA" sz="2000" dirty="0"/>
          </a:p>
          <a:p>
            <a:r>
              <a:rPr lang="en-CA" sz="2000" dirty="0"/>
              <a:t>“Can I trust this data?”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141439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08E46-F669-D1BE-8CBB-96F36BBBB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Completeness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80D3B2-7F26-E13B-AE1A-FED50F52E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769" y="1107832"/>
            <a:ext cx="8792307" cy="403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1409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61F00-3E06-547F-FB9C-39D767CD8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9469"/>
            <a:ext cx="7886700" cy="439616"/>
          </a:xfrm>
        </p:spPr>
        <p:txBody>
          <a:bodyPr>
            <a:normAutofit fontScale="90000"/>
          </a:bodyPr>
          <a:lstStyle/>
          <a:p>
            <a:r>
              <a:rPr lang="en-US" dirty="0"/>
              <a:t>2. Uniqueness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2AE00-1C48-7EF2-D70B-395EF3EE4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92649E-886F-2E0C-E0BC-7921C9B00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84" y="737114"/>
            <a:ext cx="8473831" cy="431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211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247EE-28B8-EBD2-092C-B87FA85F3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1546"/>
            <a:ext cx="7886700" cy="369277"/>
          </a:xfrm>
        </p:spPr>
        <p:txBody>
          <a:bodyPr>
            <a:normAutofit fontScale="90000"/>
          </a:bodyPr>
          <a:lstStyle/>
          <a:p>
            <a:r>
              <a:rPr lang="en-US" dirty="0"/>
              <a:t>3. Accuracy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63C248-6A2E-14B6-7FF8-E00C3F0B07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654" y="633333"/>
            <a:ext cx="8423031" cy="436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0384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1207AE-4B7A-6361-3E43-D35F0D0E7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4. Consistency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CB6D7D2-5247-B582-2AC4-960ABC8F4501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1370013"/>
          <a:ext cx="7886700" cy="146304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3266504424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5649573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507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823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773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024004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7A00530F-1E35-4E6D-EF0C-AD4C5FB66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45" y="914400"/>
            <a:ext cx="8007839" cy="409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1645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8B0B5-5F91-8495-AB57-B8004AC5F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7924"/>
            <a:ext cx="7886700" cy="553914"/>
          </a:xfrm>
        </p:spPr>
        <p:txBody>
          <a:bodyPr>
            <a:normAutofit fontScale="90000"/>
          </a:bodyPr>
          <a:lstStyle/>
          <a:p>
            <a:r>
              <a:rPr lang="en-US" dirty="0"/>
              <a:t>5. Format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EC352A-9CF6-A8DA-0CE5-746E70BC0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608" y="703995"/>
            <a:ext cx="8681999" cy="435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2560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0847F-D258-893D-1812-BF2B18757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52235"/>
            <a:ext cx="7886700" cy="647866"/>
          </a:xfrm>
        </p:spPr>
        <p:txBody>
          <a:bodyPr>
            <a:normAutofit fontScale="90000"/>
          </a:bodyPr>
          <a:lstStyle/>
          <a:p>
            <a:r>
              <a:rPr lang="en-US" dirty="0"/>
              <a:t>6. Reconciliation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37F4F1-55CB-C875-F97A-1F65614D986A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1370013"/>
          <a:ext cx="7886700" cy="2194560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10423525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3381672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12049227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47822195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8885103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889413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890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839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030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382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902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03836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CDAD244-1D36-3621-0858-6617BBF20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2" y="800100"/>
            <a:ext cx="8948616" cy="419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4532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E025-0FAC-139A-996B-AF53A3E4C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6. Reconciliation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78863A-7B9A-4B9F-5165-7C03BBF2A4E5}"/>
              </a:ext>
            </a:extLst>
          </p:cNvPr>
          <p:cNvSpPr txBox="1"/>
          <p:nvPr/>
        </p:nvSpPr>
        <p:spPr>
          <a:xfrm>
            <a:off x="652072" y="4557010"/>
            <a:ext cx="497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MyDay_KPMG_W1_Day1_Practice/</a:t>
            </a:r>
            <a:r>
              <a:rPr lang="en-US" dirty="0" err="1"/>
              <a:t>Recon_Demo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FBFD68-C43C-9124-D221-89ECE0AAF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8254"/>
            <a:ext cx="7772400" cy="258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8912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19482</TotalTime>
  <Words>1870</Words>
  <Application>Microsoft Macintosh PowerPoint</Application>
  <PresentationFormat>On-screen Show (16:9)</PresentationFormat>
  <Paragraphs>255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Arial</vt:lpstr>
      <vt:lpstr>Cambria</vt:lpstr>
      <vt:lpstr>Courier New</vt:lpstr>
      <vt:lpstr>Custom Design</vt:lpstr>
      <vt:lpstr>Week 1- Day2</vt:lpstr>
      <vt:lpstr>PowerPoint Presentation</vt:lpstr>
      <vt:lpstr>Currency : Apply Decimal Places</vt:lpstr>
      <vt:lpstr>PowerPoint Presentation</vt:lpstr>
      <vt:lpstr>PowerPoint Presentation</vt:lpstr>
      <vt:lpstr>PowerPoint Presentation</vt:lpstr>
      <vt:lpstr>Assignment</vt:lpstr>
      <vt:lpstr>Learning Outcome</vt:lpstr>
      <vt:lpstr>Formula</vt:lpstr>
      <vt:lpstr>Absolute Vs Relative Reference</vt:lpstr>
      <vt:lpstr>Basic Data Analysis Functions</vt:lpstr>
      <vt:lpstr>Important Issue in  Data</vt:lpstr>
      <vt:lpstr>Data Quality Analysis</vt:lpstr>
      <vt:lpstr>Duplicate Transaction ID</vt:lpstr>
      <vt:lpstr>Customer ID Data Cleaning</vt:lpstr>
      <vt:lpstr>Transaction Validation Check</vt:lpstr>
      <vt:lpstr>% Calculations (Margin)</vt:lpstr>
      <vt:lpstr>% Calculations (variance)</vt:lpstr>
      <vt:lpstr>% Calculations (variance)</vt:lpstr>
      <vt:lpstr>Period-over-Period Variance</vt:lpstr>
      <vt:lpstr>% Calculations (Margin)</vt:lpstr>
      <vt:lpstr>Transaction Type Margin (Credit vs Debit split)</vt:lpstr>
      <vt:lpstr>PowerPoint Presentation</vt:lpstr>
      <vt:lpstr>Branch Margin (each branch's share of total volume)</vt:lpstr>
      <vt:lpstr>Row-level Margin (each transaction's share)</vt:lpstr>
      <vt:lpstr>Error Type (#N/A, #Value)</vt:lpstr>
      <vt:lpstr>Basic Validation Check</vt:lpstr>
      <vt:lpstr>Basic Validation Check Example</vt:lpstr>
      <vt:lpstr>Basic Validation Checks: 6 practical categories</vt:lpstr>
      <vt:lpstr>1. Completeness</vt:lpstr>
      <vt:lpstr>2. Uniqueness</vt:lpstr>
      <vt:lpstr>3. Accuracy</vt:lpstr>
      <vt:lpstr>4. Consistency</vt:lpstr>
      <vt:lpstr>5. Format</vt:lpstr>
      <vt:lpstr>6. Reconciliation</vt:lpstr>
      <vt:lpstr>6. Reconciliation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Ashu Jauhari</cp:lastModifiedBy>
  <cp:revision>258</cp:revision>
  <dcterms:created xsi:type="dcterms:W3CDTF">2026-07-30T07:56:53Z</dcterms:created>
  <dcterms:modified xsi:type="dcterms:W3CDTF">2026-09-15T20:18:27Z</dcterms:modified>
</cp:coreProperties>
</file>