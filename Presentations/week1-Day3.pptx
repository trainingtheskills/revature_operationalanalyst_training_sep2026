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2"/>
    <p:sldId id="427" r:id="rId3"/>
    <p:sldId id="395" r:id="rId4"/>
    <p:sldId id="396" r:id="rId5"/>
    <p:sldId id="397" r:id="rId6"/>
    <p:sldId id="399" r:id="rId7"/>
    <p:sldId id="831" r:id="rId8"/>
    <p:sldId id="832" r:id="rId9"/>
    <p:sldId id="838" r:id="rId10"/>
    <p:sldId id="833" r:id="rId11"/>
    <p:sldId id="834" r:id="rId12"/>
    <p:sldId id="835" r:id="rId13"/>
    <p:sldId id="837" r:id="rId14"/>
    <p:sldId id="83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43"/>
  </p:normalViewPr>
  <p:slideViewPr>
    <p:cSldViewPr snapToGrid="0">
      <p:cViewPr varScale="1">
        <p:scale>
          <a:sx n="88" d="100"/>
          <a:sy n="88" d="100"/>
        </p:scale>
        <p:origin x="176" y="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61D37-AFC8-7CC0-56A2-9BE46F8B0B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72EBA7-25A0-F299-3852-775A8C70A5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6BE9D8-5343-560D-1D38-D7E47B86B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EE27D-86FF-AB4F-83C9-90D69C00A831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71619C-7A54-1F84-BE6C-869807301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D113D5-BB1D-A94D-F651-493EA04DC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FEC43-94D0-7547-A937-667442E76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328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47B9B-FA91-AED1-24F3-BB0F78D67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7249D-FC44-0D6B-D013-08711CE9B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CEF2A-9513-5A3E-E0E5-745F3DA97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EE27D-86FF-AB4F-83C9-90D69C00A831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2F513F-A4D0-5F48-371F-7CD497CA9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447F00-3B00-BD22-4F92-362B0469E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FEC43-94D0-7547-A937-667442E76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911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90E99-C411-88E6-70DF-CAC2D20C2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D7C2CD-4924-3727-9882-D3368DC318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B715F-672E-AEA2-B540-92573F289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EE27D-86FF-AB4F-83C9-90D69C00A831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8AD129-5211-1B27-6EC3-85AF7F818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362EB5-7598-81DF-A335-1A68AAF2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FEC43-94D0-7547-A937-667442E76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006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746EB-2C18-B970-2FF9-8F4984223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14C057-53AD-07EB-E592-8A49234800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DBD5FB-9230-94D8-5B28-9C8E2B71F4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35020C-93ED-AA86-F0B1-6AF870B43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EE27D-86FF-AB4F-83C9-90D69C00A831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1E0767-0B69-EA24-C3F2-F858845C7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28E84A-268A-A712-FE34-2761A3CEE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FEC43-94D0-7547-A937-667442E76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408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AAD80-CCB7-4294-AC9B-02BB5118E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8AFB8F-0F63-9B4F-16FB-898E20195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AC3B66-CD11-815C-8A54-FF40F5C22F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12AD76-EC9E-BF38-551A-2B57765EC5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26558C-F76F-2594-E104-CD0742E0C2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27B835-5D81-14C7-63C2-163F3AB5B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EE27D-86FF-AB4F-83C9-90D69C00A831}" type="datetimeFigureOut">
              <a:rPr lang="en-US" smtClean="0"/>
              <a:t>9/17/26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9A07FE-E0EA-6B8F-CBBE-A69F2E936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474356-CF78-22A3-F279-701D0BC00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FEC43-94D0-7547-A937-667442E76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122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B1AAB-9C44-EE28-77CF-B4B278074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17D526-7D44-AC19-B7C2-22DEB9A0E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EE27D-86FF-AB4F-83C9-90D69C00A831}" type="datetimeFigureOut">
              <a:rPr lang="en-US" smtClean="0"/>
              <a:t>9/17/26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862811-4F65-4CB4-F1EA-AD8431742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E8852B-5003-E50C-C511-DE275DAEF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FEC43-94D0-7547-A937-667442E76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682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136B91-7082-FFDC-7E94-F6595B760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EE27D-86FF-AB4F-83C9-90D69C00A831}" type="datetimeFigureOut">
              <a:rPr lang="en-US" smtClean="0"/>
              <a:t>9/17/26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D444CB-4A1F-3CA9-DEEB-ED74004F3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12D1A3-69EE-681A-BF75-F75C4195D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FEC43-94D0-7547-A937-667442E76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695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E8DBF-44BF-B479-435D-EEF095EC3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B5589-9874-56B3-F29C-1AD5BD56B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2909C0-A509-2CD2-9D18-A19CF0F548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BD4799-9CE8-EFE8-6699-990667957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EE27D-86FF-AB4F-83C9-90D69C00A831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9C9FC5-81FE-9720-C5E0-E21BBBEAF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7F8C65-853C-AB6F-0007-FD5B7C74B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FEC43-94D0-7547-A937-667442E76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753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00422-97E1-4994-2523-5FDEE7056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3F116B-CC7A-8B70-FCA9-83915952FE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7CD0C1-441C-4306-4741-D480B150D2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E905E9-DF00-C373-432B-20BFBC6BE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EE27D-86FF-AB4F-83C9-90D69C00A831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CFA026-3719-8248-59DA-F6FFD5214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8DA53C-BA94-21AC-0F46-FA15EADD7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FEC43-94D0-7547-A937-667442E76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788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BBF25-551C-9D3F-A253-3C39C6C72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C67FC7-22AB-8FA8-CBA6-AD330AD162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DF4FAB-543D-E230-D219-C97D2E03A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EE27D-86FF-AB4F-83C9-90D69C00A831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6C850-5202-31EF-0310-69A4C7332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52642-E1F6-E335-A868-E48AFA65F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FEC43-94D0-7547-A937-667442E76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647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64E9A8-07D2-8E6D-6084-5B91F44006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6E44D2-84B1-7A92-0CFF-B315AF9209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2F9BC6-BB46-CAEF-448D-7783A2D6E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EE27D-86FF-AB4F-83C9-90D69C00A831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A639D-70D9-6390-99C9-93C157DA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934697-DA9E-FF8C-309C-C0193C5F6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FEC43-94D0-7547-A937-667442E76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8328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5F5D18-534C-85C8-761D-E0527FE1E180}"/>
              </a:ext>
            </a:extLst>
          </p:cNvPr>
          <p:cNvSpPr txBox="1"/>
          <p:nvPr userDrawn="1"/>
        </p:nvSpPr>
        <p:spPr>
          <a:xfrm>
            <a:off x="-148542" y="6461173"/>
            <a:ext cx="327377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CA" sz="2400" b="1" i="0" dirty="0">
                <a:solidFill>
                  <a:srgbClr val="040053"/>
                </a:solidFill>
                <a:effectLst/>
              </a:rPr>
              <a:t>@AnnotateTech </a:t>
            </a:r>
            <a:r>
              <a:rPr lang="en-CA" sz="2400" b="1" i="0" dirty="0">
                <a:solidFill>
                  <a:srgbClr val="FF751F"/>
                </a:solidFill>
                <a:effectLst/>
              </a:rPr>
              <a:t>Claude</a:t>
            </a:r>
            <a:endParaRPr lang="en-CA" sz="2400" dirty="0">
              <a:effectLst/>
            </a:endParaRP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BD48564E-05BF-32FD-9E94-FA1C1A0A07A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0595"/>
            <a:ext cx="12192000" cy="6847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320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DE58CF-3605-1DE2-CF05-7A7E761A9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4377D0-8416-7CB6-9004-5CBAB22ADD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3F0BB2-4AB4-DD92-2D0B-031DBB87D4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AEE27D-86FF-AB4F-83C9-90D69C00A831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7D269-800B-FB9F-E6C6-3F6B11E13D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33B2F-5145-A0B9-36A6-702AC77F52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0FEC43-94D0-7547-A937-667442E76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014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E638E-BE17-9814-825D-0CA19A639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DB16C3D3-74D9-D903-78D9-3366E16F3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95"/>
            <a:ext cx="12192000" cy="6847405"/>
          </a:xfrm>
          <a:prstGeom prst="rect">
            <a:avLst/>
          </a:prstGeom>
        </p:spPr>
      </p:pic>
      <p:sp>
        <p:nvSpPr>
          <p:cNvPr id="3" name="Text 3">
            <a:extLst>
              <a:ext uri="{FF2B5EF4-FFF2-40B4-BE49-F238E27FC236}">
                <a16:creationId xmlns:a16="http://schemas.microsoft.com/office/drawing/2014/main" id="{6C1D1808-1FB5-BBDF-F98E-20456A2FA0CF}"/>
              </a:ext>
            </a:extLst>
          </p:cNvPr>
          <p:cNvSpPr/>
          <p:nvPr/>
        </p:nvSpPr>
        <p:spPr>
          <a:xfrm>
            <a:off x="436660" y="867720"/>
            <a:ext cx="10006776" cy="1326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933" b="1" dirty="0">
                <a:solidFill>
                  <a:srgbClr val="7C2D0A"/>
                </a:solidFill>
                <a:latin typeface="Cambria" pitchFamily="34" charset="0"/>
              </a:rPr>
              <a:t>Data Cleaning </a:t>
            </a:r>
            <a:endParaRPr lang="en-US" sz="5333" dirty="0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650B9A30-CCF9-B8DD-10E6-E89C5CAF862D}"/>
              </a:ext>
            </a:extLst>
          </p:cNvPr>
          <p:cNvSpPr/>
          <p:nvPr/>
        </p:nvSpPr>
        <p:spPr>
          <a:xfrm>
            <a:off x="548640" y="470317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C00000"/>
                </a:solidFill>
              </a:rPr>
              <a:t>Week1 – Day3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4DA276-8119-438D-0386-4A5F12E01EE8}"/>
              </a:ext>
            </a:extLst>
          </p:cNvPr>
          <p:cNvSpPr txBox="1"/>
          <p:nvPr/>
        </p:nvSpPr>
        <p:spPr>
          <a:xfrm>
            <a:off x="436661" y="2368872"/>
            <a:ext cx="112067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/>
              <a:t>Remove Duplicates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/>
              <a:t>TRIM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/>
              <a:t>Clean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/>
              <a:t>Proper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/>
              <a:t>Text to Column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/>
              <a:t>Handling blanks and inconsistent formulas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/>
              <a:t>Standardizing IDs and Financial Fields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A596B7-09E2-81B0-CCD5-41E2B5C5E6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1129" y="744638"/>
            <a:ext cx="2438400" cy="5554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5684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39E1464A-B26A-6BAF-C469-94250CBB7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95"/>
            <a:ext cx="12192000" cy="68474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7E1803-F9BE-7912-38C6-6E868B857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Learning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4DAC1-B5BE-BBE6-6401-868BB6CE0A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sz="2400" dirty="0"/>
              <a:t>Clean inconsistent customer and transaction information</a:t>
            </a:r>
          </a:p>
          <a:p>
            <a:r>
              <a:rPr lang="en-CA" sz="2400" dirty="0"/>
              <a:t>Convert poorly structured operational data into usable fields</a:t>
            </a:r>
          </a:p>
          <a:p>
            <a:r>
              <a:rPr lang="en-CA" sz="2400" dirty="0"/>
              <a:t>Improve data quality before analysis</a:t>
            </a:r>
          </a:p>
          <a:p>
            <a:r>
              <a:rPr lang="en-CA" sz="2400" dirty="0"/>
              <a:t>Establish consistent formats across banking datasets</a:t>
            </a:r>
          </a:p>
          <a:p>
            <a:r>
              <a:rPr lang="en-CA" sz="2400" dirty="0"/>
              <a:t>Create a repeatable data-cleaning process</a:t>
            </a: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100AB6-0989-2A6C-B613-8CCEDBE3BA88}"/>
              </a:ext>
            </a:extLst>
          </p:cNvPr>
          <p:cNvSpPr txBox="1"/>
          <p:nvPr/>
        </p:nvSpPr>
        <p:spPr>
          <a:xfrm>
            <a:off x="339971" y="4989299"/>
            <a:ext cx="11452559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33" dirty="0"/>
              <a:t>/Users/</a:t>
            </a:r>
            <a:r>
              <a:rPr lang="en-US" sz="1333" dirty="0" err="1"/>
              <a:t>ashujauhari</a:t>
            </a:r>
            <a:r>
              <a:rPr lang="en-US" sz="1333" dirty="0"/>
              <a:t>/Data-2026/Client-2026/REVATURE-KPMG-</a:t>
            </a:r>
            <a:r>
              <a:rPr lang="en-US" sz="1333" dirty="0" err="1"/>
              <a:t>OperationAnalyst</a:t>
            </a:r>
            <a:r>
              <a:rPr lang="en-US" sz="1333" dirty="0"/>
              <a:t>/Week1-ExcelFoundation/Day3/KPMG_W1_Day3_Lab_DataCleaning.docx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AF3574-CA9B-5C1F-B518-E7F156D8F959}"/>
              </a:ext>
            </a:extLst>
          </p:cNvPr>
          <p:cNvSpPr txBox="1"/>
          <p:nvPr/>
        </p:nvSpPr>
        <p:spPr>
          <a:xfrm>
            <a:off x="269631" y="5357447"/>
            <a:ext cx="11616898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33" dirty="0"/>
              <a:t>/Users/</a:t>
            </a:r>
            <a:r>
              <a:rPr lang="en-US" sz="1333" dirty="0" err="1"/>
              <a:t>ashujauhari</a:t>
            </a:r>
            <a:r>
              <a:rPr lang="en-US" sz="1333" dirty="0"/>
              <a:t>/Data-2026/Client-2026/REVATURE-KPMG-</a:t>
            </a:r>
            <a:r>
              <a:rPr lang="en-US" sz="1333" dirty="0" err="1"/>
              <a:t>OperationAnalyst</a:t>
            </a:r>
            <a:r>
              <a:rPr lang="en-US" sz="1333" dirty="0"/>
              <a:t>/Week1-ExcelFoundation/KPMG_W1_D2_BasicValidation_Lab_Manual.docx</a:t>
            </a:r>
          </a:p>
        </p:txBody>
      </p:sp>
    </p:spTree>
    <p:extLst>
      <p:ext uri="{BB962C8B-B14F-4D97-AF65-F5344CB8AC3E}">
        <p14:creationId xmlns:p14="http://schemas.microsoft.com/office/powerpoint/2010/main" val="2322373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31E3C6C-1668-E073-038B-7E040CD48B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377" y="240323"/>
            <a:ext cx="11703247" cy="6377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718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5B7208-F956-D226-3D3E-A4E0AFE9D9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9458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933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A7C4F7-C632-4618-378F-9514BCBE18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841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300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D4E81-EFA2-B78B-05C2-19FC6F506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5BE88-D7EB-E22F-11C0-2AFD514DD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133ECD-B41B-4ED3-37CC-4C80C72E8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899" y="190825"/>
            <a:ext cx="11825979" cy="6549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138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27D1D85A-1980-1A00-B58E-859E65E63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95"/>
            <a:ext cx="12192000" cy="68474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B39E6F-342B-F6FE-3FD4-0862D0250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Remove duplicate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CFCCAB6-E04D-8500-6255-E8A4C30BE6E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901739"/>
          <a:ext cx="10515600" cy="146304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429170684"/>
                    </a:ext>
                  </a:extLst>
                </a:gridCol>
              </a:tblGrid>
              <a:tr h="1463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400" dirty="0">
                          <a:effectLst/>
                          <a:latin typeface="Helvetica" pitchFamily="2" charset="0"/>
                        </a:rPr>
                        <a:t> </a:t>
                      </a:r>
                    </a:p>
                    <a:p>
                      <a:pPr>
                        <a:buNone/>
                      </a:pPr>
                      <a:r>
                        <a:rPr lang="en-CA" sz="2400" dirty="0">
                          <a:solidFill>
                            <a:srgbClr val="4B5058"/>
                          </a:solidFill>
                          <a:effectLst/>
                          <a:latin typeface="Helvetica" pitchFamily="2" charset="0"/>
                        </a:rPr>
                        <a:t>Remove duplicates</a:t>
                      </a:r>
                    </a:p>
                    <a:p>
                      <a:pPr>
                        <a:buNone/>
                      </a:pPr>
                      <a:br>
                        <a:rPr lang="en-CA" sz="2400" dirty="0">
                          <a:solidFill>
                            <a:srgbClr val="4B5058"/>
                          </a:solidFill>
                          <a:effectLst/>
                          <a:latin typeface="Helvetica" pitchFamily="2" charset="0"/>
                        </a:rPr>
                      </a:br>
                      <a:endParaRPr lang="en-CA" sz="2400" dirty="0">
                        <a:solidFill>
                          <a:srgbClr val="4B5058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63500" marR="635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849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9440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5C0527FC-7001-F0E4-FFBD-7C94082A55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95"/>
            <a:ext cx="12192000" cy="68474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B2DB18-5C49-3349-EF1C-6D38A9F1C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1C555-CCB1-8A58-1A06-D588E236A8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Proper()</a:t>
            </a:r>
          </a:p>
          <a:p>
            <a:pPr lvl="1"/>
            <a:r>
              <a:rPr lang="en-CA" b="1" dirty="0"/>
              <a:t> </a:t>
            </a:r>
            <a:r>
              <a:rPr lang="en-CA" sz="1867" b="1" dirty="0"/>
              <a:t>PROPER(...)</a:t>
            </a:r>
            <a:r>
              <a:rPr lang="en-CA" sz="1867" dirty="0"/>
              <a:t> Capitalises the first letter of each word and lowercases the rest.</a:t>
            </a:r>
          </a:p>
          <a:p>
            <a:pPr lvl="1"/>
            <a:r>
              <a:rPr lang="en-CA" sz="1867" dirty="0"/>
              <a:t> "RAHUL MEHTA" → "Rahul Mehta"; ”</a:t>
            </a:r>
          </a:p>
          <a:p>
            <a:r>
              <a:rPr lang="en-US" dirty="0"/>
              <a:t>Trim()</a:t>
            </a:r>
          </a:p>
          <a:p>
            <a:pPr lvl="1"/>
            <a:r>
              <a:rPr lang="en-CA" dirty="0"/>
              <a:t> </a:t>
            </a:r>
            <a:r>
              <a:rPr lang="en-CA" sz="1867" dirty="0"/>
              <a:t>Removes leading and trailing spaces, and collapses any run of internal spaces down to a single space.</a:t>
            </a:r>
            <a:endParaRPr lang="en-US" sz="1867" dirty="0"/>
          </a:p>
          <a:p>
            <a:r>
              <a:rPr lang="en-US" dirty="0"/>
              <a:t>Clean()</a:t>
            </a:r>
          </a:p>
          <a:p>
            <a:pPr lvl="1"/>
            <a:r>
              <a:rPr lang="en-CA" sz="1867" dirty="0"/>
              <a:t>Strips non-printable control characters (ASCII 0–31) — the invisible junk that comes in from CSV exports, copy-paste from PDFs, or line breaks typed with </a:t>
            </a:r>
            <a:r>
              <a:rPr lang="en-CA" sz="1867" dirty="0" err="1"/>
              <a:t>Alt+Enter</a:t>
            </a:r>
            <a:r>
              <a:rPr lang="en-CA" sz="1867" dirty="0"/>
              <a:t>. It does not touch spaces</a:t>
            </a:r>
            <a:endParaRPr lang="en-US" sz="1867" dirty="0"/>
          </a:p>
        </p:txBody>
      </p:sp>
    </p:spTree>
    <p:extLst>
      <p:ext uri="{BB962C8B-B14F-4D97-AF65-F5344CB8AC3E}">
        <p14:creationId xmlns:p14="http://schemas.microsoft.com/office/powerpoint/2010/main" val="32257624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4D4010FE-F139-492D-836F-FE1CA0DA8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95"/>
            <a:ext cx="12192000" cy="68474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9F2FE1C-6D54-6057-D352-D4C96DC50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Text to Column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2D274-BDDF-7730-CD4F-ABB4D1408A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77348"/>
            <a:ext cx="10515600" cy="1599085"/>
          </a:xfrm>
        </p:spPr>
        <p:txBody>
          <a:bodyPr/>
          <a:lstStyle/>
          <a:p>
            <a:r>
              <a:rPr lang="en-US" dirty="0"/>
              <a:t>Data -&gt; Text To Column -&gt; Delimiter -&gt; Specify the delimiter -&gt; ok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5607C7-3ADA-E135-36C1-DA79D19E37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242" y="890954"/>
            <a:ext cx="8015705" cy="3452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6876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DBA12133-AD6A-224A-3231-496CB8FD75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95"/>
            <a:ext cx="12192000" cy="68474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84BDEC-FB61-A4F7-428C-FAFBACE93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6C3D3-B136-4CCE-1864-EAE92C113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Clean Data Sheet</a:t>
            </a:r>
          </a:p>
          <a:p>
            <a:pPr lvl="1"/>
            <a:r>
              <a:rPr lang="en-CA" dirty="0"/>
              <a:t>Refer F3 Cell:  =IFERROR(VALUE(SUBSTITUTE(SUBSTITUTE(TRIM(Raw_Data!F2),"$",""),",","")),"CHECK")</a:t>
            </a:r>
          </a:p>
          <a:p>
            <a:pPr marL="0" indent="0">
              <a:buNone/>
            </a:pPr>
            <a:r>
              <a:rPr lang="en-CA" b="0" dirty="0"/>
              <a:t>This converts messy text amounts into real numbers:</a:t>
            </a:r>
          </a:p>
          <a:p>
            <a:r>
              <a:rPr lang="en-CA" dirty="0"/>
              <a:t>1. TRIM(Raw_Data!F2)</a:t>
            </a:r>
            <a:r>
              <a:rPr lang="en-CA" b="0" dirty="0"/>
              <a:t> Strips leading/trailing spaces and collapses internal double-spaces. Import files often carry a trailing space that alone is enough to break the conversion.</a:t>
            </a:r>
          </a:p>
          <a:p>
            <a:r>
              <a:rPr lang="en-CA" dirty="0"/>
              <a:t>2. SUBSTITUTE(..., "$", "")</a:t>
            </a:r>
            <a:r>
              <a:rPr lang="en-CA" b="0" dirty="0"/>
              <a:t> Deletes every $ sign. Your Raw_DataF3</a:t>
            </a:r>
          </a:p>
          <a:p>
            <a:r>
              <a:rPr lang="en-CA" dirty="0"/>
              <a:t> is the text "$8,500.00" — this makes it "8,500.00".</a:t>
            </a:r>
          </a:p>
          <a:p>
            <a:r>
              <a:rPr lang="en-CA" dirty="0"/>
              <a:t>3. SUBSTITUTE(..., ",", "")</a:t>
            </a:r>
            <a:r>
              <a:rPr lang="en-CA" b="0" dirty="0"/>
              <a:t> Deletes every comma (thousands separator) → "8500.00". The two SUBSTITUTEs are nested rather than combined because each one only handles a single find-and-replace.</a:t>
            </a:r>
          </a:p>
          <a:p>
            <a:r>
              <a:rPr lang="en-CA" dirty="0"/>
              <a:t>4. VALUE(...)</a:t>
            </a:r>
            <a:r>
              <a:rPr lang="en-CA" b="0" dirty="0"/>
              <a:t> Converts the resulting clean text string into an actual number: "8500.00" → </a:t>
            </a:r>
            <a:r>
              <a:rPr lang="en-CA" dirty="0"/>
              <a:t>8500</a:t>
            </a:r>
            <a:r>
              <a:rPr lang="en-CA" b="0" dirty="0"/>
              <a:t>. Until this step everything is still text and would be silently ignored by SUM.</a:t>
            </a:r>
          </a:p>
          <a:p>
            <a:r>
              <a:rPr lang="en-CA" dirty="0"/>
              <a:t>5. IFERROR(..., "CHECK")</a:t>
            </a:r>
            <a:r>
              <a:rPr lang="en-CA" b="0" dirty="0"/>
              <a:t> The safety net. If what's left still isn't numeric — e.g. "N/A", "pending", "—", a blank, or a stray "USD" — VALUE returns #VALUE!, and IFERROR swaps that error for the flag </a:t>
            </a:r>
            <a:r>
              <a:rPr lang="en-CA" dirty="0"/>
              <a:t>"CHECK"</a:t>
            </a:r>
            <a:r>
              <a:rPr lang="en-CA" b="0" dirty="0"/>
              <a:t> so you get a readable exception instead of an error cascading into your totals.</a:t>
            </a:r>
          </a:p>
          <a:p>
            <a:pPr lvl="1"/>
            <a:endParaRPr lang="en-CA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73841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A60C5-0C7A-6836-1D3D-3AB80F8DC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Cleaning</a:t>
            </a: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6BF6743E-8000-4E4D-FB52-1EA78790F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95"/>
            <a:ext cx="12192000" cy="684740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CB5AA-27DD-56C9-1422-29F6B396E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Refer: H4</a:t>
            </a:r>
          </a:p>
          <a:p>
            <a:pPr lvl="1"/>
            <a:r>
              <a:rPr lang="en-US" sz="1600" dirty="0"/>
              <a:t>=IF(TRIM(Raw_Data!H4)="","UNKNOWN",TRIM(Raw_Data!H4))</a:t>
            </a:r>
          </a:p>
          <a:p>
            <a:r>
              <a:rPr lang="en-US" dirty="0"/>
              <a:t>Refer J3:</a:t>
            </a:r>
          </a:p>
          <a:p>
            <a:pPr lvl="1"/>
            <a:r>
              <a:rPr lang="en-US" sz="1600" dirty="0"/>
              <a:t>=PROPER(TRIM(CLEAN(Raw_Data!J2)))</a:t>
            </a:r>
          </a:p>
        </p:txBody>
      </p:sp>
    </p:spTree>
    <p:extLst>
      <p:ext uri="{BB962C8B-B14F-4D97-AF65-F5344CB8AC3E}">
        <p14:creationId xmlns:p14="http://schemas.microsoft.com/office/powerpoint/2010/main" val="36507157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1A4046B2-2F89-7DA8-6AC3-A12E28257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95"/>
            <a:ext cx="12192000" cy="68474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BB05CF7-FC41-C0C2-6386-A38F7AF3C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267" dirty="0"/>
              <a:t>Handling blanks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F9EDF8-7093-D212-40C8-0C4D1D5537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dirty="0"/>
              <a:t>Handling blanks</a:t>
            </a:r>
            <a:endParaRPr lang="en-CA" sz="1867" dirty="0"/>
          </a:p>
          <a:p>
            <a:pPr lvl="2"/>
            <a:r>
              <a:rPr lang="en-CA" sz="1867" dirty="0" err="1"/>
              <a:t>Branch_Code</a:t>
            </a:r>
            <a:r>
              <a:rPr lang="en-CA" sz="1867" dirty="0"/>
              <a:t> (column H) — truly empty cells: Raw_Data-Day3 H4</a:t>
            </a:r>
          </a:p>
          <a:p>
            <a:pPr lvl="2"/>
            <a:r>
              <a:rPr lang="en-CA" sz="1867" dirty="0"/>
              <a:t>, H9, H14, H17, H22, H26 (6 of 30 rows). Decide: fill from the customer's other rows, or tag UNKNOWN — don't leave silent gaps.</a:t>
            </a:r>
          </a:p>
          <a:p>
            <a:pPr lvl="2"/>
            <a:r>
              <a:rPr lang="en-CA" sz="1867" dirty="0"/>
              <a:t>Amount F13 = N/A — a disguised blank. It looks populated but breaks SUM/AVERAGE; convert to a real blank or 0 with a flag.</a:t>
            </a:r>
          </a:p>
          <a:p>
            <a:pPr lvl="2"/>
            <a:r>
              <a:rPr lang="en-CA" sz="1867" dirty="0"/>
              <a:t>Whitespace-only look-alikes — values like CUST-1020 (A23) and Pending credit (J13) read as filled but need TRIM before any blank check.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76561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0B89DC04-86AB-4117-2267-7E41D5FDE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95"/>
            <a:ext cx="12192000" cy="68474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3A197F-AEC2-A12C-6C1A-3B6721D61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Inconsistent Formats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07121-2E11-EF1A-C584-69FDB7B57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dirty="0"/>
              <a:t>Inconsistent formats</a:t>
            </a:r>
            <a:endParaRPr lang="en-CA" b="0" dirty="0"/>
          </a:p>
          <a:p>
            <a:r>
              <a:rPr lang="en-CA" sz="2000" dirty="0" err="1">
                <a:solidFill>
                  <a:srgbClr val="EB793D"/>
                </a:solidFill>
              </a:rPr>
              <a:t>Transaction_Date</a:t>
            </a:r>
            <a:r>
              <a:rPr lang="en-CA" sz="2000" dirty="0">
                <a:solidFill>
                  <a:srgbClr val="EB793D"/>
                </a:solidFill>
              </a:rPr>
              <a:t> (D) </a:t>
            </a:r>
            <a:r>
              <a:rPr lang="en-CA" sz="2400" dirty="0">
                <a:solidFill>
                  <a:srgbClr val="EB793D"/>
                </a:solidFill>
              </a:rPr>
              <a:t>— </a:t>
            </a:r>
            <a:r>
              <a:rPr lang="en-CA" sz="2000" dirty="0">
                <a:solidFill>
                  <a:srgbClr val="EB793D"/>
                </a:solidFill>
              </a:rPr>
              <a:t>three formats mixed: ISO 2026-08-01 (most rows), 01/08/2026 (D4, D14), 25/08/2026 (D31), 08-Aug-2026 (D9), 21-Aug-2026 (D22). Also stored as text, so they won't sort chronologically.</a:t>
            </a:r>
          </a:p>
          <a:p>
            <a:r>
              <a:rPr lang="en-CA" sz="2000" dirty="0" err="1">
                <a:solidFill>
                  <a:srgbClr val="EB793D"/>
                </a:solidFill>
              </a:rPr>
              <a:t>Transaction_Type</a:t>
            </a:r>
            <a:r>
              <a:rPr lang="en-CA" sz="2000" dirty="0">
                <a:solidFill>
                  <a:srgbClr val="EB793D"/>
                </a:solidFill>
              </a:rPr>
              <a:t> (E) — casing all over: </a:t>
            </a:r>
            <a:r>
              <a:rPr lang="en-CA" sz="2000" dirty="0">
                <a:solidFill>
                  <a:srgbClr val="EB793D"/>
                </a:solidFill>
                <a:highlight>
                  <a:srgbClr val="FFFF00"/>
                </a:highlight>
              </a:rPr>
              <a:t>Credit</a:t>
            </a:r>
            <a:r>
              <a:rPr lang="en-CA" sz="2000" dirty="0">
                <a:solidFill>
                  <a:srgbClr val="EB793D"/>
                </a:solidFill>
              </a:rPr>
              <a:t>, </a:t>
            </a:r>
            <a:r>
              <a:rPr lang="en-CA" sz="2000" dirty="0">
                <a:solidFill>
                  <a:srgbClr val="EB793D"/>
                </a:solidFill>
                <a:highlight>
                  <a:srgbClr val="FFFF00"/>
                </a:highlight>
              </a:rPr>
              <a:t>CREDIT (E</a:t>
            </a:r>
            <a:r>
              <a:rPr lang="en-CA" sz="2000" dirty="0">
                <a:solidFill>
                  <a:srgbClr val="EB793D"/>
                </a:solidFill>
              </a:rPr>
              <a:t>16, E27), credit (E4, E23, E31), DEBIT(E3, E7, E19, E22), debit, plus trailing spaces in E26 (Debit  ).</a:t>
            </a:r>
          </a:p>
          <a:p>
            <a:r>
              <a:rPr lang="en-CA" sz="2000" dirty="0" err="1">
                <a:solidFill>
                  <a:srgbClr val="EB793D"/>
                </a:solidFill>
              </a:rPr>
              <a:t>Customer_Name</a:t>
            </a:r>
            <a:r>
              <a:rPr lang="en-CA" sz="2000" dirty="0">
                <a:solidFill>
                  <a:srgbClr val="EB793D"/>
                </a:solidFill>
              </a:rPr>
              <a:t> (C) — </a:t>
            </a:r>
            <a:r>
              <a:rPr lang="en-CA" sz="2000" dirty="0">
                <a:solidFill>
                  <a:srgbClr val="EB793D"/>
                </a:solidFill>
                <a:highlight>
                  <a:srgbClr val="FFFF00"/>
                </a:highlight>
              </a:rPr>
              <a:t>Priya Sharma vs MEENA KRISHNAN </a:t>
            </a:r>
            <a:r>
              <a:rPr lang="en-CA" sz="2000" dirty="0">
                <a:solidFill>
                  <a:srgbClr val="EB793D"/>
                </a:solidFill>
              </a:rPr>
              <a:t>vs </a:t>
            </a:r>
            <a:r>
              <a:rPr lang="en-CA" sz="2000" dirty="0" err="1">
                <a:solidFill>
                  <a:srgbClr val="EB793D"/>
                </a:solidFill>
              </a:rPr>
              <a:t>ananya</a:t>
            </a:r>
            <a:r>
              <a:rPr lang="en-CA" sz="2000" dirty="0">
                <a:solidFill>
                  <a:srgbClr val="EB793D"/>
                </a:solidFill>
              </a:rPr>
              <a:t> </a:t>
            </a:r>
            <a:r>
              <a:rPr lang="en-CA" sz="2000" dirty="0" err="1">
                <a:solidFill>
                  <a:srgbClr val="EB793D"/>
                </a:solidFill>
              </a:rPr>
              <a:t>iyer</a:t>
            </a:r>
            <a:r>
              <a:rPr lang="en-CA" sz="2000" dirty="0">
                <a:solidFill>
                  <a:srgbClr val="EB793D"/>
                </a:solidFill>
              </a:rPr>
              <a:t>; padded values RAHUL MEHTA (C3, C19), Arjun Bose (C11); double internal spaces in C18 (Rohit Kumar).</a:t>
            </a:r>
          </a:p>
          <a:p>
            <a:r>
              <a:rPr lang="en-CA" sz="2000" dirty="0">
                <a:solidFill>
                  <a:srgbClr val="EB793D"/>
                </a:solidFill>
              </a:rPr>
              <a:t>Amount (F) — 15000 vs $8,500.00 vs 1,200.50vs $600 (covered in the standardization list).</a:t>
            </a:r>
          </a:p>
          <a:p>
            <a:r>
              <a:rPr lang="en-CA" sz="2000" dirty="0">
                <a:solidFill>
                  <a:srgbClr val="EB793D"/>
                </a:solidFill>
              </a:rPr>
              <a:t>Notes (J) — leading/trailing padding (J3, J13, J17, J19, J23, J29), double spaces (J8 Coffee shop payment), and a stray system tag in J4 (Loan disbursement [SYS]).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7480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1F1E727F-EFD3-0DEC-D8E8-E3279061C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95"/>
            <a:ext cx="12192000" cy="68474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D1BC48A-D65A-F449-364F-2B361D60C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5468"/>
            <a:ext cx="10515600" cy="1458049"/>
          </a:xfrm>
        </p:spPr>
        <p:txBody>
          <a:bodyPr>
            <a:noAutofit/>
          </a:bodyPr>
          <a:lstStyle/>
          <a:p>
            <a:r>
              <a:rPr lang="en-US" sz="4800" dirty="0"/>
              <a:t>Standardizing Ids and Financial fields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50A334D-A48B-A3D7-BB30-220DC2DCFBD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090084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69162358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 sz="2400" dirty="0">
                        <a:solidFill>
                          <a:srgbClr val="4B5058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63500" marR="635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2849772"/>
                  </a:ext>
                </a:extLst>
              </a:tr>
            </a:tbl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13027C9-4685-53F0-74D8-20F98A01590F}"/>
              </a:ext>
            </a:extLst>
          </p:cNvPr>
          <p:cNvSpPr txBox="1">
            <a:spLocks/>
          </p:cNvSpPr>
          <p:nvPr/>
        </p:nvSpPr>
        <p:spPr>
          <a:xfrm>
            <a:off x="838200" y="1828800"/>
            <a:ext cx="10515600" cy="4347633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000" b="1" kern="1200">
                <a:solidFill>
                  <a:srgbClr val="7C2D0A"/>
                </a:solidFill>
                <a:latin typeface="Cambria" pitchFamily="34" charset="0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B05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EB793D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16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1F201A4-F683-7422-D311-9DF7588E723B}"/>
              </a:ext>
            </a:extLst>
          </p:cNvPr>
          <p:cNvSpPr txBox="1">
            <a:spLocks/>
          </p:cNvSpPr>
          <p:nvPr/>
        </p:nvSpPr>
        <p:spPr>
          <a:xfrm>
            <a:off x="656389" y="2410462"/>
            <a:ext cx="10515600" cy="3765972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000" b="1" kern="1200">
                <a:solidFill>
                  <a:srgbClr val="7C2D0A"/>
                </a:solidFill>
                <a:latin typeface="Cambria" pitchFamily="34" charset="0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B05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EB793D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1B71D7-5BF1-D978-FDAA-50FB07FF233F}"/>
              </a:ext>
            </a:extLst>
          </p:cNvPr>
          <p:cNvSpPr txBox="1"/>
          <p:nvPr/>
        </p:nvSpPr>
        <p:spPr>
          <a:xfrm>
            <a:off x="930443" y="1874865"/>
            <a:ext cx="10423357" cy="4648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CA" sz="2400" b="1" dirty="0">
                <a:solidFill>
                  <a:srgbClr val="121212"/>
                </a:solidFill>
                <a:latin typeface="system-ui"/>
              </a:rPr>
              <a:t>IDs (</a:t>
            </a:r>
            <a:r>
              <a:rPr lang="en-CA" sz="2400" b="1" dirty="0" err="1">
                <a:solidFill>
                  <a:srgbClr val="121212"/>
                </a:solidFill>
                <a:latin typeface="system-ui"/>
              </a:rPr>
              <a:t>Customer_ID</a:t>
            </a:r>
            <a:r>
              <a:rPr lang="en-CA" sz="2400" b="1" dirty="0">
                <a:solidFill>
                  <a:srgbClr val="121212"/>
                </a:solidFill>
                <a:latin typeface="system-ui"/>
              </a:rPr>
              <a:t>, column A)</a:t>
            </a:r>
            <a:endParaRPr lang="en-CA" sz="1600" b="1" dirty="0">
              <a:solidFill>
                <a:srgbClr val="121212"/>
              </a:solidFill>
              <a:latin typeface="system-ui"/>
            </a:endParaRPr>
          </a:p>
          <a:p>
            <a:pPr algn="l">
              <a:buNone/>
            </a:pPr>
            <a:endParaRPr lang="en-CA" sz="1600" dirty="0">
              <a:solidFill>
                <a:srgbClr val="121212"/>
              </a:solidFill>
              <a:latin typeface="system-ui"/>
            </a:endParaRPr>
          </a:p>
          <a:p>
            <a:pPr algn="l">
              <a:buFont typeface="+mj-lt"/>
              <a:buAutoNum type="arabicPeriod"/>
            </a:pPr>
            <a:r>
              <a:rPr lang="en-CA" sz="1867" dirty="0">
                <a:solidFill>
                  <a:srgbClr val="EB793D"/>
                </a:solidFill>
              </a:rPr>
              <a:t>  Missing CUST- prefix — stored as bare numbers: A4 (1003), A12 (1011), A14    (1003), A17 (1015),</a:t>
            </a:r>
          </a:p>
          <a:p>
            <a:pPr algn="l"/>
            <a:r>
              <a:rPr lang="en-CA" sz="1867" dirty="0">
                <a:solidFill>
                  <a:srgbClr val="EB793D"/>
                </a:solidFill>
              </a:rPr>
              <a:t>	    A25 (1022), A31 (1028).</a:t>
            </a:r>
          </a:p>
          <a:p>
            <a:pPr algn="l">
              <a:buFont typeface="+mj-lt"/>
              <a:buAutoNum type="arabicPeriod"/>
            </a:pPr>
            <a:r>
              <a:rPr lang="en-CA" sz="1867" dirty="0">
                <a:solidFill>
                  <a:srgbClr val="EB793D"/>
                </a:solidFill>
              </a:rPr>
              <a:t> Space inside the prefix: A7 (CUST -1006), A27 (CUST -1024).</a:t>
            </a:r>
          </a:p>
          <a:p>
            <a:pPr algn="l">
              <a:buFont typeface="+mj-lt"/>
              <a:buAutoNum type="arabicPeriod"/>
            </a:pPr>
            <a:r>
              <a:rPr lang="en-CA" sz="1867" dirty="0">
                <a:solidFill>
                  <a:srgbClr val="EB793D"/>
                </a:solidFill>
              </a:rPr>
              <a:t> Leading whitespace: A23 ( CUST-1020).</a:t>
            </a:r>
          </a:p>
          <a:p>
            <a:pPr algn="l">
              <a:buFont typeface="+mj-lt"/>
              <a:buAutoNum type="arabicPeriod"/>
            </a:pPr>
            <a:r>
              <a:rPr lang="en-CA" sz="1867" dirty="0">
                <a:solidFill>
                  <a:srgbClr val="EB793D"/>
                </a:solidFill>
              </a:rPr>
              <a:t> Target format: CUST-####, trimmed, no internal spaces.</a:t>
            </a:r>
          </a:p>
          <a:p>
            <a:pPr>
              <a:buFont typeface="+mj-lt"/>
              <a:buAutoNum type="arabicPeriod"/>
            </a:pPr>
            <a:r>
              <a:rPr lang="en-CA" sz="1867" dirty="0">
                <a:solidFill>
                  <a:srgbClr val="EB793D"/>
                </a:solidFill>
              </a:rPr>
              <a:t> Currency symbol embedded in the value: F3, F9, F10, F16, F19, F22, F27, F28 (e.g. $45,000). </a:t>
            </a:r>
          </a:p>
          <a:p>
            <a:r>
              <a:rPr lang="en-CA" sz="1867" dirty="0">
                <a:solidFill>
                  <a:srgbClr val="EB793D"/>
                </a:solidFill>
              </a:rPr>
              <a:t>6. Thousands separators making the value text: F7 (1,200.50), F20 (1,050), F24 (12,750). </a:t>
            </a:r>
          </a:p>
          <a:p>
            <a:r>
              <a:rPr lang="en-CA" sz="1867" dirty="0">
                <a:solidFill>
                  <a:srgbClr val="EB793D"/>
                </a:solidFill>
              </a:rPr>
              <a:t>7. Non-numeric placeholder: F13 (N/A) — needs a real value or a blank. </a:t>
            </a:r>
          </a:p>
          <a:p>
            <a:r>
              <a:rPr lang="en-CA" sz="1867" dirty="0">
                <a:solidFill>
                  <a:srgbClr val="EB793D"/>
                </a:solidFill>
              </a:rPr>
              <a:t>8. Mixed decimal precision — some values carry .00, most have none. </a:t>
            </a:r>
          </a:p>
          <a:p>
            <a:r>
              <a:rPr lang="en-CA" sz="1867" dirty="0">
                <a:solidFill>
                  <a:srgbClr val="EB793D"/>
                </a:solidFill>
              </a:rPr>
              <a:t>9. Currency mismatch: column G says INR for every row, but amounts are written with $. </a:t>
            </a:r>
          </a:p>
          <a:p>
            <a:r>
              <a:rPr lang="en-CA" sz="1867" dirty="0">
                <a:solidFill>
                  <a:srgbClr val="EB793D"/>
                </a:solidFill>
              </a:rPr>
              <a:t>10. Entire column F is stored as text, so it won't sum — convert to numbers and apply one format (e.g. ₹#,##0.00).</a:t>
            </a:r>
          </a:p>
          <a:p>
            <a:pPr>
              <a:buNone/>
            </a:pPr>
            <a:br>
              <a:rPr lang="en-CA" sz="1600" dirty="0"/>
            </a:b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977941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1042</Words>
  <Application>Microsoft Macintosh PowerPoint</Application>
  <PresentationFormat>Widescreen</PresentationFormat>
  <Paragraphs>74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Aptos Display</vt:lpstr>
      <vt:lpstr>Arial</vt:lpstr>
      <vt:lpstr>Cambria</vt:lpstr>
      <vt:lpstr>Helvetica</vt:lpstr>
      <vt:lpstr>system-ui</vt:lpstr>
      <vt:lpstr>Office Theme</vt:lpstr>
      <vt:lpstr>PowerPoint Presentation</vt:lpstr>
      <vt:lpstr>Learning Outcome</vt:lpstr>
      <vt:lpstr>PowerPoint Presentation</vt:lpstr>
      <vt:lpstr>PowerPoint Presentation</vt:lpstr>
      <vt:lpstr>PowerPoint Presentation</vt:lpstr>
      <vt:lpstr>PowerPoint Presentation</vt:lpstr>
      <vt:lpstr>Remove duplicate</vt:lpstr>
      <vt:lpstr>Function</vt:lpstr>
      <vt:lpstr>Text to Column</vt:lpstr>
      <vt:lpstr>Data Cleaning</vt:lpstr>
      <vt:lpstr>Data Cleaning</vt:lpstr>
      <vt:lpstr>Handling blanks </vt:lpstr>
      <vt:lpstr>Inconsistent Formats</vt:lpstr>
      <vt:lpstr>Standardizing Ids and Financial fields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Ashu Jauhari</dc:creator>
  <cp:lastModifiedBy>Ashu Jauhari</cp:lastModifiedBy>
  <cp:revision>1</cp:revision>
  <dcterms:created xsi:type="dcterms:W3CDTF">2026-09-17T08:17:09Z</dcterms:created>
  <dcterms:modified xsi:type="dcterms:W3CDTF">2026-09-17T08:19:06Z</dcterms:modified>
</cp:coreProperties>
</file>