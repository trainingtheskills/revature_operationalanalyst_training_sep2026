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41"/>
  </p:notesMasterIdLst>
  <p:handoutMasterIdLst>
    <p:handoutMasterId r:id="rId42"/>
  </p:handoutMasterIdLst>
  <p:sldIdLst>
    <p:sldId id="256" r:id="rId3"/>
    <p:sldId id="798" r:id="rId4"/>
    <p:sldId id="799" r:id="rId5"/>
    <p:sldId id="800" r:id="rId6"/>
    <p:sldId id="801" r:id="rId7"/>
    <p:sldId id="263" r:id="rId8"/>
    <p:sldId id="423" r:id="rId9"/>
    <p:sldId id="279" r:id="rId10"/>
    <p:sldId id="344" r:id="rId11"/>
    <p:sldId id="345" r:id="rId12"/>
    <p:sldId id="347" r:id="rId13"/>
    <p:sldId id="348" r:id="rId14"/>
    <p:sldId id="349" r:id="rId15"/>
    <p:sldId id="350" r:id="rId16"/>
    <p:sldId id="352" r:id="rId17"/>
    <p:sldId id="351" r:id="rId18"/>
    <p:sldId id="354" r:id="rId19"/>
    <p:sldId id="353" r:id="rId20"/>
    <p:sldId id="355" r:id="rId21"/>
    <p:sldId id="356" r:id="rId22"/>
    <p:sldId id="808" r:id="rId23"/>
    <p:sldId id="809" r:id="rId24"/>
    <p:sldId id="357" r:id="rId25"/>
    <p:sldId id="359" r:id="rId26"/>
    <p:sldId id="821" r:id="rId27"/>
    <p:sldId id="810" r:id="rId28"/>
    <p:sldId id="811" r:id="rId29"/>
    <p:sldId id="812" r:id="rId30"/>
    <p:sldId id="813" r:id="rId31"/>
    <p:sldId id="360" r:id="rId32"/>
    <p:sldId id="361" r:id="rId33"/>
    <p:sldId id="823" r:id="rId34"/>
    <p:sldId id="824" r:id="rId35"/>
    <p:sldId id="362" r:id="rId36"/>
    <p:sldId id="364" r:id="rId37"/>
    <p:sldId id="366" r:id="rId38"/>
    <p:sldId id="367" r:id="rId39"/>
    <p:sldId id="368" r:id="rId4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y1" id="{49A715C7-4BEA-9A4F-B272-17FDCE994C55}">
          <p14:sldIdLst>
            <p14:sldId id="256"/>
            <p14:sldId id="798"/>
            <p14:sldId id="799"/>
            <p14:sldId id="800"/>
            <p14:sldId id="801"/>
          </p14:sldIdLst>
        </p14:section>
        <p14:section name="Week 1-Day1-14-Sep-2026" id="{CFE34B4D-AD69-FD42-AC47-D1DFCFF7A3EC}">
          <p14:sldIdLst>
            <p14:sldId id="263"/>
            <p14:sldId id="423"/>
            <p14:sldId id="279"/>
            <p14:sldId id="344"/>
            <p14:sldId id="345"/>
            <p14:sldId id="347"/>
            <p14:sldId id="348"/>
            <p14:sldId id="349"/>
            <p14:sldId id="350"/>
            <p14:sldId id="352"/>
            <p14:sldId id="351"/>
            <p14:sldId id="354"/>
            <p14:sldId id="353"/>
            <p14:sldId id="355"/>
            <p14:sldId id="356"/>
            <p14:sldId id="808"/>
            <p14:sldId id="809"/>
            <p14:sldId id="357"/>
            <p14:sldId id="359"/>
            <p14:sldId id="821"/>
            <p14:sldId id="810"/>
            <p14:sldId id="811"/>
            <p14:sldId id="812"/>
            <p14:sldId id="813"/>
            <p14:sldId id="360"/>
            <p14:sldId id="361"/>
            <p14:sldId id="823"/>
            <p14:sldId id="824"/>
            <p14:sldId id="362"/>
            <p14:sldId id="364"/>
            <p14:sldId id="366"/>
            <p14:sldId id="367"/>
            <p14:sldId id="36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793D"/>
    <a:srgbClr val="D59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22"/>
    <p:restoredTop sz="96260"/>
  </p:normalViewPr>
  <p:slideViewPr>
    <p:cSldViewPr snapToGrid="0" snapToObjects="1">
      <p:cViewPr varScale="1">
        <p:scale>
          <a:sx n="159" d="100"/>
          <a:sy n="159" d="100"/>
        </p:scale>
        <p:origin x="176" y="3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5" d="100"/>
          <a:sy n="95" d="100"/>
        </p:scale>
        <p:origin x="4232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CD411ED-FF75-59A5-42FB-01ED8694C8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AAE26E-BEA9-FA20-95B3-051D9DC010E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A6D3E-BFB1-0DBE-6CA5-9BDCA669FF9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5CE009-1979-7F48-9F14-60D43B6B59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311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8559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724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881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626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5F5D18-534C-85C8-761D-E0527FE1E180}"/>
              </a:ext>
            </a:extLst>
          </p:cNvPr>
          <p:cNvSpPr txBox="1"/>
          <p:nvPr userDrawn="1"/>
        </p:nvSpPr>
        <p:spPr>
          <a:xfrm>
            <a:off x="-111407" y="4845879"/>
            <a:ext cx="2455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CA" b="1" i="0" dirty="0">
                <a:solidFill>
                  <a:srgbClr val="040053"/>
                </a:solidFill>
                <a:effectLst/>
              </a:rPr>
              <a:t>@AnnotateTech </a:t>
            </a:r>
            <a:r>
              <a:rPr lang="en-CA" b="1" i="0" dirty="0">
                <a:solidFill>
                  <a:srgbClr val="FF751F"/>
                </a:solidFill>
                <a:effectLst/>
              </a:rPr>
              <a:t>Claude</a:t>
            </a:r>
            <a:endParaRPr lang="en-CA" dirty="0">
              <a:effectLst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D48564E-05BF-32FD-9E94-FA1C1A0A07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7946"/>
            <a:ext cx="9144000" cy="51355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46B9D-6FC7-0B39-0FAF-6224B7A64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393723-602E-31C0-5AF5-530EB2940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01766-A164-8C43-E0A0-ECDB86F34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2E4E2-CD0C-6B19-36D0-D761EFDC9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57240-9234-C8A0-6E4F-BFDEC5571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17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11182-2A58-44E3-1B26-B335EDFC9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1600"/>
            <a:ext cx="7886700" cy="5666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43031-510D-25CD-098D-63BACC815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17685"/>
            <a:ext cx="7886700" cy="381464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540CB-A181-E958-DFF4-A042CF71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6AAD5-04C7-079F-AEBC-92CF2A26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3E8D6-FA7A-5FB8-C639-635EEDC37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57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CD159-D858-91AF-23CA-028E074A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8134B8-D84D-80C4-205C-F15175B8D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AD7BA-2C8E-8290-169D-5593496CE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8B649-038E-ECAB-B5A7-B5A536B8A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59DA7-941E-3489-0B06-9364F44C1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55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8058-9251-142D-B2C7-0E4A33ABA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43F97-FB91-4C48-9F41-34EAE0EA6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41ECD-2B03-3533-3905-8655F3DE3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6F127-D1B5-4E9D-4E89-A46B69AD9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C6C06-B485-F7D1-4016-3927367B2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38C1E-570A-B60E-3985-0FB26721E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516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B2BA5-9394-6C2A-A215-FA13A60AF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58FE5A-798F-0339-FE62-2CCFA5756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4C3B6-4969-88DF-C2A4-309172BF7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C91313-9F1D-5701-5611-43920FEEAE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6F02FC-F5A7-B71D-1729-6C226F4E14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2E2A1B-CAED-3987-3975-7AC687E55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41F795-828B-BBB3-22DA-70EBB30E2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7E514A-7D36-052A-8171-C7A1894F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032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BFFAB-C0C4-8606-011A-1B2667D78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F31B80-6E56-FEDD-7573-44ABE3C59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C2227-4571-9E75-B293-81626719E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AD3066-7472-657F-5B11-F21BB1C23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140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1B5C5C-54B0-33A6-A2AF-07985F1FF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EB333E-011F-8374-CAF7-BB1D7EBFC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779C9-A436-F8FE-761C-B53E365D7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519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9FF90-3A83-7251-9D07-B9452676F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68BCB-78B4-1B47-99E4-778FC3504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C1916-1F9A-A98A-93F3-D45727042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74FBC-0127-F788-1394-90A21C953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8AEC2-895A-3F54-DF19-69C193399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F8F825-027C-8089-AC7B-89EA062C7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79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1982E-0FA9-C371-2980-773309FC1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747075-BC91-CB48-261D-3F2AA37E74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5E86D8-18F7-812A-85DC-458D617BC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E3033-140A-B4C8-87FD-8932AF379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0F370-C06F-FFCE-58F1-7A5149FA1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76566-C6F1-D693-0F10-E9AEF0394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221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86F2-CCA8-9E8A-200A-341CC9BA2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F3053-EE75-ABB1-E0A2-55639A5414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4E7F5-B203-10CC-CB3C-7F18FD107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7CFAF-CC6B-6746-F8FE-388283D5E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94E20-1008-E61C-7FAD-94D616BBA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98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24C26A-B925-1DF1-3DD9-9551F6DE2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62019B-BDA0-1BFA-F4E5-41F93E2CA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A2221-91D9-EFE6-5EA2-A92F83330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7D1CE-249C-FA4D-14C8-E4051215B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0F923-E62F-245F-AF69-1AFDD92E0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9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5F5D18-534C-85C8-761D-E0527FE1E180}"/>
              </a:ext>
            </a:extLst>
          </p:cNvPr>
          <p:cNvSpPr txBox="1"/>
          <p:nvPr userDrawn="1"/>
        </p:nvSpPr>
        <p:spPr>
          <a:xfrm>
            <a:off x="-111407" y="4845879"/>
            <a:ext cx="2455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CA" b="1" i="0" dirty="0">
                <a:solidFill>
                  <a:srgbClr val="040053"/>
                </a:solidFill>
                <a:effectLst/>
              </a:rPr>
              <a:t>@AnnotateTech </a:t>
            </a:r>
            <a:r>
              <a:rPr lang="en-CA" b="1" i="0" dirty="0">
                <a:solidFill>
                  <a:srgbClr val="FF751F"/>
                </a:solidFill>
                <a:effectLst/>
              </a:rPr>
              <a:t>Claude</a:t>
            </a:r>
            <a:endParaRPr lang="en-CA" dirty="0">
              <a:effectLst/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BD48564E-05BF-32FD-9E94-FA1C1A0A07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7946"/>
            <a:ext cx="9144000" cy="513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479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505FA82D-CB5E-9AB7-9395-DEFC805C2AE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7946"/>
            <a:ext cx="9144000" cy="513555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0EF53C-D697-2C00-ADC9-9BB9256E2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035F9-E156-A203-C8A8-F23C780F3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CE358-E585-7C7E-4E6E-46267937F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387240-7F04-0846-ADC9-2D3C92CE7B81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8DB79-93ED-BA07-B6CE-B2D66D871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548CB-0803-4CC5-5323-FA201A09E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1A3BB5-BB98-5341-A0EB-683736946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03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 smtClean="0">
          <a:solidFill>
            <a:srgbClr val="7C2D0A"/>
          </a:solidFill>
          <a:latin typeface="Cambria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600" b="1" kern="1200" dirty="0" smtClean="0">
          <a:solidFill>
            <a:srgbClr val="7C2D0A"/>
          </a:solidFill>
          <a:latin typeface="Cambria" pitchFamily="34" charset="0"/>
          <a:ea typeface="+mj-ea"/>
          <a:cs typeface="+mj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B050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EB793D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file:///Users/ashujauhari/Data-2026/Client-2026/REVATURE-KPMG-OperationAnalyst/Week1-ExcelFoundation/Day1/OpsAnalyst_BusinessScenario.html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OpsAnalyst_BusinessScenario.html" TargetMode="Externa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5031" y="63610"/>
            <a:ext cx="9219031" cy="51776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7495" y="730302"/>
            <a:ext cx="7505082" cy="99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7C2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Ops Analyst – </a:t>
            </a:r>
            <a:r>
              <a:rPr lang="en-US" sz="4000" b="1" dirty="0">
                <a:solidFill>
                  <a:srgbClr val="7C2D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KPMG V4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411480" y="1572768"/>
            <a:ext cx="750508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62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Foundation</a:t>
            </a:r>
          </a:p>
        </p:txBody>
      </p:sp>
      <p:sp>
        <p:nvSpPr>
          <p:cNvPr id="9" name="Text 5"/>
          <p:cNvSpPr/>
          <p:nvPr/>
        </p:nvSpPr>
        <p:spPr>
          <a:xfrm>
            <a:off x="411480" y="35273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Week1</a:t>
            </a:r>
          </a:p>
        </p:txBody>
      </p:sp>
      <p:sp>
        <p:nvSpPr>
          <p:cNvPr id="13" name="Shape 9"/>
          <p:cNvSpPr/>
          <p:nvPr/>
        </p:nvSpPr>
        <p:spPr>
          <a:xfrm>
            <a:off x="61784" y="3869932"/>
            <a:ext cx="1470454" cy="331364"/>
          </a:xfrm>
          <a:prstGeom prst="roundRect">
            <a:avLst>
              <a:gd name="adj" fmla="val 13889"/>
            </a:avLst>
          </a:prstGeom>
          <a:solidFill>
            <a:srgbClr val="DCE6FF"/>
          </a:solidFill>
          <a:ln w="12700">
            <a:solidFill>
              <a:srgbClr val="F4A9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156105" y="3707438"/>
            <a:ext cx="137613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5BD9"/>
                </a:solidFill>
              </a:rPr>
              <a:t>Excel Foundation</a:t>
            </a:r>
            <a:endParaRPr lang="en-US" sz="130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D6F5D293-F476-1E4A-982F-084D080FDFCD}"/>
              </a:ext>
            </a:extLst>
          </p:cNvPr>
          <p:cNvSpPr/>
          <p:nvPr/>
        </p:nvSpPr>
        <p:spPr>
          <a:xfrm>
            <a:off x="1874520" y="3857784"/>
            <a:ext cx="1470454" cy="331364"/>
          </a:xfrm>
          <a:prstGeom prst="roundRect">
            <a:avLst>
              <a:gd name="adj" fmla="val 13889"/>
            </a:avLst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rgbClr val="F4A9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299BA745-6465-1C01-A32C-0E0B3699E021}"/>
              </a:ext>
            </a:extLst>
          </p:cNvPr>
          <p:cNvSpPr/>
          <p:nvPr/>
        </p:nvSpPr>
        <p:spPr>
          <a:xfrm>
            <a:off x="3733356" y="3857784"/>
            <a:ext cx="1470454" cy="331364"/>
          </a:xfrm>
          <a:prstGeom prst="roundRect">
            <a:avLst>
              <a:gd name="adj" fmla="val 13889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A96A"/>
            </a:solidFill>
            <a:prstDash val="solid"/>
          </a:ln>
        </p:spPr>
        <p:txBody>
          <a:bodyPr/>
          <a:lstStyle/>
          <a:p>
            <a:endParaRPr 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C4364B33-E997-0667-C6ED-53F5F65520DE}"/>
              </a:ext>
            </a:extLst>
          </p:cNvPr>
          <p:cNvSpPr/>
          <p:nvPr/>
        </p:nvSpPr>
        <p:spPr>
          <a:xfrm>
            <a:off x="5598338" y="3857784"/>
            <a:ext cx="1470454" cy="331364"/>
          </a:xfrm>
          <a:prstGeom prst="roundRect">
            <a:avLst>
              <a:gd name="adj" fmla="val 13889"/>
            </a:avLst>
          </a:prstGeom>
          <a:solidFill>
            <a:srgbClr val="D592FF"/>
          </a:solidFill>
          <a:ln w="12700">
            <a:solidFill>
              <a:srgbClr val="F4A9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39920618-DC5D-E20A-53E6-19836CFB2FE5}"/>
              </a:ext>
            </a:extLst>
          </p:cNvPr>
          <p:cNvSpPr/>
          <p:nvPr/>
        </p:nvSpPr>
        <p:spPr>
          <a:xfrm>
            <a:off x="7463320" y="3869932"/>
            <a:ext cx="1470454" cy="331364"/>
          </a:xfrm>
          <a:prstGeom prst="roundRect">
            <a:avLst>
              <a:gd name="adj" fmla="val 13889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F4A96A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235ABABF-7DC4-DDEE-0211-FA68F161C066}"/>
              </a:ext>
            </a:extLst>
          </p:cNvPr>
          <p:cNvSpPr/>
          <p:nvPr/>
        </p:nvSpPr>
        <p:spPr>
          <a:xfrm>
            <a:off x="1923123" y="3686840"/>
            <a:ext cx="137613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5BD9"/>
                </a:solidFill>
              </a:rPr>
              <a:t>Core </a:t>
            </a: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Formula</a:t>
            </a:r>
            <a:endParaRPr lang="en-US" sz="13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1CF77E89-A109-FE1B-0646-B5E989D91DE6}"/>
              </a:ext>
            </a:extLst>
          </p:cNvPr>
          <p:cNvSpPr/>
          <p:nvPr/>
        </p:nvSpPr>
        <p:spPr>
          <a:xfrm>
            <a:off x="3698379" y="3690956"/>
            <a:ext cx="137613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2">
                    <a:lumMod val="75000"/>
                  </a:schemeClr>
                </a:solidFill>
              </a:rPr>
              <a:t>Data Cleaning</a:t>
            </a:r>
            <a:endParaRPr lang="en-US" sz="13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B7011EA0-EFEB-E45D-DD70-EA6195BB119D}"/>
              </a:ext>
            </a:extLst>
          </p:cNvPr>
          <p:cNvSpPr/>
          <p:nvPr/>
        </p:nvSpPr>
        <p:spPr>
          <a:xfrm>
            <a:off x="5605443" y="3678596"/>
            <a:ext cx="137613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030A0"/>
                </a:solidFill>
              </a:rPr>
              <a:t>Retail Banking </a:t>
            </a:r>
            <a:endParaRPr lang="en-US" sz="1300" dirty="0">
              <a:solidFill>
                <a:srgbClr val="7030A0"/>
              </a:solidFill>
            </a:endParaRPr>
          </a:p>
        </p:txBody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BDC38CDF-E429-7D5B-F0EE-6521790ACD76}"/>
              </a:ext>
            </a:extLst>
          </p:cNvPr>
          <p:cNvSpPr/>
          <p:nvPr/>
        </p:nvSpPr>
        <p:spPr>
          <a:xfrm>
            <a:off x="7520743" y="3682714"/>
            <a:ext cx="137613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0000"/>
                </a:solidFill>
              </a:rPr>
              <a:t>Reinforcement Labs</a:t>
            </a:r>
            <a:endParaRPr lang="en-US" sz="13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C27A8DE-AD88-A81E-A628-601EAA560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568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CBD26EB-2AA7-1C67-1420-7E6F615BB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18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184235-E0D7-EC50-4551-302492898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717" y="0"/>
            <a:ext cx="746041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709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114B2E-373A-7059-D1A5-B63B88BB6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570" y="42040"/>
            <a:ext cx="9180243" cy="506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747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528FDB7-8EA9-0C9C-B67E-8FD50D4C4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24"/>
            <a:ext cx="7197213" cy="5135554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201A509B-D260-B158-CAA3-5D2EF75D3D75}"/>
              </a:ext>
            </a:extLst>
          </p:cNvPr>
          <p:cNvSpPr/>
          <p:nvPr/>
        </p:nvSpPr>
        <p:spPr>
          <a:xfrm>
            <a:off x="327495" y="650789"/>
            <a:ext cx="7505082" cy="99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7C2D0A"/>
                </a:solidFill>
                <a:latin typeface="Cambria" pitchFamily="34" charset="0"/>
              </a:rPr>
              <a:t>Excel Foundations </a:t>
            </a:r>
            <a:endParaRPr lang="en-US" sz="40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A707422B-A71A-3777-01B8-E9D830BAE84F}"/>
              </a:ext>
            </a:extLst>
          </p:cNvPr>
          <p:cNvSpPr/>
          <p:nvPr/>
        </p:nvSpPr>
        <p:spPr>
          <a:xfrm>
            <a:off x="411480" y="35273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Week1 - Day1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2F4F80-B307-745E-F424-EEAD8313B233}"/>
              </a:ext>
            </a:extLst>
          </p:cNvPr>
          <p:cNvSpPr txBox="1"/>
          <p:nvPr/>
        </p:nvSpPr>
        <p:spPr>
          <a:xfrm>
            <a:off x="411481" y="1645920"/>
            <a:ext cx="65890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Navigation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Worksheet Structure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Formatting Text(text, Date, Currency)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Sorting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Filtering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Freeze Pane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Structuring datasets into 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Shortcuts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Introduction to engagement trackers  ( Project/Client Level)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E1C135-3FD9-755C-B758-000C4929B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357" y="26799"/>
            <a:ext cx="1809643" cy="5114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683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0D2B3-4506-C182-D94A-CFB4E82B5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B16D7-FC9F-0216-B84F-322E834E3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2313964"/>
          </a:xfrm>
        </p:spPr>
        <p:txBody>
          <a:bodyPr>
            <a:normAutofit/>
          </a:bodyPr>
          <a:lstStyle/>
          <a:p>
            <a:r>
              <a:rPr lang="en-CA" sz="1800" b="0" dirty="0"/>
              <a:t>Understand how an Operations Analyst uses Excel to analyze, validate and report business data</a:t>
            </a:r>
          </a:p>
          <a:p>
            <a:r>
              <a:rPr lang="en-CA" sz="1800" b="0" dirty="0"/>
              <a:t>Navigate and work efficiently with operational datasets</a:t>
            </a:r>
          </a:p>
          <a:p>
            <a:r>
              <a:rPr lang="en-CA" sz="1800" b="0" dirty="0"/>
              <a:t>Make large transaction datasets easier to review and analyze</a:t>
            </a:r>
          </a:p>
          <a:p>
            <a:r>
              <a:rPr lang="en-CA" sz="1800" b="0" dirty="0"/>
              <a:t>Create an operational tracker for projects, clients or activities</a:t>
            </a:r>
          </a:p>
          <a:p>
            <a:endParaRPr lang="en-CA" sz="1800" b="0" dirty="0"/>
          </a:p>
          <a:p>
            <a:endParaRPr lang="en-US" sz="1800" b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66FA66-C031-27ED-320B-822C3CA84CBD}"/>
              </a:ext>
            </a:extLst>
          </p:cNvPr>
          <p:cNvSpPr txBox="1"/>
          <p:nvPr/>
        </p:nvSpPr>
        <p:spPr>
          <a:xfrm>
            <a:off x="228600" y="4502290"/>
            <a:ext cx="74013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800" dirty="0"/>
          </a:p>
          <a:p>
            <a:r>
              <a:rPr lang="en-US" sz="800" dirty="0"/>
              <a:t>/Users/</a:t>
            </a:r>
            <a:r>
              <a:rPr lang="en-US" sz="800" dirty="0" err="1"/>
              <a:t>ashujauhari</a:t>
            </a:r>
            <a:r>
              <a:rPr lang="en-US" sz="800" dirty="0"/>
              <a:t>/Data-2026/Client-2026/REVATURE-KPMG-</a:t>
            </a:r>
            <a:r>
              <a:rPr lang="en-US" sz="800" dirty="0" err="1"/>
              <a:t>OperationAnalyst</a:t>
            </a:r>
            <a:r>
              <a:rPr lang="en-US" sz="800" dirty="0"/>
              <a:t>/Week1-ExcelFoundation/Day1/</a:t>
            </a:r>
            <a:r>
              <a:rPr lang="en-US" sz="800" dirty="0" err="1"/>
              <a:t>OpsAnalyst_BusinessScenario.html</a:t>
            </a:r>
            <a:endParaRPr lang="en-US" sz="800" dirty="0"/>
          </a:p>
          <a:p>
            <a:r>
              <a:rPr lang="en-US" sz="800" dirty="0"/>
              <a:t>/Users/</a:t>
            </a:r>
            <a:r>
              <a:rPr lang="en-US" sz="800" dirty="0" err="1"/>
              <a:t>ashujauhari</a:t>
            </a:r>
            <a:r>
              <a:rPr lang="en-US" sz="800" dirty="0"/>
              <a:t>/Data-2026/Client-2026/REVATURE-KPMG-</a:t>
            </a:r>
            <a:r>
              <a:rPr lang="en-US" sz="800" dirty="0" err="1"/>
              <a:t>OperationAnalyst</a:t>
            </a:r>
            <a:r>
              <a:rPr lang="en-US" sz="800" dirty="0"/>
              <a:t>/Week1-ExcelFoundation/Day1/KPMG_W1_D1_Sorting_Lab_Manual.docx</a:t>
            </a:r>
          </a:p>
          <a:p>
            <a:r>
              <a:rPr lang="en-US" sz="800" dirty="0"/>
              <a:t>/Users/</a:t>
            </a:r>
            <a:r>
              <a:rPr lang="en-US" sz="800" dirty="0" err="1"/>
              <a:t>ashujauhari</a:t>
            </a:r>
            <a:r>
              <a:rPr lang="en-US" sz="800" dirty="0"/>
              <a:t>/Data-2026/Client-2026/REVATURE-KPMG-</a:t>
            </a:r>
            <a:r>
              <a:rPr lang="en-US" sz="800" dirty="0" err="1"/>
              <a:t>OperationAnalyst</a:t>
            </a:r>
            <a:r>
              <a:rPr lang="en-US" sz="800" dirty="0"/>
              <a:t>/Week1-ExcelFoundation/Day1/KPMG_W1_Day1_Lab_Formatting_LabManual.docx</a:t>
            </a:r>
          </a:p>
          <a:p>
            <a:r>
              <a:rPr lang="en-US" sz="800" dirty="0"/>
              <a:t>/Users/</a:t>
            </a:r>
            <a:r>
              <a:rPr lang="en-US" sz="800" dirty="0" err="1"/>
              <a:t>ashujauhari</a:t>
            </a:r>
            <a:r>
              <a:rPr lang="en-US" sz="800" dirty="0"/>
              <a:t>/Data-2026/Client-2026/REVATURE-KPMG-</a:t>
            </a:r>
            <a:r>
              <a:rPr lang="en-US" sz="800" dirty="0" err="1"/>
              <a:t>OperationAnalyst</a:t>
            </a:r>
            <a:r>
              <a:rPr lang="en-US" sz="800" dirty="0"/>
              <a:t>/Week1-ExcelFoundation/Day1/</a:t>
            </a:r>
            <a:r>
              <a:rPr lang="en-US" sz="800" dirty="0" err="1"/>
              <a:t>Excel_Shortcuts_WinMac.html</a:t>
            </a:r>
            <a:endParaRPr lang="en-US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610077-B1D5-DC37-B9DE-7C6C0F149829}"/>
              </a:ext>
            </a:extLst>
          </p:cNvPr>
          <p:cNvSpPr txBox="1"/>
          <p:nvPr/>
        </p:nvSpPr>
        <p:spPr>
          <a:xfrm>
            <a:off x="465364" y="4367893"/>
            <a:ext cx="25834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hlinkClick r:id="rId2"/>
              </a:rPr>
              <a:t>Operational_BusinessScenario.html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73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8E1C6F4-1457-672E-581C-E76CAEE8DB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8040"/>
            <a:ext cx="9144000" cy="5488292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C3D6D31A-BCDC-F146-018B-CF5C078881D1}"/>
              </a:ext>
            </a:extLst>
          </p:cNvPr>
          <p:cNvSpPr/>
          <p:nvPr/>
        </p:nvSpPr>
        <p:spPr>
          <a:xfrm>
            <a:off x="327495" y="316861"/>
            <a:ext cx="6869172" cy="525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00000"/>
                </a:solidFill>
              </a:rPr>
              <a:t>Role Overview – Operational Analyst</a:t>
            </a: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418306E7-B8A6-A67D-8598-04F256BF5D19}"/>
              </a:ext>
            </a:extLst>
          </p:cNvPr>
          <p:cNvSpPr/>
          <p:nvPr/>
        </p:nvSpPr>
        <p:spPr>
          <a:xfrm>
            <a:off x="411480" y="21023"/>
            <a:ext cx="5486400" cy="3375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Week1 - Day1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3AA20C-DA7E-CB76-8F7D-7C1063642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42685"/>
            <a:ext cx="5499564" cy="34460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A1633C-2E95-8EB6-8DAD-83C04FCD97F2}"/>
              </a:ext>
            </a:extLst>
          </p:cNvPr>
          <p:cNvSpPr txBox="1"/>
          <p:nvPr/>
        </p:nvSpPr>
        <p:spPr>
          <a:xfrm>
            <a:off x="5674178" y="120951"/>
            <a:ext cx="3356297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A" sz="1100" dirty="0"/>
          </a:p>
          <a:p>
            <a:r>
              <a:rPr lang="en-CA" sz="1100" dirty="0">
                <a:highlight>
                  <a:srgbClr val="EB793D"/>
                </a:highlight>
              </a:rPr>
              <a:t>James Holloway, </a:t>
            </a:r>
            <a:r>
              <a:rPr lang="en-CA" sz="1100" dirty="0"/>
              <a:t>Branch Operations Manager at Meridian National Bank's Chicago Downtown office, sits at his desk thirty minutes before the Monday morning review call. On his screen:</a:t>
            </a:r>
          </a:p>
          <a:p>
            <a:endParaRPr lang="en-CA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100" dirty="0"/>
              <a:t> a spreadsheet with 350 rows, each representing a real customer's </a:t>
            </a:r>
            <a:r>
              <a:rPr lang="en-CA" sz="1100" dirty="0">
                <a:highlight>
                  <a:srgbClr val="FFFF00"/>
                </a:highlight>
              </a:rPr>
              <a:t>unresolved case </a:t>
            </a:r>
            <a:r>
              <a:rPr lang="en-CA" sz="1100" dirty="0"/>
              <a:t>— a disputed ATM withdrawal,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100" dirty="0"/>
              <a:t>a stalled mortgage disbursement,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100" dirty="0"/>
              <a:t>a flagged identity verification,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100" dirty="0"/>
              <a:t> a credit card complaint already escalated once.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CA" sz="1100" dirty="0"/>
          </a:p>
          <a:p>
            <a:r>
              <a:rPr lang="en-CA" sz="1100" dirty="0"/>
              <a:t>His phone buzzes. The Regional Director wants to know which cases need action today. </a:t>
            </a:r>
          </a:p>
          <a:p>
            <a:r>
              <a:rPr lang="en-CA" sz="1100" dirty="0"/>
              <a:t>The </a:t>
            </a:r>
            <a:r>
              <a:rPr lang="en-CA" sz="1100" dirty="0">
                <a:highlight>
                  <a:srgbClr val="EB793D"/>
                </a:highlight>
              </a:rPr>
              <a:t>Compliance team </a:t>
            </a:r>
            <a:r>
              <a:rPr lang="en-CA" sz="1100" dirty="0"/>
              <a:t>flags a potential SLA audit.</a:t>
            </a:r>
          </a:p>
          <a:p>
            <a:endParaRPr lang="en-CA" sz="1100" dirty="0"/>
          </a:p>
          <a:p>
            <a:r>
              <a:rPr lang="en-CA" sz="1100" dirty="0"/>
              <a:t> A customer service lead mentions three customers who have called twice this week about the same open case.</a:t>
            </a:r>
          </a:p>
          <a:p>
            <a:r>
              <a:rPr lang="en-CA" sz="1100" dirty="0"/>
              <a:t>James scrolls the spreadsheet. He filters. He sorts. </a:t>
            </a:r>
          </a:p>
          <a:p>
            <a:endParaRPr lang="en-CA" sz="1100" dirty="0"/>
          </a:p>
          <a:p>
            <a:r>
              <a:rPr lang="en-CA" sz="1100" dirty="0"/>
              <a:t>He starts to compile a list — but the </a:t>
            </a:r>
            <a:r>
              <a:rPr lang="en-CA" sz="1100" dirty="0">
                <a:highlight>
                  <a:srgbClr val="FFFF00"/>
                </a:highlight>
              </a:rPr>
              <a:t>data is raw</a:t>
            </a:r>
            <a:r>
              <a:rPr lang="en-CA" sz="1100" dirty="0"/>
              <a:t>. </a:t>
            </a:r>
          </a:p>
          <a:p>
            <a:r>
              <a:rPr lang="en-CA" sz="1100" dirty="0">
                <a:highlight>
                  <a:srgbClr val="FFFF00"/>
                </a:highlight>
              </a:rPr>
              <a:t>Dates are unformatted. </a:t>
            </a:r>
            <a:r>
              <a:rPr lang="en-CA" sz="1100" dirty="0"/>
              <a:t>There are </a:t>
            </a:r>
            <a:r>
              <a:rPr lang="en-CA" sz="1100" dirty="0">
                <a:highlight>
                  <a:srgbClr val="FFFF00"/>
                </a:highlight>
              </a:rPr>
              <a:t>no clear flags </a:t>
            </a:r>
            <a:r>
              <a:rPr lang="en-CA" sz="1100" dirty="0"/>
              <a:t>for what is truly urgent versus merely pending. </a:t>
            </a:r>
          </a:p>
          <a:p>
            <a:r>
              <a:rPr lang="en-CA" sz="1100" dirty="0"/>
              <a:t>Without a trained eye, every row looks equally important, which means nothing actually is.</a:t>
            </a:r>
          </a:p>
          <a:p>
            <a:endParaRPr lang="en-CA" sz="1100" dirty="0"/>
          </a:p>
          <a:p>
            <a:r>
              <a:rPr lang="en-CA" sz="1100" dirty="0"/>
              <a:t>He picks up his phone and dials the Operations Analyst.</a:t>
            </a:r>
          </a:p>
          <a:p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F623406-8D8D-ABC4-AD65-7C0A0C0AC4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524" y="4335920"/>
            <a:ext cx="5272517" cy="117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135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0F4171-0088-D2B0-FE92-CFB14CBC9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3050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565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A53C9C-E90A-A9AE-B304-DD1FBA287C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2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57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9D08E-FFF1-4C0B-AFB0-3D97832B1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2616326" cy="5143500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Operational </a:t>
            </a:r>
            <a:br>
              <a:rPr lang="en-US" sz="3200" dirty="0"/>
            </a:br>
            <a:r>
              <a:rPr lang="en-US" sz="3200" dirty="0"/>
              <a:t>Analyst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95C4A4-31FF-6173-B8DE-2C405D85A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313" y="0"/>
            <a:ext cx="6331974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DFF748-23B7-5F1C-F65D-C5C95BAB27CF}"/>
              </a:ext>
            </a:extLst>
          </p:cNvPr>
          <p:cNvSpPr txBox="1"/>
          <p:nvPr/>
        </p:nvSpPr>
        <p:spPr>
          <a:xfrm>
            <a:off x="155121" y="4090307"/>
            <a:ext cx="21168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TAT : Turn Around Time</a:t>
            </a:r>
          </a:p>
          <a:p>
            <a:r>
              <a:rPr lang="en-US" sz="1200" dirty="0"/>
              <a:t>SLA:</a:t>
            </a:r>
            <a:r>
              <a:rPr lang="en-CA" sz="1200" dirty="0"/>
              <a:t>Service Level Agreement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489764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7C58A-B6FC-CE99-0BF9-0C443235C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5" y="87824"/>
            <a:ext cx="8809703" cy="993775"/>
          </a:xfrm>
        </p:spPr>
        <p:txBody>
          <a:bodyPr>
            <a:normAutofit/>
          </a:bodyPr>
          <a:lstStyle/>
          <a:p>
            <a:r>
              <a:rPr lang="en-US" sz="2800" dirty="0"/>
              <a:t>Where OA sit in Chain of Accountability?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B49110-66F8-3256-F3C7-762A85D7A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40" y="895516"/>
            <a:ext cx="7772400" cy="14253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578857-1C32-7CAE-E6A4-4A26C48365E8}"/>
              </a:ext>
            </a:extLst>
          </p:cNvPr>
          <p:cNvSpPr txBox="1"/>
          <p:nvPr/>
        </p:nvSpPr>
        <p:spPr>
          <a:xfrm>
            <a:off x="226143" y="2703871"/>
            <a:ext cx="87408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C00000"/>
                </a:solidFill>
              </a:rPr>
              <a:t>Without the analyst's output, every stakeholder above them is making</a:t>
            </a:r>
          </a:p>
          <a:p>
            <a:r>
              <a:rPr lang="en-CA" dirty="0">
                <a:solidFill>
                  <a:srgbClr val="C00000"/>
                </a:solidFill>
              </a:rPr>
              <a:t> decisions from intuition rather than evidence. </a:t>
            </a:r>
          </a:p>
          <a:p>
            <a:endParaRPr lang="en-CA" dirty="0">
              <a:solidFill>
                <a:srgbClr val="C00000"/>
              </a:solidFill>
            </a:endParaRPr>
          </a:p>
          <a:p>
            <a:r>
              <a:rPr lang="en-CA" dirty="0">
                <a:solidFill>
                  <a:srgbClr val="C00000"/>
                </a:solidFill>
              </a:rPr>
              <a:t>With it, each level of the organisation can act with precision —</a:t>
            </a:r>
          </a:p>
          <a:p>
            <a:r>
              <a:rPr lang="en-CA" dirty="0">
                <a:solidFill>
                  <a:srgbClr val="C00000"/>
                </a:solidFill>
              </a:rPr>
              <a:t> the manager knows </a:t>
            </a:r>
            <a:r>
              <a:rPr lang="en-CA" dirty="0">
                <a:solidFill>
                  <a:srgbClr val="C00000"/>
                </a:solidFill>
                <a:highlight>
                  <a:srgbClr val="EB793D"/>
                </a:highlight>
              </a:rPr>
              <a:t>which cases to escalate today</a:t>
            </a:r>
            <a:r>
              <a:rPr lang="en-CA" dirty="0">
                <a:solidFill>
                  <a:srgbClr val="C00000"/>
                </a:solidFill>
              </a:rPr>
              <a:t>, the regional director can </a:t>
            </a:r>
            <a:r>
              <a:rPr lang="en-CA" dirty="0">
                <a:solidFill>
                  <a:srgbClr val="C00000"/>
                </a:solidFill>
                <a:highlight>
                  <a:srgbClr val="EB793D"/>
                </a:highlight>
              </a:rPr>
              <a:t>spot </a:t>
            </a:r>
          </a:p>
          <a:p>
            <a:r>
              <a:rPr lang="en-CA" dirty="0">
                <a:solidFill>
                  <a:srgbClr val="C00000"/>
                </a:solidFill>
                <a:highlight>
                  <a:srgbClr val="EB793D"/>
                </a:highlight>
              </a:rPr>
              <a:t>systemic branch-level failures</a:t>
            </a:r>
            <a:r>
              <a:rPr lang="en-CA" dirty="0">
                <a:solidFill>
                  <a:srgbClr val="C00000"/>
                </a:solidFill>
              </a:rPr>
              <a:t>, and the </a:t>
            </a:r>
            <a:r>
              <a:rPr lang="en-CA" dirty="0">
                <a:solidFill>
                  <a:srgbClr val="C00000"/>
                </a:solidFill>
                <a:highlight>
                  <a:srgbClr val="EB793D"/>
                </a:highlight>
              </a:rPr>
              <a:t>compliance team has a defensible audit trail</a:t>
            </a:r>
            <a:r>
              <a:rPr lang="en-CA" dirty="0">
                <a:solidFill>
                  <a:srgbClr val="C00000"/>
                </a:solidFill>
              </a:rPr>
              <a:t>.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912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CD4162-87D7-B6C6-421C-BA94AC65B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938" y="0"/>
            <a:ext cx="660727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51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04239-82EE-26DF-7F45-A58608C15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496"/>
            <a:ext cx="7886700" cy="502110"/>
          </a:xfrm>
        </p:spPr>
        <p:txBody>
          <a:bodyPr>
            <a:normAutofit fontScale="90000"/>
          </a:bodyPr>
          <a:lstStyle/>
          <a:p>
            <a:r>
              <a:rPr lang="en-US" dirty="0"/>
              <a:t>Why this role is Irreplaceable?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CE5A1-B6CF-C8EF-4F51-168BB7215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737419"/>
            <a:ext cx="7886700" cy="3894906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FC0053-B534-5085-0A9E-68377D5A4A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5" y="576975"/>
            <a:ext cx="9048135" cy="451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459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EDA1-FA7C-3286-F058-A96A87D68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EB28A-2103-30FA-9EEB-FE7CE5DD5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C7D969-D05A-2ADE-D1B3-68E7E67AD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448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839678-4A30-8EF1-98F0-E2273989D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61" y="984738"/>
            <a:ext cx="8463678" cy="272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82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4CAC6-624B-060C-10EA-9EF1797F0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B368D-7FF4-9F5F-AA94-C90C4C478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hlinkClick r:id="rId2"/>
              </a:rPr>
              <a:t>Role of Operational Analyst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83130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9F9FC-65E3-CD96-50C2-BBA1284F1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8" y="274638"/>
            <a:ext cx="8043402" cy="993775"/>
          </a:xfrm>
        </p:spPr>
        <p:txBody>
          <a:bodyPr/>
          <a:lstStyle/>
          <a:p>
            <a:r>
              <a:rPr lang="en-US" dirty="0"/>
              <a:t>Excel Navigation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023E5-C19E-6E6D-2765-6D411A3CA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8" y="1179870"/>
            <a:ext cx="3325352" cy="36889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0" dirty="0"/>
              <a:t>1. Anatomy of Excel window</a:t>
            </a:r>
          </a:p>
          <a:p>
            <a:pPr marL="0" indent="0">
              <a:buNone/>
            </a:pPr>
            <a:r>
              <a:rPr lang="en-CA" sz="1400" b="0" dirty="0"/>
              <a:t>2. Moving Around the Grid Using the Keyboard</a:t>
            </a:r>
            <a:endParaRPr lang="en-US" sz="1400" b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7AB4F2-E14C-4226-7684-4145062FD3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298846"/>
              </p:ext>
            </p:extLst>
          </p:nvPr>
        </p:nvGraphicFramePr>
        <p:xfrm>
          <a:off x="3657598" y="1077797"/>
          <a:ext cx="5127813" cy="2705628"/>
        </p:xfrm>
        <a:graphic>
          <a:graphicData uri="http://schemas.openxmlformats.org/drawingml/2006/table">
            <a:tbl>
              <a:tblPr/>
              <a:tblGrid>
                <a:gridCol w="1709271">
                  <a:extLst>
                    <a:ext uri="{9D8B030D-6E8A-4147-A177-3AD203B41FA5}">
                      <a16:colId xmlns:a16="http://schemas.microsoft.com/office/drawing/2014/main" val="2370437382"/>
                    </a:ext>
                  </a:extLst>
                </a:gridCol>
                <a:gridCol w="1709271">
                  <a:extLst>
                    <a:ext uri="{9D8B030D-6E8A-4147-A177-3AD203B41FA5}">
                      <a16:colId xmlns:a16="http://schemas.microsoft.com/office/drawing/2014/main" val="3766260594"/>
                    </a:ext>
                  </a:extLst>
                </a:gridCol>
                <a:gridCol w="1709271">
                  <a:extLst>
                    <a:ext uri="{9D8B030D-6E8A-4147-A177-3AD203B41FA5}">
                      <a16:colId xmlns:a16="http://schemas.microsoft.com/office/drawing/2014/main" val="3509717516"/>
                    </a:ext>
                  </a:extLst>
                </a:gridCol>
              </a:tblGrid>
              <a:tr h="2999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b="1"/>
                        <a:t>Action</a:t>
                      </a:r>
                      <a:endParaRPr lang="en-CA" sz="1400"/>
                    </a:p>
                  </a:txBody>
                  <a:tcPr marL="50189" marR="50189" marT="25095" marB="25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b="1"/>
                        <a:t>Windows Excel</a:t>
                      </a:r>
                      <a:endParaRPr lang="en-CA" sz="1400"/>
                    </a:p>
                  </a:txBody>
                  <a:tcPr marL="50189" marR="50189" marT="25095" marB="25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b="1" dirty="0"/>
                        <a:t>Mac Excel</a:t>
                      </a:r>
                      <a:endParaRPr lang="en-CA" sz="1400" dirty="0"/>
                    </a:p>
                  </a:txBody>
                  <a:tcPr marL="50189" marR="50189" marT="25095" marB="25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771689"/>
                  </a:ext>
                </a:extLst>
              </a:tr>
              <a:tr h="5775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 b="1"/>
                        <a:t>Basic Movement</a:t>
                      </a:r>
                      <a:endParaRPr lang="en-CA" sz="1000"/>
                    </a:p>
                  </a:txBody>
                  <a:tcPr marL="50189" marR="50189" marT="25095" marB="25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Press an </a:t>
                      </a:r>
                      <a:r>
                        <a:rPr lang="en-CA" sz="1000" b="1"/>
                        <a:t>Arrow Key</a:t>
                      </a:r>
                      <a:r>
                        <a:rPr lang="en-CA" sz="1000"/>
                        <a:t> to move one cell in the selected direction.</a:t>
                      </a:r>
                    </a:p>
                  </a:txBody>
                  <a:tcPr marL="50189" marR="50189" marT="25095" marB="25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Press an </a:t>
                      </a:r>
                      <a:r>
                        <a:rPr lang="en-CA" sz="1000" b="1"/>
                        <a:t>Arrow Key</a:t>
                      </a:r>
                      <a:r>
                        <a:rPr lang="en-CA" sz="1000"/>
                        <a:t> to move one cell in the selected direction.</a:t>
                      </a:r>
                    </a:p>
                  </a:txBody>
                  <a:tcPr marL="50189" marR="50189" marT="25095" marB="25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616985"/>
                  </a:ext>
                </a:extLst>
              </a:tr>
              <a:tr h="914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 b="1"/>
                        <a:t>Jump to Edge of Data</a:t>
                      </a:r>
                      <a:endParaRPr lang="en-CA" sz="1000"/>
                    </a:p>
                  </a:txBody>
                  <a:tcPr marL="50189" marR="50189" marT="25095" marB="25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Press </a:t>
                      </a:r>
                      <a:r>
                        <a:rPr lang="en-CA" sz="1000" b="1"/>
                        <a:t>Ctrl + ↑ / ↓ / ← / →</a:t>
                      </a:r>
                      <a:r>
                        <a:rPr lang="en-CA" sz="1000"/>
                        <a:t> to jump to the </a:t>
                      </a:r>
                      <a:r>
                        <a:rPr lang="en-CA" sz="1000" b="1"/>
                        <a:t>edge of the current data region</a:t>
                      </a:r>
                      <a:r>
                        <a:rPr lang="en-CA" sz="1000"/>
                        <a:t> in that direction.</a:t>
                      </a:r>
                    </a:p>
                  </a:txBody>
                  <a:tcPr marL="50189" marR="50189" marT="25095" marB="25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Press </a:t>
                      </a:r>
                      <a:r>
                        <a:rPr lang="en-CA" sz="1000" b="1"/>
                        <a:t>Command (⌘) + ↑ / ↓ / ← / →</a:t>
                      </a:r>
                      <a:r>
                        <a:rPr lang="en-CA" sz="1000"/>
                        <a:t> to jump to the </a:t>
                      </a:r>
                      <a:r>
                        <a:rPr lang="en-CA" sz="1000" b="1"/>
                        <a:t>edge of the current data region</a:t>
                      </a:r>
                      <a:r>
                        <a:rPr lang="en-CA" sz="1000"/>
                        <a:t> in that direction.</a:t>
                      </a:r>
                    </a:p>
                  </a:txBody>
                  <a:tcPr marL="50189" marR="50189" marT="25095" marB="25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0248058"/>
                  </a:ext>
                </a:extLst>
              </a:tr>
              <a:tr h="9140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 b="1" dirty="0"/>
                        <a:t>Go to Start of Worksheet (A1)</a:t>
                      </a:r>
                      <a:endParaRPr lang="en-CA" sz="1000" dirty="0"/>
                    </a:p>
                  </a:txBody>
                  <a:tcPr marL="50189" marR="50189" marT="25095" marB="25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 dirty="0"/>
                        <a:t>Press </a:t>
                      </a:r>
                      <a:r>
                        <a:rPr lang="en-CA" sz="1000" b="1" dirty="0"/>
                        <a:t>Ctrl + Home</a:t>
                      </a:r>
                      <a:r>
                        <a:rPr lang="en-CA" sz="1000" dirty="0"/>
                        <a:t> to go directly to </a:t>
                      </a:r>
                      <a:r>
                        <a:rPr lang="en-CA" sz="1000" b="1" dirty="0"/>
                        <a:t>A1</a:t>
                      </a:r>
                      <a:r>
                        <a:rPr lang="en-CA" sz="1000" dirty="0"/>
                        <a:t>.</a:t>
                      </a:r>
                    </a:p>
                  </a:txBody>
                  <a:tcPr marL="50189" marR="50189" marT="25095" marB="25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 dirty="0"/>
                        <a:t>Press </a:t>
                      </a:r>
                      <a:r>
                        <a:rPr lang="en-CA" sz="1000" b="1" dirty="0"/>
                        <a:t>Control + Home</a:t>
                      </a:r>
                      <a:r>
                        <a:rPr lang="en-CA" sz="1000" dirty="0"/>
                        <a:t> to go directly to </a:t>
                      </a:r>
                      <a:r>
                        <a:rPr lang="en-CA" sz="1000" b="1" dirty="0"/>
                        <a:t>A1</a:t>
                      </a:r>
                      <a:r>
                        <a:rPr lang="en-CA" sz="1000" dirty="0"/>
                        <a:t>. On some Mac keyboards, you may need </a:t>
                      </a:r>
                      <a:r>
                        <a:rPr lang="en-CA" sz="1000" b="1" dirty="0" err="1"/>
                        <a:t>Fn</a:t>
                      </a:r>
                      <a:r>
                        <a:rPr lang="en-CA" sz="1000" b="1" dirty="0"/>
                        <a:t> + Control + Left Arrow</a:t>
                      </a:r>
                      <a:r>
                        <a:rPr lang="en-CA" sz="1000" dirty="0"/>
                        <a:t>.</a:t>
                      </a:r>
                    </a:p>
                  </a:txBody>
                  <a:tcPr marL="50189" marR="50189" marT="25095" marB="250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045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6885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5AB4A-9E3C-B43E-A0D2-2E5AA67E8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097B6-4D01-10CF-1950-1BCE8FA81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8" y="274638"/>
            <a:ext cx="8043402" cy="993775"/>
          </a:xfrm>
        </p:spPr>
        <p:txBody>
          <a:bodyPr/>
          <a:lstStyle/>
          <a:p>
            <a:r>
              <a:rPr lang="en-US" dirty="0"/>
              <a:t>Excel Navigation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D2049-5420-E1E6-9669-466C7DD71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8" y="1179870"/>
            <a:ext cx="8043402" cy="36889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/>
              <a:t>3. Selecting and Highlighting Large Data Ranges</a:t>
            </a:r>
          </a:p>
          <a:p>
            <a:pPr lvl="1"/>
            <a:r>
              <a:rPr lang="en-CA" sz="1800" b="1" dirty="0">
                <a:solidFill>
                  <a:srgbClr val="EB793D"/>
                </a:solidFill>
              </a:rPr>
              <a:t>To analyze data or build pivot tables, you need to select blocks of cells quickly:</a:t>
            </a:r>
          </a:p>
          <a:p>
            <a:pPr lvl="1"/>
            <a:r>
              <a:rPr lang="en-CA" sz="1800" b="1" dirty="0"/>
              <a:t>Select to the Edge</a:t>
            </a:r>
            <a:r>
              <a:rPr lang="en-CA" sz="1800" b="1" dirty="0">
                <a:solidFill>
                  <a:srgbClr val="EB793D"/>
                </a:solidFill>
              </a:rPr>
              <a:t>: Hold </a:t>
            </a:r>
            <a:r>
              <a:rPr lang="en-CA" sz="1800" b="1" dirty="0">
                <a:solidFill>
                  <a:srgbClr val="EB793D"/>
                </a:solidFill>
                <a:highlight>
                  <a:srgbClr val="FFFF00"/>
                </a:highlight>
              </a:rPr>
              <a:t> Shift + Arrow</a:t>
            </a:r>
            <a:r>
              <a:rPr lang="en-CA" sz="1800" b="1" dirty="0">
                <a:solidFill>
                  <a:srgbClr val="EB793D"/>
                </a:solidFill>
              </a:rPr>
              <a:t> Key to highlight everything from your current cell to the last populated cell in that direction.</a:t>
            </a:r>
          </a:p>
          <a:p>
            <a:pPr lvl="1"/>
            <a:endParaRPr lang="en-CA" sz="1800" b="1" dirty="0">
              <a:solidFill>
                <a:srgbClr val="EB793D"/>
              </a:solidFill>
            </a:endParaRPr>
          </a:p>
          <a:p>
            <a:pPr lvl="1"/>
            <a:r>
              <a:rPr lang="en-CA" sz="1800" b="1" dirty="0"/>
              <a:t>Select Entire Worksheet</a:t>
            </a:r>
            <a:r>
              <a:rPr lang="en-CA" sz="1800" b="1" dirty="0">
                <a:solidFill>
                  <a:srgbClr val="EB793D"/>
                </a:solidFill>
              </a:rPr>
              <a:t>: Click the triangle corner button where the row numbers and column letters meet (top-left of the grid) or press </a:t>
            </a:r>
            <a:r>
              <a:rPr lang="en-CA" sz="1800" b="1" dirty="0">
                <a:solidFill>
                  <a:srgbClr val="EB793D"/>
                </a:solidFill>
                <a:highlight>
                  <a:srgbClr val="FFFF00"/>
                </a:highlight>
              </a:rPr>
              <a:t>Ctrl + A.</a:t>
            </a:r>
          </a:p>
          <a:p>
            <a:pPr lvl="1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659763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92300-DB07-A72D-D8C2-8C933E5A0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1CA0F-500D-12BD-8B23-392145105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8" y="274638"/>
            <a:ext cx="8043402" cy="993775"/>
          </a:xfrm>
        </p:spPr>
        <p:txBody>
          <a:bodyPr/>
          <a:lstStyle/>
          <a:p>
            <a:r>
              <a:rPr lang="en-US" dirty="0"/>
              <a:t>Excel Navigation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6755D-0C10-A1BD-928B-63C888C43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8" y="1179870"/>
            <a:ext cx="8043402" cy="36889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/>
              <a:t>3. Managing Worksheets</a:t>
            </a:r>
          </a:p>
          <a:p>
            <a:pPr lvl="1"/>
            <a:r>
              <a:rPr lang="en-CA" sz="1800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Operational reports often require multiple tabs to separate different data categories (e.g., exceptions, successful transactions, and summaries)</a:t>
            </a:r>
          </a:p>
          <a:p>
            <a:pPr lvl="1"/>
            <a:endParaRPr lang="en-CA" sz="1800" dirty="0">
              <a:solidFill>
                <a:srgbClr val="00B050"/>
              </a:solidFill>
              <a:latin typeface="+mn-lt"/>
              <a:ea typeface="+mn-ea"/>
              <a:cs typeface="+mn-cs"/>
            </a:endParaRPr>
          </a:p>
          <a:p>
            <a:pPr lvl="1"/>
            <a:r>
              <a:rPr lang="en-CA" sz="1800" b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Switching Sheets: </a:t>
            </a:r>
            <a:r>
              <a:rPr lang="en-CA" sz="1800" b="1" dirty="0">
                <a:solidFill>
                  <a:srgbClr val="EB793D"/>
                </a:solidFill>
                <a:latin typeface="+mn-lt"/>
                <a:ea typeface="+mn-ea"/>
                <a:cs typeface="+mn-cs"/>
              </a:rPr>
              <a:t>Press </a:t>
            </a:r>
            <a:r>
              <a:rPr lang="en-CA" sz="1800" b="1" dirty="0">
                <a:solidFill>
                  <a:srgbClr val="EB793D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Ctrl + Page </a:t>
            </a:r>
            <a:r>
              <a:rPr lang="en-CA" sz="1800" b="1" dirty="0">
                <a:solidFill>
                  <a:srgbClr val="EB793D"/>
                </a:solidFill>
                <a:latin typeface="+mn-lt"/>
                <a:ea typeface="+mn-ea"/>
                <a:cs typeface="+mn-cs"/>
              </a:rPr>
              <a:t>Down to move to the next sheet tab on the right, or </a:t>
            </a:r>
            <a:r>
              <a:rPr lang="en-CA" sz="1800" b="1" dirty="0">
                <a:solidFill>
                  <a:srgbClr val="EB793D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rPr>
              <a:t>Ctrl + Page Up </a:t>
            </a:r>
            <a:r>
              <a:rPr lang="en-CA" sz="1800" b="1" dirty="0">
                <a:solidFill>
                  <a:srgbClr val="EB793D"/>
                </a:solidFill>
                <a:latin typeface="+mn-lt"/>
                <a:ea typeface="+mn-ea"/>
                <a:cs typeface="+mn-cs"/>
              </a:rPr>
              <a:t>to move to the previous sheet tab on the left.</a:t>
            </a:r>
          </a:p>
          <a:p>
            <a:pPr lvl="1"/>
            <a:r>
              <a:rPr lang="en-CA" sz="1800" b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Adding a New Sheet</a:t>
            </a:r>
            <a:r>
              <a:rPr lang="en-CA" sz="1800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CA" sz="1800" b="1" dirty="0">
                <a:solidFill>
                  <a:srgbClr val="EB793D"/>
                </a:solidFill>
                <a:highlight>
                  <a:srgbClr val="FFFF00"/>
                </a:highlight>
              </a:rPr>
              <a:t>Click the + icon </a:t>
            </a:r>
            <a:r>
              <a:rPr lang="en-CA" sz="1800" b="1" dirty="0">
                <a:solidFill>
                  <a:srgbClr val="EB793D"/>
                </a:solidFill>
              </a:rPr>
              <a:t>next to your active sheet tabs at the bottom,  or press </a:t>
            </a:r>
            <a:r>
              <a:rPr lang="en-CA" sz="1800" b="1" dirty="0">
                <a:solidFill>
                  <a:srgbClr val="EB793D"/>
                </a:solidFill>
                <a:highlight>
                  <a:srgbClr val="FFFF00"/>
                </a:highlight>
              </a:rPr>
              <a:t>Shift + F11</a:t>
            </a:r>
            <a:r>
              <a:rPr lang="en-CA" sz="1800" dirty="0">
                <a:highlight>
                  <a:srgbClr val="FFFF00"/>
                </a:highlight>
              </a:rPr>
              <a:t>.</a:t>
            </a:r>
          </a:p>
          <a:p>
            <a:pPr lvl="1"/>
            <a:r>
              <a:rPr lang="en-CA" sz="1800" b="1" dirty="0"/>
              <a:t>Renaming a sheet</a:t>
            </a:r>
          </a:p>
          <a:p>
            <a:pPr lvl="1"/>
            <a:r>
              <a:rPr lang="en-CA" sz="1800" b="1" dirty="0"/>
              <a:t>Moving sheet</a:t>
            </a:r>
          </a:p>
          <a:p>
            <a:pPr lvl="1"/>
            <a:endParaRPr lang="en-CA" sz="1800" b="1" dirty="0"/>
          </a:p>
          <a:p>
            <a:pPr marL="457200" lvl="1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87253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18E7E-C6B6-AB18-ED13-60AC5EC3F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Excel Cell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6F342-591C-329A-BC81-E9706E5D8F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514" y="817685"/>
            <a:ext cx="6890657" cy="3814640"/>
          </a:xfrm>
        </p:spPr>
        <p:txBody>
          <a:bodyPr>
            <a:normAutofit/>
          </a:bodyPr>
          <a:lstStyle/>
          <a:p>
            <a:r>
              <a:rPr lang="en-CA" sz="1800" b="0" dirty="0"/>
              <a:t>References are used </a:t>
            </a:r>
            <a:r>
              <a:rPr lang="en-CA" sz="1800" b="0" dirty="0">
                <a:highlight>
                  <a:srgbClr val="EB793D"/>
                </a:highlight>
              </a:rPr>
              <a:t>in formulas to do calculations</a:t>
            </a:r>
            <a:r>
              <a:rPr lang="en-CA" sz="1800" b="0" dirty="0"/>
              <a:t>, and the fill function can be used to </a:t>
            </a:r>
            <a:r>
              <a:rPr lang="en-CA" sz="1800" b="0" dirty="0">
                <a:highlight>
                  <a:srgbClr val="EB793D"/>
                </a:highlight>
              </a:rPr>
              <a:t>continue formulas sidewards, downwards and upwards.</a:t>
            </a:r>
          </a:p>
          <a:p>
            <a:r>
              <a:rPr lang="en-CA" sz="1800" b="0" dirty="0"/>
              <a:t>Excel has two types of references:</a:t>
            </a:r>
          </a:p>
          <a:p>
            <a:pPr lvl="2"/>
            <a:r>
              <a:rPr lang="en-CA" sz="1800" b="0" dirty="0"/>
              <a:t>Relative references</a:t>
            </a:r>
          </a:p>
          <a:p>
            <a:pPr lvl="2"/>
            <a:r>
              <a:rPr lang="en-CA" sz="1800" b="0" dirty="0"/>
              <a:t>Absolute references</a:t>
            </a:r>
          </a:p>
          <a:p>
            <a:r>
              <a:rPr lang="en-CA" sz="1800" b="0" dirty="0"/>
              <a:t>The dollar sign ($) is used to make references absolute.</a:t>
            </a:r>
          </a:p>
          <a:p>
            <a:pPr lvl="2"/>
            <a:r>
              <a:rPr lang="en-CA" sz="1800" b="0" dirty="0"/>
              <a:t>Example of relative reference: A1</a:t>
            </a:r>
          </a:p>
          <a:p>
            <a:pPr lvl="2"/>
            <a:r>
              <a:rPr lang="en-CA" sz="1800" b="0" dirty="0"/>
              <a:t>Example of absolute reference: $A$1</a:t>
            </a:r>
          </a:p>
          <a:p>
            <a:endParaRPr lang="en-US" sz="1800" dirty="0">
              <a:highlight>
                <a:srgbClr val="EB793D"/>
              </a:highligh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0F8C3B-9353-8F14-E56D-2428144D8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965" y="1475244"/>
            <a:ext cx="2446563" cy="9893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4EE7F9-10E8-AFEE-A38E-B259B79DF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217" y="3554030"/>
            <a:ext cx="2613319" cy="144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27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EEFC5-C023-31C1-9DA1-20FC84660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Excel Arithmetic Calculation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6EBE-D23A-9F26-2C5E-76BBAAE81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Arithmetic calculation</a:t>
            </a:r>
          </a:p>
          <a:p>
            <a:pPr lvl="1"/>
            <a:r>
              <a:rPr lang="en-US" dirty="0"/>
              <a:t>+ ,-, *,/</a:t>
            </a:r>
          </a:p>
        </p:txBody>
      </p:sp>
    </p:spTree>
    <p:extLst>
      <p:ext uri="{BB962C8B-B14F-4D97-AF65-F5344CB8AC3E}">
        <p14:creationId xmlns:p14="http://schemas.microsoft.com/office/powerpoint/2010/main" val="2946148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562EE-A423-550B-FCC2-8DAB5524D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45477-0259-E24C-E430-E4A8A5D59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8" y="274638"/>
            <a:ext cx="8043402" cy="993775"/>
          </a:xfrm>
        </p:spPr>
        <p:txBody>
          <a:bodyPr/>
          <a:lstStyle/>
          <a:p>
            <a:r>
              <a:rPr lang="en-US" dirty="0"/>
              <a:t>Excel Formatting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A8691-3DA8-A86C-B53B-A8DBEC3FE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8" y="1179870"/>
            <a:ext cx="2359742" cy="3688991"/>
          </a:xfrm>
        </p:spPr>
        <p:txBody>
          <a:bodyPr>
            <a:normAutofit/>
          </a:bodyPr>
          <a:lstStyle/>
          <a:p>
            <a:r>
              <a:rPr lang="en-CA" sz="2400" dirty="0"/>
              <a:t>Text</a:t>
            </a:r>
          </a:p>
          <a:p>
            <a:pPr lvl="1"/>
            <a:r>
              <a:rPr lang="en-CA" sz="1200" dirty="0"/>
              <a:t>Select Row Header</a:t>
            </a:r>
          </a:p>
          <a:p>
            <a:pPr lvl="1"/>
            <a:r>
              <a:rPr lang="en-CA" sz="1200" dirty="0"/>
              <a:t>Set Font , Size, Color</a:t>
            </a:r>
          </a:p>
          <a:p>
            <a:pPr lvl="1"/>
            <a:r>
              <a:rPr lang="en-CA" sz="1200" dirty="0"/>
              <a:t>Set Column width</a:t>
            </a:r>
          </a:p>
          <a:p>
            <a:pPr lvl="1"/>
            <a:r>
              <a:rPr lang="en-CA" sz="1200" dirty="0"/>
              <a:t>Freeze Pane</a:t>
            </a:r>
          </a:p>
          <a:p>
            <a:pPr lvl="1"/>
            <a:r>
              <a:rPr lang="en-CA" sz="1200" dirty="0"/>
              <a:t>Left Align</a:t>
            </a:r>
          </a:p>
          <a:p>
            <a:pPr lvl="1"/>
            <a:r>
              <a:rPr lang="en-CA" sz="1200" dirty="0"/>
              <a:t>Right Align</a:t>
            </a:r>
          </a:p>
          <a:p>
            <a:pPr lvl="1"/>
            <a:endParaRPr lang="en-CA" sz="1200" dirty="0"/>
          </a:p>
          <a:p>
            <a:pPr lvl="1"/>
            <a:endParaRPr lang="en-CA" sz="1600" dirty="0"/>
          </a:p>
          <a:p>
            <a:pPr lvl="1"/>
            <a:endParaRPr lang="en-US" sz="1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58E3C0-1115-F082-E394-A8DFD01B7115}"/>
              </a:ext>
            </a:extLst>
          </p:cNvPr>
          <p:cNvSpPr txBox="1">
            <a:spLocks/>
          </p:cNvSpPr>
          <p:nvPr/>
        </p:nvSpPr>
        <p:spPr>
          <a:xfrm>
            <a:off x="2914302" y="1125792"/>
            <a:ext cx="2895596" cy="3688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600" b="1" kern="1200" dirty="0" smtClean="0">
                <a:solidFill>
                  <a:srgbClr val="7C2D0A"/>
                </a:solidFill>
                <a:latin typeface="Cambria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EB793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400" dirty="0"/>
              <a:t>Date</a:t>
            </a:r>
          </a:p>
          <a:p>
            <a:pPr lvl="1"/>
            <a:r>
              <a:rPr lang="en-CA" sz="1200" dirty="0"/>
              <a:t>Identify the Date formats</a:t>
            </a:r>
          </a:p>
          <a:p>
            <a:pPr lvl="2"/>
            <a:r>
              <a:rPr lang="en-CA" sz="1100" dirty="0"/>
              <a:t>Date as text – Left Align</a:t>
            </a:r>
          </a:p>
          <a:p>
            <a:pPr lvl="1"/>
            <a:r>
              <a:rPr lang="en-CA" sz="1200" dirty="0"/>
              <a:t>Test Date or Not</a:t>
            </a:r>
          </a:p>
          <a:p>
            <a:pPr lvl="1"/>
            <a:r>
              <a:rPr lang="en-CA" sz="1200" dirty="0"/>
              <a:t>Convert Text Dates to Real Dates </a:t>
            </a:r>
          </a:p>
          <a:p>
            <a:pPr lvl="1"/>
            <a:r>
              <a:rPr lang="en-CA" sz="1200" dirty="0"/>
              <a:t>Data -&gt;text to column</a:t>
            </a:r>
          </a:p>
          <a:p>
            <a:pPr lvl="1"/>
            <a:r>
              <a:rPr lang="en-CA" sz="1200" dirty="0"/>
              <a:t>Fix manually</a:t>
            </a:r>
          </a:p>
          <a:p>
            <a:pPr lvl="1"/>
            <a:r>
              <a:rPr lang="en-CA" sz="1200" dirty="0"/>
              <a:t>=DATE(YEAR(D2),MONTH(D2),DAY(D2))</a:t>
            </a:r>
          </a:p>
          <a:p>
            <a:pPr lvl="1"/>
            <a:r>
              <a:rPr lang="en-CA" sz="1200" dirty="0"/>
              <a:t>Apply unified Date format</a:t>
            </a:r>
          </a:p>
          <a:p>
            <a:pPr lvl="1"/>
            <a:endParaRPr lang="en-CA" sz="1200" dirty="0"/>
          </a:p>
          <a:p>
            <a:pPr lvl="1"/>
            <a:endParaRPr lang="en-CA" sz="1200" dirty="0"/>
          </a:p>
          <a:p>
            <a:pPr lvl="1"/>
            <a:endParaRPr lang="en-CA" sz="1600" dirty="0"/>
          </a:p>
          <a:p>
            <a:pPr lvl="1"/>
            <a:endParaRPr lang="en-US" sz="1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7C7DF62-8E09-E66B-79D1-AAF769FAD575}"/>
              </a:ext>
            </a:extLst>
          </p:cNvPr>
          <p:cNvSpPr txBox="1">
            <a:spLocks/>
          </p:cNvSpPr>
          <p:nvPr/>
        </p:nvSpPr>
        <p:spPr>
          <a:xfrm>
            <a:off x="6009715" y="1140535"/>
            <a:ext cx="2895596" cy="3688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3600" b="1" kern="1200" dirty="0" smtClean="0">
                <a:solidFill>
                  <a:srgbClr val="7C2D0A"/>
                </a:solidFill>
                <a:latin typeface="Cambria" pitchFamily="34" charset="0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00B05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EB793D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2400" dirty="0"/>
              <a:t>Currency</a:t>
            </a:r>
          </a:p>
          <a:p>
            <a:pPr lvl="1"/>
            <a:r>
              <a:rPr lang="en-CA" sz="1200" dirty="0"/>
              <a:t>Observe Amount </a:t>
            </a:r>
          </a:p>
          <a:p>
            <a:pPr lvl="1"/>
            <a:r>
              <a:rPr lang="en-CA" sz="1200" dirty="0"/>
              <a:t>Number tab → Currency</a:t>
            </a:r>
          </a:p>
          <a:p>
            <a:pPr lvl="1"/>
            <a:r>
              <a:rPr lang="en-CA" sz="1200" dirty="0"/>
              <a:t>Convert Text Amounts and Format  </a:t>
            </a:r>
          </a:p>
          <a:p>
            <a:pPr lvl="1"/>
            <a:r>
              <a:rPr lang="en-CA" sz="1200" dirty="0"/>
              <a:t>Apply decimal places</a:t>
            </a:r>
          </a:p>
          <a:p>
            <a:pPr lvl="1"/>
            <a:r>
              <a:rPr lang="en-CA" sz="1200" dirty="0"/>
              <a:t>Add comment to N/A</a:t>
            </a:r>
          </a:p>
          <a:p>
            <a:pPr lvl="1"/>
            <a:r>
              <a:rPr lang="en-CA" sz="1200" dirty="0"/>
              <a:t>Custom INR /Dollar format</a:t>
            </a:r>
          </a:p>
          <a:p>
            <a:pPr lvl="1"/>
            <a:r>
              <a:rPr lang="en-CA" sz="1200" dirty="0"/>
              <a:t>AutoSum</a:t>
            </a:r>
          </a:p>
          <a:p>
            <a:pPr lvl="1"/>
            <a:r>
              <a:rPr lang="en-CA" sz="1200" dirty="0"/>
              <a:t>Sum()</a:t>
            </a:r>
          </a:p>
          <a:p>
            <a:pPr lvl="1"/>
            <a:endParaRPr lang="en-CA" sz="1200" dirty="0"/>
          </a:p>
          <a:p>
            <a:pPr lvl="1"/>
            <a:endParaRPr lang="en-CA" sz="1200" dirty="0"/>
          </a:p>
          <a:p>
            <a:pPr lvl="1"/>
            <a:endParaRPr lang="en-CA" sz="1600" dirty="0"/>
          </a:p>
          <a:p>
            <a:pPr lvl="1"/>
            <a:endParaRPr lang="en-US" sz="100" dirty="0"/>
          </a:p>
        </p:txBody>
      </p:sp>
    </p:spTree>
    <p:extLst>
      <p:ext uri="{BB962C8B-B14F-4D97-AF65-F5344CB8AC3E}">
        <p14:creationId xmlns:p14="http://schemas.microsoft.com/office/powerpoint/2010/main" val="39215930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E54BA-3363-8A01-009E-C31EDCCC8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8EF97-D978-BB24-B459-39328A02A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8" y="274638"/>
            <a:ext cx="8043402" cy="993775"/>
          </a:xfrm>
        </p:spPr>
        <p:txBody>
          <a:bodyPr/>
          <a:lstStyle/>
          <a:p>
            <a:r>
              <a:rPr lang="en-US" dirty="0"/>
              <a:t>Excel Formatting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3BEB4-BC8D-BDD6-E2D4-E582D40CC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947" y="1179870"/>
            <a:ext cx="5713699" cy="3688991"/>
          </a:xfrm>
        </p:spPr>
        <p:txBody>
          <a:bodyPr>
            <a:normAutofit/>
          </a:bodyPr>
          <a:lstStyle/>
          <a:p>
            <a:r>
              <a:rPr lang="en-CA" sz="2400" dirty="0"/>
              <a:t>Text</a:t>
            </a:r>
          </a:p>
          <a:p>
            <a:pPr lvl="1"/>
            <a:r>
              <a:rPr lang="en-CA" sz="1200" dirty="0"/>
              <a:t>Select Row Header</a:t>
            </a:r>
          </a:p>
          <a:p>
            <a:pPr lvl="1"/>
            <a:r>
              <a:rPr lang="en-CA" sz="1200" dirty="0"/>
              <a:t>Set Font , Size, Color</a:t>
            </a:r>
          </a:p>
          <a:p>
            <a:pPr lvl="1"/>
            <a:r>
              <a:rPr lang="en-CA" sz="1200" dirty="0"/>
              <a:t>Set Column width</a:t>
            </a:r>
          </a:p>
          <a:p>
            <a:pPr lvl="1"/>
            <a:r>
              <a:rPr lang="en-CA" sz="1200" dirty="0"/>
              <a:t>Freeze Pane			View | Freeze Pane      </a:t>
            </a:r>
          </a:p>
          <a:p>
            <a:pPr lvl="1"/>
            <a:r>
              <a:rPr lang="en-CA" sz="1200" dirty="0"/>
              <a:t>Left Align</a:t>
            </a:r>
          </a:p>
          <a:p>
            <a:pPr lvl="1"/>
            <a:r>
              <a:rPr lang="en-CA" sz="1200" dirty="0"/>
              <a:t>Right Align</a:t>
            </a:r>
          </a:p>
          <a:p>
            <a:pPr lvl="1"/>
            <a:endParaRPr lang="en-CA" sz="1200" dirty="0"/>
          </a:p>
          <a:p>
            <a:pPr lvl="1"/>
            <a:endParaRPr lang="en-CA" sz="1600" dirty="0"/>
          </a:p>
          <a:p>
            <a:pPr lvl="1"/>
            <a:endParaRPr lang="en-US" sz="100" dirty="0"/>
          </a:p>
        </p:txBody>
      </p:sp>
    </p:spTree>
    <p:extLst>
      <p:ext uri="{BB962C8B-B14F-4D97-AF65-F5344CB8AC3E}">
        <p14:creationId xmlns:p14="http://schemas.microsoft.com/office/powerpoint/2010/main" val="3003682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7F530-F4D7-146F-3C17-F9BE52A00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02B79-D376-C9E7-ED92-5E198A272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=ISNUMBER(D3)</a:t>
            </a:r>
          </a:p>
          <a:p>
            <a:r>
              <a:rPr lang="en-US" dirty="0"/>
              <a:t>=DATEVALUE(D3).  - &gt;RC-&gt;Date -&gt;Format</a:t>
            </a:r>
          </a:p>
          <a:p>
            <a:r>
              <a:rPr lang="en-US" dirty="0"/>
              <a:t>=ISNUMBER(D3)</a:t>
            </a:r>
          </a:p>
          <a:p>
            <a:r>
              <a:rPr lang="en-US" dirty="0"/>
              <a:t>=IF(ISNUMBER(M2),"Valid </a:t>
            </a:r>
            <a:r>
              <a:rPr lang="en-US" dirty="0" err="1"/>
              <a:t>Date","Not</a:t>
            </a:r>
            <a:r>
              <a:rPr lang="en-US" dirty="0"/>
              <a:t> a Date")</a:t>
            </a:r>
          </a:p>
          <a:p>
            <a:endParaRPr lang="en-US" dirty="0"/>
          </a:p>
          <a:p>
            <a:r>
              <a:rPr lang="en-US" dirty="0"/>
              <a:t>2026-08-12       </a:t>
            </a:r>
            <a:r>
              <a:rPr lang="en-US" sz="1100" dirty="0">
                <a:solidFill>
                  <a:srgbClr val="00B050"/>
                </a:solidFill>
              </a:rPr>
              <a:t>=DATE(LEFT(D14,4), MID(D14,6,2), RIGHT(D14,2))</a:t>
            </a:r>
          </a:p>
          <a:p>
            <a:r>
              <a:rPr lang="en-US" dirty="0"/>
              <a:t>01/08/2026  </a:t>
            </a:r>
            <a:r>
              <a:rPr lang="en-US" sz="1100" dirty="0">
                <a:solidFill>
                  <a:srgbClr val="00B050"/>
                </a:solidFill>
              </a:rPr>
              <a:t>=DATE(RIGHT(D5,4), LEFT(D5,2), MID(D5,4,2))             -&gt; 2026-01-08</a:t>
            </a:r>
          </a:p>
          <a:p>
            <a:pPr lvl="5"/>
            <a:r>
              <a:rPr lang="en-US" sz="900" dirty="0">
                <a:solidFill>
                  <a:srgbClr val="00B050"/>
                </a:solidFill>
              </a:rPr>
              <a:t>2026,01,08</a:t>
            </a:r>
          </a:p>
          <a:p>
            <a:r>
              <a:rPr lang="en-US" dirty="0"/>
              <a:t>01/08/2026</a:t>
            </a:r>
            <a:r>
              <a:rPr lang="en-US" sz="1100" dirty="0"/>
              <a:t>  </a:t>
            </a:r>
            <a:r>
              <a:rPr lang="en-US" sz="1100" dirty="0">
                <a:solidFill>
                  <a:srgbClr val="00B050"/>
                </a:solidFill>
              </a:rPr>
              <a:t>=DATE(RIGHT(D15,4), LEFT(D15,2), MID(D15,4,2)).              -&gt;2026-08-01</a:t>
            </a:r>
          </a:p>
        </p:txBody>
      </p:sp>
    </p:spTree>
    <p:extLst>
      <p:ext uri="{BB962C8B-B14F-4D97-AF65-F5344CB8AC3E}">
        <p14:creationId xmlns:p14="http://schemas.microsoft.com/office/powerpoint/2010/main" val="37772893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47336-7CCD-B96D-837F-97DC624ED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FE693-87F7-4A88-4C67-D1D2905BF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70778"/>
            <a:ext cx="8416738" cy="3519151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CA" dirty="0"/>
              <a:t>1. Easiest method — Text to Columns</a:t>
            </a:r>
          </a:p>
          <a:p>
            <a:pPr marL="0" indent="0">
              <a:buNone/>
            </a:pPr>
            <a:r>
              <a:rPr lang="en-CA" dirty="0"/>
              <a:t>If your text looks like:	026-08-01</a:t>
            </a:r>
          </a:p>
          <a:p>
            <a:pPr lvl="2"/>
            <a:r>
              <a:rPr lang="en-CA" sz="1200" dirty="0"/>
              <a:t>=DATE(LEFT(D14,4), MID(D14,6,2), RIGHT(D14,2))</a:t>
            </a:r>
          </a:p>
          <a:p>
            <a:pPr lvl="2"/>
            <a:r>
              <a:rPr lang="en-CA" sz="1200" dirty="0"/>
              <a:t>=DATE(RIGHT(D15,4), LEFT(D15,2), MID(D15,4,2))</a:t>
            </a:r>
          </a:p>
          <a:p>
            <a:r>
              <a:rPr lang="en-CA" sz="1200" dirty="0"/>
              <a:t>LEFT(D14,4)</a:t>
            </a:r>
            <a:r>
              <a:rPr lang="en-CA" sz="1200" b="0" dirty="0"/>
              <a:t>: Grabs the first 4 characters from the left. This gets the year </a:t>
            </a:r>
            <a:r>
              <a:rPr lang="en-CA" sz="1200" dirty="0"/>
              <a:t>2026</a:t>
            </a:r>
            <a:r>
              <a:rPr lang="en-CA" sz="1200" b="0" dirty="0"/>
              <a:t>.</a:t>
            </a:r>
          </a:p>
          <a:p>
            <a:r>
              <a:rPr lang="en-CA" sz="1200" dirty="0"/>
              <a:t>MID(D14,6,2)</a:t>
            </a:r>
            <a:r>
              <a:rPr lang="en-CA" sz="1200" b="0" dirty="0"/>
              <a:t>: Starts at the 6th character and grabs 2 characters. This skips the first dash and gets the month </a:t>
            </a:r>
            <a:r>
              <a:rPr lang="en-CA" sz="1200" dirty="0"/>
              <a:t>08</a:t>
            </a:r>
            <a:r>
              <a:rPr lang="en-CA" sz="1200" b="0" dirty="0"/>
              <a:t>.</a:t>
            </a:r>
          </a:p>
          <a:p>
            <a:r>
              <a:rPr lang="en-CA" sz="1200" dirty="0"/>
              <a:t>RIGHT(D14,2)</a:t>
            </a:r>
            <a:r>
              <a:rPr lang="en-CA" sz="1200" b="0" dirty="0"/>
              <a:t>: Grabs the last 2 characters from the right. This gets the day </a:t>
            </a:r>
            <a:r>
              <a:rPr lang="en-CA" sz="1200" dirty="0"/>
              <a:t>12</a:t>
            </a:r>
            <a:r>
              <a:rPr lang="en-CA" sz="1200" b="0" dirty="0"/>
              <a:t>.</a:t>
            </a:r>
          </a:p>
          <a:p>
            <a:br>
              <a:rPr lang="en-CA" dirty="0"/>
            </a:br>
            <a:endParaRPr lang="en-CA" dirty="0"/>
          </a:p>
          <a:p>
            <a:pPr lvl="2"/>
            <a:endParaRPr lang="en-CA" dirty="0"/>
          </a:p>
          <a:p>
            <a:pPr lvl="2"/>
            <a:endParaRPr lang="en-CA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F8A8F9-5536-FF39-A057-57D3698BD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521" y="0"/>
            <a:ext cx="5788479" cy="12330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C2CF2B-E70B-5B58-A730-0C1A2D4FC8CF}"/>
              </a:ext>
            </a:extLst>
          </p:cNvPr>
          <p:cNvSpPr txBox="1"/>
          <p:nvPr/>
        </p:nvSpPr>
        <p:spPr>
          <a:xfrm>
            <a:off x="645459" y="4401669"/>
            <a:ext cx="744967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100" dirty="0"/>
              <a:t>convert to text</a:t>
            </a:r>
          </a:p>
          <a:p>
            <a:r>
              <a:rPr lang="en-CA" sz="1100" dirty="0"/>
              <a:t>=IF(ISNUMBER(M2),"Valid </a:t>
            </a:r>
            <a:r>
              <a:rPr lang="en-CA" sz="1100" dirty="0" err="1"/>
              <a:t>Date","Not</a:t>
            </a:r>
            <a:r>
              <a:rPr lang="en-CA" sz="1100" dirty="0"/>
              <a:t> a Date")</a:t>
            </a:r>
          </a:p>
          <a:p>
            <a:br>
              <a:rPr lang="en-CA" sz="1100" dirty="0"/>
            </a:br>
            <a:endParaRPr lang="en-CA" sz="1100" dirty="0"/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1720314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2A8E4-6FCD-BCA7-F677-63EEEC092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8CAE-1F7A-FF2B-0245-830665C65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4C67E-C483-41DE-8093-446C78900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070778"/>
            <a:ext cx="6147707" cy="3814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2. Using a formula</a:t>
            </a:r>
          </a:p>
          <a:p>
            <a:r>
              <a:rPr lang="en-CA" sz="1400" b="0" dirty="0"/>
              <a:t>If cell D7 contains:    2026-08-06</a:t>
            </a:r>
          </a:p>
          <a:p>
            <a:pPr marL="0" indent="0">
              <a:buNone/>
            </a:pPr>
            <a:r>
              <a:rPr lang="en-CA" sz="1400" b="0" dirty="0"/>
              <a:t>Use:</a:t>
            </a:r>
          </a:p>
          <a:p>
            <a:pPr marL="0" indent="0">
              <a:buNone/>
            </a:pPr>
            <a:endParaRPr lang="en-CA" sz="1400" b="0" dirty="0"/>
          </a:p>
          <a:p>
            <a:endParaRPr lang="en-US"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7A5431-3B28-B4C3-086E-459792F743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521" y="0"/>
            <a:ext cx="5788479" cy="12330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C167B4-26AC-A329-22EE-3190F0DBB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2296443"/>
            <a:ext cx="7772400" cy="177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6260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518E2-DED8-6AAC-FDC3-629369480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 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4C6C2-846C-3D7A-605B-8FF89272E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Explain •=DATE(LEFT(A2,4),MID(A2,6,2),RIGHT(A2,2))</a:t>
            </a:r>
          </a:p>
          <a:p>
            <a:endParaRPr lang="en-CA" dirty="0"/>
          </a:p>
          <a:p>
            <a:endParaRPr lang="en-CA" dirty="0"/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26A996-EB38-A49D-4D64-684AD9E752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0171298"/>
              </p:ext>
            </p:extLst>
          </p:nvPr>
        </p:nvGraphicFramePr>
        <p:xfrm>
          <a:off x="155121" y="2677887"/>
          <a:ext cx="8801100" cy="2246084"/>
        </p:xfrm>
        <a:graphic>
          <a:graphicData uri="http://schemas.openxmlformats.org/drawingml/2006/table">
            <a:tbl>
              <a:tblPr/>
              <a:tblGrid>
                <a:gridCol w="2933700">
                  <a:extLst>
                    <a:ext uri="{9D8B030D-6E8A-4147-A177-3AD203B41FA5}">
                      <a16:colId xmlns:a16="http://schemas.microsoft.com/office/drawing/2014/main" val="770550412"/>
                    </a:ext>
                  </a:extLst>
                </a:gridCol>
                <a:gridCol w="3694951">
                  <a:extLst>
                    <a:ext uri="{9D8B030D-6E8A-4147-A177-3AD203B41FA5}">
                      <a16:colId xmlns:a16="http://schemas.microsoft.com/office/drawing/2014/main" val="1668595155"/>
                    </a:ext>
                  </a:extLst>
                </a:gridCol>
                <a:gridCol w="2172449">
                  <a:extLst>
                    <a:ext uri="{9D8B030D-6E8A-4147-A177-3AD203B41FA5}">
                      <a16:colId xmlns:a16="http://schemas.microsoft.com/office/drawing/2014/main" val="64772198"/>
                    </a:ext>
                  </a:extLst>
                </a:gridCol>
              </a:tblGrid>
              <a:tr h="2499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Formula Part</a:t>
                      </a:r>
                    </a:p>
                  </a:txBody>
                  <a:tcPr marL="85850" marR="85850" marT="42925" marB="429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What it does</a:t>
                      </a:r>
                    </a:p>
                  </a:txBody>
                  <a:tcPr marL="85850" marR="85850" marT="42925" marB="429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400" dirty="0"/>
                        <a:t>Result for </a:t>
                      </a:r>
                      <a:r>
                        <a:rPr lang="en-CA" sz="1400" dirty="0">
                          <a:latin typeface="Courier New" panose="02070309020205020404" pitchFamily="49" charset="0"/>
                        </a:rPr>
                        <a:t>2026-08-01</a:t>
                      </a:r>
                      <a:endParaRPr lang="en-CA" sz="1400" dirty="0"/>
                    </a:p>
                  </a:txBody>
                  <a:tcPr marL="85850" marR="85850" marT="42925" marB="429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9382084"/>
                  </a:ext>
                </a:extLst>
              </a:tr>
              <a:tr h="4282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>
                          <a:latin typeface="Courier New" panose="02070309020205020404" pitchFamily="49" charset="0"/>
                        </a:rPr>
                        <a:t>LEFT(A2,4)</a:t>
                      </a:r>
                      <a:endParaRPr lang="en-CA" sz="1400" dirty="0"/>
                    </a:p>
                  </a:txBody>
                  <a:tcPr marL="85850" marR="85850" marT="42925" marB="429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/>
                        <a:t>Takes the first 4 characters → </a:t>
                      </a:r>
                      <a:r>
                        <a:rPr lang="en-CA" sz="1400" b="1" dirty="0"/>
                        <a:t>Year</a:t>
                      </a:r>
                      <a:endParaRPr lang="en-CA" sz="1400" dirty="0"/>
                    </a:p>
                  </a:txBody>
                  <a:tcPr marL="85850" marR="85850" marT="42925" marB="429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400" dirty="0">
                          <a:latin typeface="Courier New" panose="02070309020205020404" pitchFamily="49" charset="0"/>
                        </a:rPr>
                        <a:t>2026</a:t>
                      </a:r>
                      <a:endParaRPr lang="en-CA" sz="1400" dirty="0"/>
                    </a:p>
                  </a:txBody>
                  <a:tcPr marL="85850" marR="85850" marT="42925" marB="429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0826386"/>
                  </a:ext>
                </a:extLst>
              </a:tr>
              <a:tr h="562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>
                          <a:latin typeface="Courier New" panose="02070309020205020404" pitchFamily="49" charset="0"/>
                        </a:rPr>
                        <a:t>MID(A2,6,2)</a:t>
                      </a:r>
                      <a:endParaRPr lang="en-CA" sz="1400" dirty="0"/>
                    </a:p>
                  </a:txBody>
                  <a:tcPr marL="85850" marR="85850" marT="42925" marB="429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/>
                        <a:t>Starts at character 6 and takes 2 characters → </a:t>
                      </a:r>
                      <a:r>
                        <a:rPr lang="en-CA" sz="1400" b="1" dirty="0"/>
                        <a:t>Month</a:t>
                      </a:r>
                      <a:endParaRPr lang="en-CA" sz="1400" dirty="0"/>
                    </a:p>
                  </a:txBody>
                  <a:tcPr marL="85850" marR="85850" marT="42925" marB="429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400" dirty="0">
                          <a:latin typeface="Courier New" panose="02070309020205020404" pitchFamily="49" charset="0"/>
                        </a:rPr>
                        <a:t>08</a:t>
                      </a:r>
                      <a:endParaRPr lang="en-CA" sz="1400" dirty="0"/>
                    </a:p>
                  </a:txBody>
                  <a:tcPr marL="85850" marR="85850" marT="42925" marB="429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019331"/>
                  </a:ext>
                </a:extLst>
              </a:tr>
              <a:tr h="3937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>
                          <a:latin typeface="Courier New" panose="02070309020205020404" pitchFamily="49" charset="0"/>
                        </a:rPr>
                        <a:t>RIGHT(A2,2)</a:t>
                      </a:r>
                      <a:endParaRPr lang="en-CA" sz="1400" dirty="0"/>
                    </a:p>
                  </a:txBody>
                  <a:tcPr marL="85850" marR="85850" marT="42925" marB="429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Takes the last 2 characters → </a:t>
                      </a:r>
                      <a:r>
                        <a:rPr lang="en-CA" sz="1400" b="1"/>
                        <a:t>Day</a:t>
                      </a:r>
                      <a:endParaRPr lang="en-CA" sz="1400"/>
                    </a:p>
                  </a:txBody>
                  <a:tcPr marL="85850" marR="85850" marT="42925" marB="429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400">
                          <a:latin typeface="Courier New" panose="02070309020205020404" pitchFamily="49" charset="0"/>
                        </a:rPr>
                        <a:t>01</a:t>
                      </a:r>
                      <a:endParaRPr lang="en-CA" sz="1400"/>
                    </a:p>
                  </a:txBody>
                  <a:tcPr marL="85850" marR="85850" marT="42925" marB="429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180016"/>
                  </a:ext>
                </a:extLst>
              </a:tr>
              <a:tr h="562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 dirty="0">
                          <a:latin typeface="Courier New" panose="02070309020205020404" pitchFamily="49" charset="0"/>
                        </a:rPr>
                        <a:t>DATE(</a:t>
                      </a:r>
                      <a:r>
                        <a:rPr lang="en-CA" sz="1400" dirty="0" err="1">
                          <a:latin typeface="Courier New" panose="02070309020205020404" pitchFamily="49" charset="0"/>
                        </a:rPr>
                        <a:t>year,month,day</a:t>
                      </a:r>
                      <a:r>
                        <a:rPr lang="en-CA" sz="1400" dirty="0">
                          <a:latin typeface="Courier New" panose="02070309020205020404" pitchFamily="49" charset="0"/>
                        </a:rPr>
                        <a:t>)</a:t>
                      </a:r>
                      <a:endParaRPr lang="en-CA" sz="1400" dirty="0"/>
                    </a:p>
                  </a:txBody>
                  <a:tcPr marL="85850" marR="85850" marT="42925" marB="429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400"/>
                        <a:t>Combines year, month and day into a valid Excel date</a:t>
                      </a:r>
                    </a:p>
                  </a:txBody>
                  <a:tcPr marL="85850" marR="85850" marT="42925" marB="429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CA" sz="1400" dirty="0">
                          <a:latin typeface="Courier New" panose="02070309020205020404" pitchFamily="49" charset="0"/>
                        </a:rPr>
                        <a:t>01-Aug-2026</a:t>
                      </a:r>
                      <a:endParaRPr lang="en-CA" sz="1400" dirty="0"/>
                    </a:p>
                  </a:txBody>
                  <a:tcPr marL="85850" marR="85850" marT="42925" marB="429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13258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8B885E4-348E-10D3-E1C0-174E5CAD3088}"/>
              </a:ext>
            </a:extLst>
          </p:cNvPr>
          <p:cNvSpPr txBox="1"/>
          <p:nvPr/>
        </p:nvSpPr>
        <p:spPr>
          <a:xfrm>
            <a:off x="187779" y="1281793"/>
            <a:ext cx="636814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Then format the result as Date.</a:t>
            </a:r>
          </a:p>
          <a:p>
            <a:endParaRPr lang="en-CA" sz="1400" dirty="0"/>
          </a:p>
          <a:p>
            <a:r>
              <a:rPr lang="en-CA" sz="1400" dirty="0"/>
              <a:t>If DATEVALUE doesn't recognize it, use: </a:t>
            </a:r>
            <a:r>
              <a:rPr lang="en-CA" sz="1400" b="1" dirty="0"/>
              <a:t>2026-08-09</a:t>
            </a:r>
          </a:p>
          <a:p>
            <a:r>
              <a:rPr lang="en-CA" sz="1400" dirty="0">
                <a:highlight>
                  <a:srgbClr val="EB793D"/>
                </a:highlight>
              </a:rPr>
              <a:t>	=DATE(LEFT(A2,4),MID(A2,6,2),RIGHT(A2,2))</a:t>
            </a:r>
          </a:p>
          <a:p>
            <a:r>
              <a:rPr lang="en-CA" sz="1400" dirty="0"/>
              <a:t>This explicitly tells Excel:</a:t>
            </a:r>
          </a:p>
          <a:p>
            <a:r>
              <a:rPr lang="en-CA" sz="1400" dirty="0"/>
              <a:t>	</a:t>
            </a:r>
            <a:r>
              <a:rPr lang="en-CA" sz="1400" dirty="0">
                <a:highlight>
                  <a:srgbClr val="EB793D"/>
                </a:highlight>
              </a:rPr>
              <a:t>Year = 2026, Month = 08, Day = 01.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378173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095C8-39A5-47EC-2236-5F0B058EF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17DE2-1FC4-2062-CE2C-5EBFD4AF0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Understand Date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4F482-3F48-98BF-0434-9003EEA82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Explain •=DATE(LEFT(A2,4),MID(A2,6,2),RIGHT(A2,2))</a:t>
            </a:r>
          </a:p>
          <a:p>
            <a:endParaRPr lang="en-CA" dirty="0"/>
          </a:p>
          <a:p>
            <a:endParaRPr lang="en-CA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3ED520-8EEE-FD9D-C8C2-B3F344B7EA1C}"/>
              </a:ext>
            </a:extLst>
          </p:cNvPr>
          <p:cNvSpPr txBox="1"/>
          <p:nvPr/>
        </p:nvSpPr>
        <p:spPr>
          <a:xfrm>
            <a:off x="693964" y="1469572"/>
            <a:ext cx="636814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Then format the result as Date.</a:t>
            </a:r>
          </a:p>
          <a:p>
            <a:endParaRPr lang="en-CA" sz="1400" dirty="0"/>
          </a:p>
          <a:p>
            <a:r>
              <a:rPr lang="en-CA" sz="1400" dirty="0"/>
              <a:t>If DATEVALUE doesn't recognize it, use: Eg: </a:t>
            </a:r>
            <a:r>
              <a:rPr lang="en-CA" sz="1400" b="1" dirty="0"/>
              <a:t>2026-08-01</a:t>
            </a:r>
          </a:p>
          <a:p>
            <a:r>
              <a:rPr lang="en-CA" sz="1400" dirty="0">
                <a:highlight>
                  <a:srgbClr val="EB793D"/>
                </a:highlight>
              </a:rPr>
              <a:t>	</a:t>
            </a:r>
            <a:r>
              <a:rPr lang="en-CA" sz="1400" dirty="0"/>
              <a:t>=DATE(RIGHT(D14,4),MID(D14,4,2),LEFT(D14,2))</a:t>
            </a:r>
            <a:endParaRPr lang="en-CA" sz="1400" dirty="0">
              <a:highlight>
                <a:srgbClr val="EB793D"/>
              </a:highlight>
            </a:endParaRPr>
          </a:p>
          <a:p>
            <a:endParaRPr lang="en-CA" sz="1400" dirty="0">
              <a:highlight>
                <a:srgbClr val="EB793D"/>
              </a:highlight>
            </a:endParaRPr>
          </a:p>
          <a:p>
            <a:endParaRPr lang="en-US" sz="1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E081D0B-581C-DCAC-C7C3-F17307EF26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726290"/>
              </p:ext>
            </p:extLst>
          </p:nvPr>
        </p:nvGraphicFramePr>
        <p:xfrm>
          <a:off x="628650" y="2658267"/>
          <a:ext cx="78867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780639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48406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014441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Part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Extracts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/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2535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latin typeface="Courier New" panose="02070309020205020404" pitchFamily="49" charset="0"/>
                        </a:rPr>
                        <a:t>RIGHT(A2,4)</a:t>
                      </a: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latin typeface="Courier New" panose="02070309020205020404" pitchFamily="49" charset="0"/>
                        </a:rPr>
                        <a:t>2026</a:t>
                      </a: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5238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latin typeface="Courier New" panose="02070309020205020404" pitchFamily="49" charset="0"/>
                        </a:rPr>
                        <a:t>MID(A2,4,2)</a:t>
                      </a: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Month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latin typeface="Courier New" panose="02070309020205020404" pitchFamily="49" charset="0"/>
                        </a:rPr>
                        <a:t>08</a:t>
                      </a: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1078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dirty="0">
                          <a:latin typeface="Courier New" panose="02070309020205020404" pitchFamily="49" charset="0"/>
                        </a:rPr>
                        <a:t>LEFT(A2,2)</a:t>
                      </a:r>
                      <a:endParaRPr lang="en-C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latin typeface="Courier New" panose="02070309020205020404" pitchFamily="49" charset="0"/>
                        </a:rPr>
                        <a:t>01</a:t>
                      </a: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9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>
                          <a:latin typeface="Courier New" panose="02070309020205020404" pitchFamily="49" charset="0"/>
                        </a:rPr>
                        <a:t>DATE(...)</a:t>
                      </a:r>
                      <a:endParaRPr lang="en-CA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/>
                        <a:t>Creates actual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/>
                        <a:t>01-Aug-2026</a:t>
                      </a:r>
                      <a:endParaRPr lang="en-CA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9317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2186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98A7E-F76E-3B19-857F-12DC707DB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711096D-4648-5F8F-1CDE-CC8B1E966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064"/>
            <a:ext cx="5673213" cy="4771925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D1CEBCA3-0CEC-A52A-819D-9A27149B59E8}"/>
              </a:ext>
            </a:extLst>
          </p:cNvPr>
          <p:cNvSpPr/>
          <p:nvPr/>
        </p:nvSpPr>
        <p:spPr>
          <a:xfrm>
            <a:off x="327495" y="224178"/>
            <a:ext cx="7505082" cy="9951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7C2D0A"/>
                </a:solidFill>
                <a:latin typeface="Cambria" pitchFamily="34" charset="0"/>
              </a:rPr>
              <a:t>Excel Foundations </a:t>
            </a:r>
            <a:endParaRPr lang="en-US" sz="40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258B5C97-0E6D-3923-8A01-3AE3FE798C34}"/>
              </a:ext>
            </a:extLst>
          </p:cNvPr>
          <p:cNvSpPr/>
          <p:nvPr/>
        </p:nvSpPr>
        <p:spPr>
          <a:xfrm>
            <a:off x="411480" y="47937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Week1 - Day1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20B84-BA74-0A8C-97A6-6E226335A41B}"/>
              </a:ext>
            </a:extLst>
          </p:cNvPr>
          <p:cNvSpPr txBox="1"/>
          <p:nvPr/>
        </p:nvSpPr>
        <p:spPr>
          <a:xfrm>
            <a:off x="106680" y="1370069"/>
            <a:ext cx="501592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b="1" dirty="0">
                <a:solidFill>
                  <a:srgbClr val="EB793D"/>
                </a:solidFill>
              </a:rPr>
              <a:t>Sorting</a:t>
            </a:r>
            <a:r>
              <a:rPr lang="en-CA" sz="1400" dirty="0">
                <a:solidFill>
                  <a:srgbClr val="EB793D"/>
                </a:solidFill>
              </a:rPr>
              <a:t> </a:t>
            </a:r>
            <a:r>
              <a:rPr lang="en-CA" sz="1400" dirty="0"/>
              <a:t>is the process of arranging data in a specific order so that it becomes easier to analyze, compare, and find information.</a:t>
            </a:r>
          </a:p>
          <a:p>
            <a:r>
              <a:rPr lang="en-CA" sz="1400" dirty="0">
                <a:solidFill>
                  <a:srgbClr val="EB793D"/>
                </a:solidFill>
              </a:rPr>
              <a:t>In Excel, you can sort data in:</a:t>
            </a:r>
          </a:p>
          <a:p>
            <a:r>
              <a:rPr lang="en-CA" sz="1400" b="1" dirty="0">
                <a:solidFill>
                  <a:srgbClr val="EB793D"/>
                </a:solidFill>
              </a:rPr>
              <a:t>Ascending order</a:t>
            </a:r>
            <a:r>
              <a:rPr lang="en-CA" sz="1400" dirty="0">
                <a:solidFill>
                  <a:srgbClr val="EB793D"/>
                </a:solidFill>
              </a:rPr>
              <a:t> </a:t>
            </a:r>
            <a:r>
              <a:rPr lang="en-CA" sz="1400" dirty="0"/>
              <a:t>– Smallest to Largest, A to Z, or Oldest to Newest</a:t>
            </a:r>
          </a:p>
          <a:p>
            <a:r>
              <a:rPr lang="en-CA" sz="1400" b="1" dirty="0">
                <a:solidFill>
                  <a:srgbClr val="EB793D"/>
                </a:solidFill>
              </a:rPr>
              <a:t>Descending order</a:t>
            </a:r>
            <a:r>
              <a:rPr lang="en-CA" sz="1400" dirty="0">
                <a:solidFill>
                  <a:srgbClr val="EB793D"/>
                </a:solidFill>
              </a:rPr>
              <a:t> </a:t>
            </a:r>
            <a:r>
              <a:rPr lang="en-CA" sz="1400" dirty="0"/>
              <a:t>– Largest to Smallest, Z to A, or Newest to Oldest</a:t>
            </a:r>
          </a:p>
          <a:p>
            <a:r>
              <a:rPr lang="en-CA" sz="1400" dirty="0"/>
              <a:t>	For a banking operations dataset, you may want to: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CA" sz="1400" dirty="0"/>
              <a:t>Sort </a:t>
            </a:r>
            <a:r>
              <a:rPr lang="en-CA" sz="1400" b="1" dirty="0"/>
              <a:t>Transaction Amount</a:t>
            </a:r>
            <a:r>
              <a:rPr lang="en-CA" sz="1400" dirty="0"/>
              <a:t> from highest to lowest.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CA" sz="1400" dirty="0"/>
              <a:t>Sort </a:t>
            </a:r>
            <a:r>
              <a:rPr lang="en-CA" sz="1400" b="1" dirty="0"/>
              <a:t>Customer Name</a:t>
            </a:r>
            <a:r>
              <a:rPr lang="en-CA" sz="1400" dirty="0"/>
              <a:t> from A to Z.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CA" sz="1400" dirty="0"/>
              <a:t>Sort </a:t>
            </a:r>
            <a:r>
              <a:rPr lang="en-CA" sz="1400" b="1" dirty="0"/>
              <a:t>Transaction Date</a:t>
            </a:r>
            <a:r>
              <a:rPr lang="en-CA" sz="1400" dirty="0"/>
              <a:t> from oldest to newest.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CA" sz="1400" dirty="0"/>
              <a:t>Sort </a:t>
            </a:r>
            <a:r>
              <a:rPr lang="en-CA" sz="1400" b="1" dirty="0"/>
              <a:t>Risk Score</a:t>
            </a:r>
            <a:r>
              <a:rPr lang="en-CA" sz="1400" dirty="0"/>
              <a:t> from highest to lowest.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CA" sz="1400" dirty="0"/>
              <a:t>Sort </a:t>
            </a:r>
            <a:r>
              <a:rPr lang="en-CA" sz="1400" b="1" dirty="0"/>
              <a:t>Transaction Status</a:t>
            </a:r>
            <a:r>
              <a:rPr lang="en-CA" sz="1400" dirty="0"/>
              <a:t> alphabetically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87B68C-0BC9-F07F-7BE2-0C4CC0722A47}"/>
              </a:ext>
            </a:extLst>
          </p:cNvPr>
          <p:cNvSpPr txBox="1"/>
          <p:nvPr/>
        </p:nvSpPr>
        <p:spPr>
          <a:xfrm>
            <a:off x="5593080" y="1022555"/>
            <a:ext cx="32234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You could sort:</a:t>
            </a:r>
          </a:p>
          <a:p>
            <a:r>
              <a:rPr lang="en-CA" b="1" dirty="0"/>
              <a:t>First level:</a:t>
            </a:r>
            <a:r>
              <a:rPr lang="en-CA" dirty="0"/>
              <a:t> Branch → A to Z</a:t>
            </a:r>
            <a:br>
              <a:rPr lang="en-CA" dirty="0"/>
            </a:br>
            <a:r>
              <a:rPr lang="en-CA" b="1" dirty="0"/>
              <a:t>Second level:</a:t>
            </a:r>
            <a:r>
              <a:rPr lang="en-CA" dirty="0"/>
              <a:t> Transaction Amount → Largest to Smallest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9190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4798F-27BF-C7B0-D07E-E46592DDB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6717363-6995-23CF-C8B3-370B6FEF6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064"/>
            <a:ext cx="8908026" cy="4771925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B9716F53-0F30-AFC3-724F-06531CE16ADF}"/>
              </a:ext>
            </a:extLst>
          </p:cNvPr>
          <p:cNvSpPr/>
          <p:nvPr/>
        </p:nvSpPr>
        <p:spPr>
          <a:xfrm>
            <a:off x="327495" y="367393"/>
            <a:ext cx="7505082" cy="767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7C2D0A"/>
                </a:solidFill>
                <a:latin typeface="Cambria" pitchFamily="34" charset="0"/>
              </a:rPr>
              <a:t>Excel Foundations </a:t>
            </a:r>
            <a:endParaRPr lang="en-US" sz="40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C18771C5-70D3-FB10-CBC9-AF70F27B8A19}"/>
              </a:ext>
            </a:extLst>
          </p:cNvPr>
          <p:cNvSpPr/>
          <p:nvPr/>
        </p:nvSpPr>
        <p:spPr>
          <a:xfrm>
            <a:off x="411480" y="47937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Week1 - Day1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77CD96-298C-C364-BE1F-62D38088768C}"/>
              </a:ext>
            </a:extLst>
          </p:cNvPr>
          <p:cNvSpPr txBox="1"/>
          <p:nvPr/>
        </p:nvSpPr>
        <p:spPr>
          <a:xfrm>
            <a:off x="328642" y="1134642"/>
            <a:ext cx="837290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Structuring datasets into table</a:t>
            </a:r>
          </a:p>
          <a:p>
            <a:r>
              <a:rPr lang="en-CA" sz="1400" dirty="0"/>
              <a:t>Structuring a dataset into a table means organizing related data into rows and columns and converting the range into an Excel Table for easier sorting, filtering, analysis, and management.</a:t>
            </a:r>
          </a:p>
          <a:p>
            <a:endParaRPr lang="en-CA" sz="1400" b="1" dirty="0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400" b="1" dirty="0">
                <a:solidFill>
                  <a:srgbClr val="00B050"/>
                </a:solidFill>
              </a:rPr>
              <a:t>Filter buttons</a:t>
            </a:r>
            <a:r>
              <a:rPr lang="en-CA" sz="1400" dirty="0">
                <a:solidFill>
                  <a:srgbClr val="00B050"/>
                </a:solidFill>
              </a:rPr>
              <a:t> on column headings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B050"/>
                </a:solidFill>
              </a:rPr>
              <a:t>Consistent formatting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B050"/>
                </a:solidFill>
              </a:rPr>
              <a:t>Automatic expansion when new rows are added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B050"/>
                </a:solidFill>
              </a:rPr>
              <a:t>Easier sorting and filtering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B050"/>
                </a:solidFill>
              </a:rPr>
              <a:t>Structured references for formulas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400" dirty="0">
                <a:solidFill>
                  <a:srgbClr val="00B050"/>
                </a:solidFill>
              </a:rPr>
              <a:t>Easier PivotTable and chart creation</a:t>
            </a:r>
            <a:endParaRPr lang="en-US" sz="1400" b="1" dirty="0">
              <a:solidFill>
                <a:srgbClr val="00B050"/>
              </a:solidFill>
            </a:endParaRPr>
          </a:p>
          <a:p>
            <a:endParaRPr lang="en-US" sz="2000" b="1" dirty="0">
              <a:solidFill>
                <a:srgbClr val="C00000"/>
              </a:solidFill>
            </a:endParaRPr>
          </a:p>
          <a:p>
            <a:endParaRPr lang="en-US" sz="2000" b="1" dirty="0">
              <a:solidFill>
                <a:srgbClr val="C00000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41652A-D876-DBDC-2AD2-35A38D3EE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593620"/>
              </p:ext>
            </p:extLst>
          </p:nvPr>
        </p:nvGraphicFramePr>
        <p:xfrm>
          <a:off x="142444" y="3611772"/>
          <a:ext cx="8765580" cy="1097280"/>
        </p:xfrm>
        <a:graphic>
          <a:graphicData uri="http://schemas.openxmlformats.org/drawingml/2006/table">
            <a:tbl>
              <a:tblPr/>
              <a:tblGrid>
                <a:gridCol w="1460930">
                  <a:extLst>
                    <a:ext uri="{9D8B030D-6E8A-4147-A177-3AD203B41FA5}">
                      <a16:colId xmlns:a16="http://schemas.microsoft.com/office/drawing/2014/main" val="3162416279"/>
                    </a:ext>
                  </a:extLst>
                </a:gridCol>
                <a:gridCol w="1460930">
                  <a:extLst>
                    <a:ext uri="{9D8B030D-6E8A-4147-A177-3AD203B41FA5}">
                      <a16:colId xmlns:a16="http://schemas.microsoft.com/office/drawing/2014/main" val="395810345"/>
                    </a:ext>
                  </a:extLst>
                </a:gridCol>
                <a:gridCol w="1460930">
                  <a:extLst>
                    <a:ext uri="{9D8B030D-6E8A-4147-A177-3AD203B41FA5}">
                      <a16:colId xmlns:a16="http://schemas.microsoft.com/office/drawing/2014/main" val="3063022444"/>
                    </a:ext>
                  </a:extLst>
                </a:gridCol>
                <a:gridCol w="1460930">
                  <a:extLst>
                    <a:ext uri="{9D8B030D-6E8A-4147-A177-3AD203B41FA5}">
                      <a16:colId xmlns:a16="http://schemas.microsoft.com/office/drawing/2014/main" val="2884742223"/>
                    </a:ext>
                  </a:extLst>
                </a:gridCol>
                <a:gridCol w="1460930">
                  <a:extLst>
                    <a:ext uri="{9D8B030D-6E8A-4147-A177-3AD203B41FA5}">
                      <a16:colId xmlns:a16="http://schemas.microsoft.com/office/drawing/2014/main" val="3125920785"/>
                    </a:ext>
                  </a:extLst>
                </a:gridCol>
                <a:gridCol w="1460930">
                  <a:extLst>
                    <a:ext uri="{9D8B030D-6E8A-4147-A177-3AD203B41FA5}">
                      <a16:colId xmlns:a16="http://schemas.microsoft.com/office/drawing/2014/main" val="3716572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Transaction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Customer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Branch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Amount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301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T001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Rahul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Pune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₹25,000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01-Aug-26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Approved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208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T002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Mumbai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₹45,000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02-Aug-26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Pending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0061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T003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Amit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Pune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₹12,000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/>
                        <a:t>03-Aug-26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/>
                        <a:t>Approved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080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19969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D88A8-D248-3962-E1BF-EC7B5814B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Currency – text to number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C130FD-39A1-BDE8-CA7D-583CECDC1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28" y="913854"/>
            <a:ext cx="8193408" cy="33878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0F70B3-2E5A-F897-06D1-ED05692FDBC0}"/>
              </a:ext>
            </a:extLst>
          </p:cNvPr>
          <p:cNvSpPr txBox="1"/>
          <p:nvPr/>
        </p:nvSpPr>
        <p:spPr>
          <a:xfrm>
            <a:off x="485029" y="4373217"/>
            <a:ext cx="77723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=IFERROR(VALUE(SUBSTITUTE(SUBSTITUTE(F2,"'",""),",","")), "")</a:t>
            </a:r>
          </a:p>
        </p:txBody>
      </p:sp>
    </p:spTree>
    <p:extLst>
      <p:ext uri="{BB962C8B-B14F-4D97-AF65-F5344CB8AC3E}">
        <p14:creationId xmlns:p14="http://schemas.microsoft.com/office/powerpoint/2010/main" val="25885897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1B7EB-CBE0-E97F-3F1F-1517F940C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Currency : </a:t>
            </a:r>
            <a:r>
              <a:rPr lang="en-CA" dirty="0"/>
              <a:t>Apply Decimal Places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FCF57-C614-74D4-BC94-31ACE30E1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=Round(G2,2)</a:t>
            </a:r>
          </a:p>
          <a:p>
            <a:r>
              <a:rPr lang="en-US" dirty="0"/>
              <a:t>Format the currency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9653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6B75B-0D7A-6A1A-DED3-0023A54C1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39D2777-5D1E-90D6-7E40-1B1515080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064"/>
            <a:ext cx="9144000" cy="5135554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A2B674E2-9E78-6212-B019-F5FD74C9954F}"/>
              </a:ext>
            </a:extLst>
          </p:cNvPr>
          <p:cNvSpPr/>
          <p:nvPr/>
        </p:nvSpPr>
        <p:spPr>
          <a:xfrm>
            <a:off x="199675" y="345988"/>
            <a:ext cx="7505082" cy="7391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7C2D0A"/>
                </a:solidFill>
                <a:latin typeface="Cambria" pitchFamily="34" charset="0"/>
              </a:rPr>
              <a:t>Excel Foundations </a:t>
            </a:r>
            <a:endParaRPr lang="en-US" sz="40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38A6BD07-350A-4647-56AE-42E695AB3BC3}"/>
              </a:ext>
            </a:extLst>
          </p:cNvPr>
          <p:cNvSpPr/>
          <p:nvPr/>
        </p:nvSpPr>
        <p:spPr>
          <a:xfrm>
            <a:off x="283660" y="47937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Week1 - Day1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9E836D-963A-1E2B-7687-F30CA645B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55" y="1085171"/>
            <a:ext cx="8785670" cy="38262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29F998-FCC0-7D8E-7804-ECBA5AD5BE8E}"/>
              </a:ext>
            </a:extLst>
          </p:cNvPr>
          <p:cNvSpPr txBox="1"/>
          <p:nvPr/>
        </p:nvSpPr>
        <p:spPr>
          <a:xfrm>
            <a:off x="283660" y="5052543"/>
            <a:ext cx="85328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/Users/</a:t>
            </a:r>
            <a:r>
              <a:rPr lang="en-US" sz="1000" dirty="0" err="1"/>
              <a:t>ashujauhari</a:t>
            </a:r>
            <a:r>
              <a:rPr lang="en-US" sz="1000" dirty="0"/>
              <a:t>/Data-2026/Client-2026/REVATURE-KPMG-</a:t>
            </a:r>
            <a:r>
              <a:rPr lang="en-US" sz="1000" dirty="0" err="1"/>
              <a:t>OperationAnalyst</a:t>
            </a:r>
            <a:r>
              <a:rPr lang="en-US" sz="1000" dirty="0"/>
              <a:t>/Week1-ExcelFoundation/</a:t>
            </a:r>
            <a:r>
              <a:rPr lang="en-US" sz="1000" dirty="0" err="1"/>
              <a:t>Excel_Shortcuts_WinMac.html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18411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1D7B1-05AC-93A6-7D48-4BE6CBAE9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BA5BE154-6426-8890-69B1-2D2DA9D0D746}"/>
              </a:ext>
            </a:extLst>
          </p:cNvPr>
          <p:cNvSpPr/>
          <p:nvPr/>
        </p:nvSpPr>
        <p:spPr>
          <a:xfrm>
            <a:off x="327495" y="650790"/>
            <a:ext cx="7505082" cy="60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7C2D0A"/>
                </a:solidFill>
                <a:latin typeface="Cambria" pitchFamily="34" charset="0"/>
              </a:rPr>
              <a:t>Excel Foundations </a:t>
            </a:r>
            <a:endParaRPr lang="en-US" sz="40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E64FC5C5-EB46-2498-92F6-1CFF079DD938}"/>
              </a:ext>
            </a:extLst>
          </p:cNvPr>
          <p:cNvSpPr/>
          <p:nvPr/>
        </p:nvSpPr>
        <p:spPr>
          <a:xfrm>
            <a:off x="411480" y="11534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Week1 - Day1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F18A90-D944-DAFC-E46F-CEF3B0E1056D}"/>
              </a:ext>
            </a:extLst>
          </p:cNvPr>
          <p:cNvSpPr txBox="1"/>
          <p:nvPr/>
        </p:nvSpPr>
        <p:spPr>
          <a:xfrm>
            <a:off x="0" y="1455174"/>
            <a:ext cx="848220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C00000"/>
                </a:solidFill>
              </a:rPr>
              <a:t>Introduction to engagement trackers  ( Project/Client Level)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600" dirty="0"/>
              <a:t>An </a:t>
            </a:r>
            <a:r>
              <a:rPr lang="en-CA" sz="1600" b="1" dirty="0"/>
              <a:t>engagement tracker</a:t>
            </a:r>
            <a:r>
              <a:rPr lang="en-CA" sz="1600" dirty="0"/>
              <a:t> is a structured Excel sheet used by an Operations Analyst to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CA" sz="1600" dirty="0"/>
              <a:t> </a:t>
            </a:r>
            <a:r>
              <a:rPr lang="en-CA" sz="1600" b="1" dirty="0">
                <a:solidFill>
                  <a:srgbClr val="00B050"/>
                </a:solidFill>
              </a:rPr>
              <a:t>track the status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CA" sz="1600" b="1" dirty="0">
                <a:solidFill>
                  <a:srgbClr val="00B050"/>
                </a:solidFill>
              </a:rPr>
              <a:t>activities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CA" sz="1600" b="1" dirty="0">
                <a:solidFill>
                  <a:srgbClr val="00B050"/>
                </a:solidFill>
              </a:rPr>
              <a:t>deliverables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CA" sz="1600" b="1" dirty="0">
                <a:solidFill>
                  <a:srgbClr val="00B050"/>
                </a:solidFill>
              </a:rPr>
              <a:t> issues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CA" sz="1600" b="1" dirty="0">
                <a:solidFill>
                  <a:srgbClr val="00B050"/>
                </a:solidFill>
              </a:rPr>
              <a:t>deadlines associated with a project or client</a:t>
            </a:r>
            <a:r>
              <a:rPr lang="en-CA" sz="1600" dirty="0">
                <a:solidFill>
                  <a:srgbClr val="00B050"/>
                </a:solidFill>
              </a:rPr>
              <a:t>.</a:t>
            </a:r>
            <a:endParaRPr lang="en-US" sz="1600" b="1" dirty="0">
              <a:solidFill>
                <a:srgbClr val="00B05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9B9FEB-E837-E6AF-E601-410B8879ED2D}"/>
              </a:ext>
            </a:extLst>
          </p:cNvPr>
          <p:cNvSpPr txBox="1"/>
          <p:nvPr/>
        </p:nvSpPr>
        <p:spPr>
          <a:xfrm>
            <a:off x="373626" y="3325864"/>
            <a:ext cx="48315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400" dirty="0"/>
              <a:t>An engagement tracker answers: </a:t>
            </a:r>
          </a:p>
          <a:p>
            <a:r>
              <a:rPr lang="en-CA" sz="1400" dirty="0"/>
              <a:t>	who is working on what, for which client/project,</a:t>
            </a:r>
          </a:p>
          <a:p>
            <a:r>
              <a:rPr lang="en-CA" sz="1400" dirty="0"/>
              <a:t>	what is the current status, </a:t>
            </a:r>
          </a:p>
          <a:p>
            <a:r>
              <a:rPr lang="en-CA" sz="1400" dirty="0"/>
              <a:t>	what is pending, and what needs attention?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709548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6C9CB-AFFA-4E40-B9E9-9A870B491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823" y="550005"/>
            <a:ext cx="8528539" cy="566615"/>
          </a:xfrm>
        </p:spPr>
        <p:txBody>
          <a:bodyPr>
            <a:normAutofit fontScale="90000"/>
          </a:bodyPr>
          <a:lstStyle/>
          <a:p>
            <a:r>
              <a:rPr lang="en-CA" dirty="0"/>
              <a:t>What does "Project/Client Level" mean?</a:t>
            </a:r>
            <a:br>
              <a:rPr lang="en-CA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4878B-FB47-FDE3-2D80-1323C0437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78170"/>
            <a:ext cx="7886700" cy="3814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400" dirty="0"/>
              <a:t>An organization may be handling multiple clients or projects.</a:t>
            </a:r>
          </a:p>
          <a:p>
            <a:pPr marL="0" indent="0">
              <a:buNone/>
            </a:pPr>
            <a:r>
              <a:rPr lang="en-CA" sz="1400" dirty="0"/>
              <a:t>For example, a bank's operations team might support:</a:t>
            </a:r>
          </a:p>
          <a:p>
            <a:pPr lvl="1"/>
            <a:r>
              <a:rPr lang="en-CA" sz="1400" b="1" dirty="0"/>
              <a:t>Client A — Credit Card Operations </a:t>
            </a:r>
          </a:p>
          <a:p>
            <a:pPr lvl="1"/>
            <a:r>
              <a:rPr lang="en-CA" sz="1400" b="1" dirty="0"/>
              <a:t>Client B — Loan Processing </a:t>
            </a:r>
          </a:p>
          <a:p>
            <a:pPr lvl="1"/>
            <a:r>
              <a:rPr lang="en-CA" sz="1400" b="1" dirty="0"/>
              <a:t>Client C — KYC/AML Operations </a:t>
            </a:r>
          </a:p>
          <a:p>
            <a:pPr lvl="1"/>
            <a:r>
              <a:rPr lang="en-CA" sz="1400" b="1" dirty="0"/>
              <a:t>Client D — Transaction Processing</a:t>
            </a:r>
          </a:p>
          <a:p>
            <a:pPr lvl="1"/>
            <a:endParaRPr lang="en-CA" sz="1400" b="1" dirty="0"/>
          </a:p>
          <a:p>
            <a:pPr marL="0" indent="0">
              <a:buNone/>
            </a:pPr>
            <a:r>
              <a:rPr lang="en-CA" sz="1400" dirty="0"/>
              <a:t>The tracker can provide information at two levels:</a:t>
            </a:r>
          </a:p>
          <a:p>
            <a:pPr marL="0" indent="0">
              <a:buNone/>
            </a:pPr>
            <a:r>
              <a:rPr lang="en-CA" sz="1400" dirty="0"/>
              <a:t>Client Level</a:t>
            </a:r>
          </a:p>
          <a:p>
            <a:pPr lvl="1"/>
            <a:r>
              <a:rPr lang="en-CA" sz="1400" dirty="0"/>
              <a:t>How are we performing for the entire client?</a:t>
            </a:r>
          </a:p>
          <a:p>
            <a:pPr marL="0" indent="0">
              <a:buNone/>
            </a:pPr>
            <a:r>
              <a:rPr lang="en-CA" sz="1400" dirty="0"/>
              <a:t>Project Level</a:t>
            </a:r>
          </a:p>
          <a:p>
            <a:pPr lvl="1"/>
            <a:r>
              <a:rPr lang="en-CA" sz="1400" dirty="0"/>
              <a:t>How is a specific project/workstream for that client progressing?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565200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840F5-C0E7-DC62-F3CB-1A627ED82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94" y="274638"/>
            <a:ext cx="8485238" cy="993775"/>
          </a:xfrm>
        </p:spPr>
        <p:txBody>
          <a:bodyPr>
            <a:noAutofit/>
          </a:bodyPr>
          <a:lstStyle/>
          <a:p>
            <a:r>
              <a:rPr lang="en-CA" sz="3600" dirty="0"/>
              <a:t>Banking Operations </a:t>
            </a:r>
            <a:r>
              <a:rPr lang="en-CA" sz="2800" dirty="0">
                <a:solidFill>
                  <a:srgbClr val="00B050"/>
                </a:solidFill>
              </a:rPr>
              <a:t>Engagement Tracker</a:t>
            </a:r>
            <a:endParaRPr lang="en-US" sz="2800" dirty="0">
              <a:solidFill>
                <a:srgbClr val="00B05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B57D99-5300-87B9-B277-B889AA2FCD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5340639"/>
              </p:ext>
            </p:extLst>
          </p:nvPr>
        </p:nvGraphicFramePr>
        <p:xfrm>
          <a:off x="363794" y="1370013"/>
          <a:ext cx="8151552" cy="326231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05728">
                  <a:extLst>
                    <a:ext uri="{9D8B030D-6E8A-4147-A177-3AD203B41FA5}">
                      <a16:colId xmlns:a16="http://schemas.microsoft.com/office/drawing/2014/main" val="981864452"/>
                    </a:ext>
                  </a:extLst>
                </a:gridCol>
                <a:gridCol w="905728">
                  <a:extLst>
                    <a:ext uri="{9D8B030D-6E8A-4147-A177-3AD203B41FA5}">
                      <a16:colId xmlns:a16="http://schemas.microsoft.com/office/drawing/2014/main" val="3022836218"/>
                    </a:ext>
                  </a:extLst>
                </a:gridCol>
                <a:gridCol w="905728">
                  <a:extLst>
                    <a:ext uri="{9D8B030D-6E8A-4147-A177-3AD203B41FA5}">
                      <a16:colId xmlns:a16="http://schemas.microsoft.com/office/drawing/2014/main" val="3753436386"/>
                    </a:ext>
                  </a:extLst>
                </a:gridCol>
                <a:gridCol w="905728">
                  <a:extLst>
                    <a:ext uri="{9D8B030D-6E8A-4147-A177-3AD203B41FA5}">
                      <a16:colId xmlns:a16="http://schemas.microsoft.com/office/drawing/2014/main" val="1727433505"/>
                    </a:ext>
                  </a:extLst>
                </a:gridCol>
                <a:gridCol w="905728">
                  <a:extLst>
                    <a:ext uri="{9D8B030D-6E8A-4147-A177-3AD203B41FA5}">
                      <a16:colId xmlns:a16="http://schemas.microsoft.com/office/drawing/2014/main" val="3360571895"/>
                    </a:ext>
                  </a:extLst>
                </a:gridCol>
                <a:gridCol w="905728">
                  <a:extLst>
                    <a:ext uri="{9D8B030D-6E8A-4147-A177-3AD203B41FA5}">
                      <a16:colId xmlns:a16="http://schemas.microsoft.com/office/drawing/2014/main" val="1492012157"/>
                    </a:ext>
                  </a:extLst>
                </a:gridCol>
                <a:gridCol w="905728">
                  <a:extLst>
                    <a:ext uri="{9D8B030D-6E8A-4147-A177-3AD203B41FA5}">
                      <a16:colId xmlns:a16="http://schemas.microsoft.com/office/drawing/2014/main" val="846824839"/>
                    </a:ext>
                  </a:extLst>
                </a:gridCol>
                <a:gridCol w="905728">
                  <a:extLst>
                    <a:ext uri="{9D8B030D-6E8A-4147-A177-3AD203B41FA5}">
                      <a16:colId xmlns:a16="http://schemas.microsoft.com/office/drawing/2014/main" val="320646087"/>
                    </a:ext>
                  </a:extLst>
                </a:gridCol>
                <a:gridCol w="905728">
                  <a:extLst>
                    <a:ext uri="{9D8B030D-6E8A-4147-A177-3AD203B41FA5}">
                      <a16:colId xmlns:a16="http://schemas.microsoft.com/office/drawing/2014/main" val="1817018527"/>
                    </a:ext>
                  </a:extLst>
                </a:gridCol>
              </a:tblGrid>
              <a:tr h="6840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400" b="1" dirty="0">
                          <a:solidFill>
                            <a:schemeClr val="bg1"/>
                          </a:solidFill>
                        </a:rPr>
                        <a:t>Client</a:t>
                      </a:r>
                      <a:endParaRPr lang="en-CA" sz="1400" dirty="0">
                        <a:solidFill>
                          <a:schemeClr val="bg1"/>
                        </a:solidFill>
                      </a:endParaRPr>
                    </a:p>
                  </a:txBody>
                  <a:tcPr marL="52618" marR="52618" marT="26309" marB="26309" anchor="ctr">
                    <a:solidFill>
                      <a:srgbClr val="EB79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400" b="1" dirty="0">
                          <a:solidFill>
                            <a:schemeClr val="bg1"/>
                          </a:solidFill>
                        </a:rPr>
                        <a:t>Project / Process</a:t>
                      </a:r>
                      <a:endParaRPr lang="en-CA" sz="1400" dirty="0">
                        <a:solidFill>
                          <a:schemeClr val="bg1"/>
                        </a:solidFill>
                      </a:endParaRPr>
                    </a:p>
                  </a:txBody>
                  <a:tcPr marL="52618" marR="52618" marT="26309" marB="26309" anchor="ctr">
                    <a:solidFill>
                      <a:srgbClr val="EB79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400" b="1" dirty="0">
                          <a:solidFill>
                            <a:schemeClr val="bg1"/>
                          </a:solidFill>
                        </a:rPr>
                        <a:t>Activity</a:t>
                      </a:r>
                      <a:endParaRPr lang="en-CA" sz="1400" dirty="0">
                        <a:solidFill>
                          <a:schemeClr val="bg1"/>
                        </a:solidFill>
                      </a:endParaRPr>
                    </a:p>
                  </a:txBody>
                  <a:tcPr marL="52618" marR="52618" marT="26309" marB="26309" anchor="ctr">
                    <a:solidFill>
                      <a:srgbClr val="EB79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400" b="1" dirty="0">
                          <a:solidFill>
                            <a:schemeClr val="bg1"/>
                          </a:solidFill>
                        </a:rPr>
                        <a:t>Owner</a:t>
                      </a:r>
                      <a:endParaRPr lang="en-CA" sz="1400" dirty="0">
                        <a:solidFill>
                          <a:schemeClr val="bg1"/>
                        </a:solidFill>
                      </a:endParaRPr>
                    </a:p>
                  </a:txBody>
                  <a:tcPr marL="52618" marR="52618" marT="26309" marB="26309" anchor="ctr">
                    <a:solidFill>
                      <a:srgbClr val="EB79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400" b="1">
                          <a:solidFill>
                            <a:schemeClr val="bg1"/>
                          </a:solidFill>
                        </a:rPr>
                        <a:t>Start</a:t>
                      </a:r>
                      <a:endParaRPr lang="en-CA" sz="1400">
                        <a:solidFill>
                          <a:schemeClr val="bg1"/>
                        </a:solidFill>
                      </a:endParaRPr>
                    </a:p>
                  </a:txBody>
                  <a:tcPr marL="52618" marR="52618" marT="26309" marB="26309" anchor="ctr">
                    <a:solidFill>
                      <a:srgbClr val="EB79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400" b="1" dirty="0">
                          <a:solidFill>
                            <a:schemeClr val="bg1"/>
                          </a:solidFill>
                        </a:rPr>
                        <a:t>Due</a:t>
                      </a:r>
                      <a:endParaRPr lang="en-CA" sz="1400" dirty="0">
                        <a:solidFill>
                          <a:schemeClr val="bg1"/>
                        </a:solidFill>
                      </a:endParaRPr>
                    </a:p>
                  </a:txBody>
                  <a:tcPr marL="52618" marR="52618" marT="26309" marB="26309" anchor="ctr">
                    <a:solidFill>
                      <a:srgbClr val="EB79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400" b="1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CA" sz="1400">
                        <a:solidFill>
                          <a:schemeClr val="bg1"/>
                        </a:solidFill>
                      </a:endParaRPr>
                    </a:p>
                  </a:txBody>
                  <a:tcPr marL="52618" marR="52618" marT="26309" marB="26309" anchor="ctr">
                    <a:solidFill>
                      <a:srgbClr val="EB79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400" b="1">
                          <a:solidFill>
                            <a:schemeClr val="bg1"/>
                          </a:solidFill>
                        </a:rPr>
                        <a:t>SLA</a:t>
                      </a:r>
                      <a:endParaRPr lang="en-CA" sz="1400">
                        <a:solidFill>
                          <a:schemeClr val="bg1"/>
                        </a:solidFill>
                      </a:endParaRPr>
                    </a:p>
                  </a:txBody>
                  <a:tcPr marL="52618" marR="52618" marT="26309" marB="26309" anchor="ctr">
                    <a:solidFill>
                      <a:srgbClr val="EB79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1400" b="1" dirty="0">
                          <a:solidFill>
                            <a:schemeClr val="bg1"/>
                          </a:solidFill>
                        </a:rPr>
                        <a:t>Issue</a:t>
                      </a:r>
                      <a:endParaRPr lang="en-CA" sz="1400" dirty="0">
                        <a:solidFill>
                          <a:schemeClr val="bg1"/>
                        </a:solidFill>
                      </a:endParaRPr>
                    </a:p>
                  </a:txBody>
                  <a:tcPr marL="52618" marR="52618" marT="26309" marB="26309" anchor="ctr">
                    <a:solidFill>
                      <a:srgbClr val="EB79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676942"/>
                  </a:ext>
                </a:extLst>
              </a:tr>
              <a:tr h="684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 dirty="0"/>
                        <a:t>🔵 ABC Bank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KYC Review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 dirty="0"/>
                        <a:t>Document validation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 dirty="0"/>
                        <a:t>Rahul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 dirty="0"/>
                        <a:t>01-Aug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05-Aug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🟢 Completed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🟢 Met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—</a:t>
                      </a:r>
                    </a:p>
                  </a:txBody>
                  <a:tcPr marL="52618" marR="52618" marT="26309" marB="26309" anchor="ctr"/>
                </a:tc>
                <a:extLst>
                  <a:ext uri="{0D108BD9-81ED-4DB2-BD59-A6C34878D82A}">
                    <a16:rowId xmlns:a16="http://schemas.microsoft.com/office/drawing/2014/main" val="2551696354"/>
                  </a:ext>
                </a:extLst>
              </a:tr>
              <a:tr h="684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🔵 ABC Bank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KYC Review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Exception handling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Priya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 dirty="0"/>
                        <a:t>02-Aug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 dirty="0"/>
                        <a:t>06-Aug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🟡 In Progress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🟡 At Risk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Missing documents</a:t>
                      </a:r>
                    </a:p>
                  </a:txBody>
                  <a:tcPr marL="52618" marR="52618" marT="26309" marB="26309" anchor="ctr"/>
                </a:tc>
                <a:extLst>
                  <a:ext uri="{0D108BD9-81ED-4DB2-BD59-A6C34878D82A}">
                    <a16:rowId xmlns:a16="http://schemas.microsoft.com/office/drawing/2014/main" val="3292585032"/>
                  </a:ext>
                </a:extLst>
              </a:tr>
              <a:tr h="6840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🟣 XYZ Bank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Card Operations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Dispute processing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Amit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01-Aug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 dirty="0"/>
                        <a:t>04-Aug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 dirty="0"/>
                        <a:t>🔴 Pending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 dirty="0"/>
                        <a:t>🔴 Breached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System issue</a:t>
                      </a:r>
                    </a:p>
                  </a:txBody>
                  <a:tcPr marL="52618" marR="52618" marT="26309" marB="26309" anchor="ctr"/>
                </a:tc>
                <a:extLst>
                  <a:ext uri="{0D108BD9-81ED-4DB2-BD59-A6C34878D82A}">
                    <a16:rowId xmlns:a16="http://schemas.microsoft.com/office/drawing/2014/main" val="348185186"/>
                  </a:ext>
                </a:extLst>
              </a:tr>
              <a:tr h="526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🟣 XYZ Bank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Card Operations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Daily reconciliation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Neha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01-Aug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01-Aug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/>
                        <a:t>🟢 Completed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 dirty="0"/>
                        <a:t>🟢 Met</a:t>
                      </a:r>
                    </a:p>
                  </a:txBody>
                  <a:tcPr marL="52618" marR="52618" marT="26309" marB="263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000" dirty="0"/>
                        <a:t>—</a:t>
                      </a:r>
                    </a:p>
                  </a:txBody>
                  <a:tcPr marL="52618" marR="52618" marT="26309" marB="26309" anchor="ctr"/>
                </a:tc>
                <a:extLst>
                  <a:ext uri="{0D108BD9-81ED-4DB2-BD59-A6C34878D82A}">
                    <a16:rowId xmlns:a16="http://schemas.microsoft.com/office/drawing/2014/main" val="3418009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18065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55BDD-9FFA-A711-29B9-371930909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107585"/>
            <a:ext cx="8230215" cy="4815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Operation Analyst: </a:t>
            </a:r>
            <a:r>
              <a:rPr lang="en-US" sz="3200" dirty="0">
                <a:solidFill>
                  <a:srgbClr val="EB793D"/>
                </a:solidFill>
              </a:rPr>
              <a:t>Engagement Tracker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EAB63-9F25-3CED-0C25-4A52F28D1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1800" dirty="0"/>
              <a:t>An analyst may be responsible for:</a:t>
            </a:r>
          </a:p>
          <a:p>
            <a:pPr marL="0" indent="0">
              <a:buNone/>
            </a:pPr>
            <a:endParaRPr lang="en-CA" sz="1800" dirty="0"/>
          </a:p>
          <a:p>
            <a:pPr lvl="2"/>
            <a:r>
              <a:rPr lang="en-CA" sz="1800" dirty="0"/>
              <a:t>Creating a tracker when the team needs one. </a:t>
            </a:r>
          </a:p>
          <a:p>
            <a:pPr lvl="2"/>
            <a:r>
              <a:rPr lang="en-CA" sz="1800" dirty="0"/>
              <a:t>Updating daily/weekly operational data. </a:t>
            </a:r>
          </a:p>
          <a:p>
            <a:pPr lvl="2"/>
            <a:r>
              <a:rPr lang="en-CA" sz="1800" dirty="0"/>
              <a:t>Tracking cases, transactions, activities, and deliverables. </a:t>
            </a:r>
          </a:p>
          <a:p>
            <a:pPr lvl="2"/>
            <a:r>
              <a:rPr lang="en-CA" sz="1800" dirty="0"/>
              <a:t>Monitoring SLA/TAT. </a:t>
            </a:r>
          </a:p>
          <a:p>
            <a:pPr lvl="2"/>
            <a:r>
              <a:rPr lang="en-CA" sz="1800" dirty="0"/>
              <a:t>Identifying pending and overdue items. </a:t>
            </a:r>
          </a:p>
          <a:p>
            <a:pPr lvl="2"/>
            <a:r>
              <a:rPr lang="en-CA" sz="1800" dirty="0"/>
              <a:t>Highlighting exceptions and operational issues. </a:t>
            </a:r>
          </a:p>
          <a:p>
            <a:pPr lvl="2"/>
            <a:r>
              <a:rPr lang="en-CA" sz="1800" dirty="0"/>
              <a:t>Preparing management reports and dashboards. </a:t>
            </a:r>
          </a:p>
          <a:p>
            <a:pPr lvl="2"/>
            <a:r>
              <a:rPr lang="en-CA" sz="1800" dirty="0"/>
              <a:t>Escalating items that require attention.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8517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19478</TotalTime>
  <Words>2063</Words>
  <Application>Microsoft Macintosh PowerPoint</Application>
  <PresentationFormat>On-screen Show (16:9)</PresentationFormat>
  <Paragraphs>359</Paragraphs>
  <Slides>38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Arial</vt:lpstr>
      <vt:lpstr>Cambria</vt:lpstr>
      <vt:lpstr>Courier New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Learning Outcome</vt:lpstr>
      <vt:lpstr>PowerPoint Presentation</vt:lpstr>
      <vt:lpstr>PowerPoint Presentation</vt:lpstr>
      <vt:lpstr>PowerPoint Presentation</vt:lpstr>
      <vt:lpstr>Operational  Analyst</vt:lpstr>
      <vt:lpstr>Where OA sit in Chain of Accountability?</vt:lpstr>
      <vt:lpstr>PowerPoint Presentation</vt:lpstr>
      <vt:lpstr>Why this role is Irreplaceable?</vt:lpstr>
      <vt:lpstr>PowerPoint Presentation</vt:lpstr>
      <vt:lpstr>PowerPoint Presentation</vt:lpstr>
      <vt:lpstr>Reference</vt:lpstr>
      <vt:lpstr>Excel Navigation </vt:lpstr>
      <vt:lpstr>Excel Navigation </vt:lpstr>
      <vt:lpstr>Excel Navigation </vt:lpstr>
      <vt:lpstr>Excel Cell Address</vt:lpstr>
      <vt:lpstr>Excel Arithmetic Calculation</vt:lpstr>
      <vt:lpstr>Excel Formatting </vt:lpstr>
      <vt:lpstr>Excel Formatting </vt:lpstr>
      <vt:lpstr>Date</vt:lpstr>
      <vt:lpstr>Date</vt:lpstr>
      <vt:lpstr>Date</vt:lpstr>
      <vt:lpstr>Understand Date</vt:lpstr>
      <vt:lpstr>Understand Date</vt:lpstr>
      <vt:lpstr>PowerPoint Presentation</vt:lpstr>
      <vt:lpstr>PowerPoint Presentation</vt:lpstr>
      <vt:lpstr>Currency – text to number </vt:lpstr>
      <vt:lpstr>Currency : Apply Decimal Places</vt:lpstr>
      <vt:lpstr>PowerPoint Presentation</vt:lpstr>
      <vt:lpstr>PowerPoint Presentation</vt:lpstr>
      <vt:lpstr>What does "Project/Client Level" mean? </vt:lpstr>
      <vt:lpstr>Banking Operations Engagement Tracker</vt:lpstr>
      <vt:lpstr>Operation Analyst: Engagement Tracker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Ashu Jauhari</cp:lastModifiedBy>
  <cp:revision>256</cp:revision>
  <dcterms:created xsi:type="dcterms:W3CDTF">2026-07-30T07:56:53Z</dcterms:created>
  <dcterms:modified xsi:type="dcterms:W3CDTF">2026-09-15T20:13:54Z</dcterms:modified>
</cp:coreProperties>
</file>