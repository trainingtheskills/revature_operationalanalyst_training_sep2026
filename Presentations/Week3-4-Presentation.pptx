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63"/>
  </p:notesMasterIdLst>
  <p:handoutMasterIdLst>
    <p:handoutMasterId r:id="rId64"/>
  </p:handoutMasterIdLst>
  <p:sldIdLst>
    <p:sldId id="256" r:id="rId3"/>
    <p:sldId id="798" r:id="rId4"/>
    <p:sldId id="799" r:id="rId5"/>
    <p:sldId id="800" r:id="rId6"/>
    <p:sldId id="801" r:id="rId7"/>
    <p:sldId id="265" r:id="rId8"/>
    <p:sldId id="427" r:id="rId9"/>
    <p:sldId id="395" r:id="rId10"/>
    <p:sldId id="396" r:id="rId11"/>
    <p:sldId id="397" r:id="rId12"/>
    <p:sldId id="399" r:id="rId13"/>
    <p:sldId id="831" r:id="rId14"/>
    <p:sldId id="832" r:id="rId15"/>
    <p:sldId id="838" r:id="rId16"/>
    <p:sldId id="833" r:id="rId17"/>
    <p:sldId id="834" r:id="rId18"/>
    <p:sldId id="835" r:id="rId19"/>
    <p:sldId id="837" r:id="rId20"/>
    <p:sldId id="836" r:id="rId21"/>
    <p:sldId id="266" r:id="rId22"/>
    <p:sldId id="429" r:id="rId23"/>
    <p:sldId id="401" r:id="rId24"/>
    <p:sldId id="402" r:id="rId25"/>
    <p:sldId id="839" r:id="rId26"/>
    <p:sldId id="841" r:id="rId27"/>
    <p:sldId id="858" r:id="rId28"/>
    <p:sldId id="844" r:id="rId29"/>
    <p:sldId id="859" r:id="rId30"/>
    <p:sldId id="845" r:id="rId31"/>
    <p:sldId id="846" r:id="rId32"/>
    <p:sldId id="847" r:id="rId33"/>
    <p:sldId id="848" r:id="rId34"/>
    <p:sldId id="849" r:id="rId35"/>
    <p:sldId id="850" r:id="rId36"/>
    <p:sldId id="851" r:id="rId37"/>
    <p:sldId id="852" r:id="rId38"/>
    <p:sldId id="853" r:id="rId39"/>
    <p:sldId id="854" r:id="rId40"/>
    <p:sldId id="855" r:id="rId41"/>
    <p:sldId id="856" r:id="rId42"/>
    <p:sldId id="857" r:id="rId43"/>
    <p:sldId id="842" r:id="rId44"/>
    <p:sldId id="843" r:id="rId45"/>
    <p:sldId id="840" r:id="rId46"/>
    <p:sldId id="403" r:id="rId47"/>
    <p:sldId id="406" r:id="rId48"/>
    <p:sldId id="405" r:id="rId49"/>
    <p:sldId id="407" r:id="rId50"/>
    <p:sldId id="411" r:id="rId51"/>
    <p:sldId id="409" r:id="rId52"/>
    <p:sldId id="412" r:id="rId53"/>
    <p:sldId id="413" r:id="rId54"/>
    <p:sldId id="414" r:id="rId55"/>
    <p:sldId id="415" r:id="rId56"/>
    <p:sldId id="417" r:id="rId57"/>
    <p:sldId id="416" r:id="rId58"/>
    <p:sldId id="419" r:id="rId59"/>
    <p:sldId id="404" r:id="rId60"/>
    <p:sldId id="420" r:id="rId61"/>
    <p:sldId id="421" r:id="rId6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1" id="{49A715C7-4BEA-9A4F-B272-17FDCE994C55}">
          <p14:sldIdLst>
            <p14:sldId id="256"/>
            <p14:sldId id="798"/>
            <p14:sldId id="799"/>
            <p14:sldId id="800"/>
            <p14:sldId id="801"/>
          </p14:sldIdLst>
        </p14:section>
        <p14:section name="Week1 - Day3-16-Sep-2026" id="{1E397F9A-3C4B-4D49-A6C3-9F335EB61FCB}">
          <p14:sldIdLst>
            <p14:sldId id="265"/>
            <p14:sldId id="427"/>
            <p14:sldId id="395"/>
            <p14:sldId id="396"/>
            <p14:sldId id="397"/>
            <p14:sldId id="399"/>
            <p14:sldId id="831"/>
            <p14:sldId id="832"/>
            <p14:sldId id="838"/>
            <p14:sldId id="833"/>
            <p14:sldId id="834"/>
            <p14:sldId id="835"/>
            <p14:sldId id="837"/>
            <p14:sldId id="836"/>
          </p14:sldIdLst>
        </p14:section>
        <p14:section name="Week 1 - Day4 17-Sep-2026" id="{F0EECCDE-5509-7847-8486-8CA4D12AEC27}">
          <p14:sldIdLst>
            <p14:sldId id="266"/>
            <p14:sldId id="429"/>
            <p14:sldId id="401"/>
            <p14:sldId id="402"/>
            <p14:sldId id="839"/>
            <p14:sldId id="841"/>
            <p14:sldId id="858"/>
            <p14:sldId id="844"/>
            <p14:sldId id="859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42"/>
            <p14:sldId id="843"/>
            <p14:sldId id="840"/>
            <p14:sldId id="403"/>
            <p14:sldId id="406"/>
            <p14:sldId id="405"/>
            <p14:sldId id="407"/>
            <p14:sldId id="411"/>
            <p14:sldId id="409"/>
            <p14:sldId id="412"/>
            <p14:sldId id="413"/>
            <p14:sldId id="414"/>
            <p14:sldId id="415"/>
            <p14:sldId id="417"/>
            <p14:sldId id="416"/>
            <p14:sldId id="419"/>
            <p14:sldId id="404"/>
            <p14:sldId id="420"/>
            <p14:sldId id="4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93D"/>
    <a:srgbClr val="D5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9"/>
    <p:restoredTop sz="96260"/>
  </p:normalViewPr>
  <p:slideViewPr>
    <p:cSldViewPr snapToGrid="0" snapToObjects="1">
      <p:cViewPr varScale="1">
        <p:scale>
          <a:sx n="166" d="100"/>
          <a:sy n="166" d="100"/>
        </p:scale>
        <p:origin x="208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23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411ED-FF75-59A5-42FB-01ED8694C8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AE26E-BEA9-FA20-95B3-051D9DC010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A6D3E-BFB1-0DBE-6CA5-9BDCA669FF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CE009-1979-7F48-9F14-60D43B6B5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3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4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81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Now consider the </a:t>
            </a:r>
            <a:r>
              <a:rPr lang="en-CA" b="1" dirty="0"/>
              <a:t>Finance team</a:t>
            </a:r>
            <a:r>
              <a:rPr lang="en-CA" dirty="0"/>
              <a:t>.</a:t>
            </a:r>
          </a:p>
          <a:p>
            <a:r>
              <a:rPr lang="en-CA" dirty="0"/>
              <a:t>Finance may receive the same transaction dataset but ask completely different questions.</a:t>
            </a:r>
          </a:p>
          <a:p>
            <a:r>
              <a:rPr lang="en-CA" b="1" dirty="0"/>
              <a:t>Finance question</a:t>
            </a:r>
          </a:p>
          <a:p>
            <a:r>
              <a:rPr lang="en-CA" b="1" dirty="0"/>
              <a:t>"How much money was processed by each branch?"</a:t>
            </a:r>
            <a:endParaRPr lang="en-CA" dirty="0"/>
          </a:p>
          <a:p>
            <a:r>
              <a:rPr lang="en-CA" dirty="0"/>
              <a:t>PivotTable:</a:t>
            </a:r>
          </a:p>
          <a:p>
            <a:r>
              <a:rPr lang="en-CA" b="1" dirty="0"/>
              <a:t>Branch → Sum of Amount</a:t>
            </a:r>
            <a:endParaRPr lang="en-CA" dirty="0"/>
          </a:p>
          <a:p>
            <a:r>
              <a:rPr lang="en-CA" dirty="0"/>
              <a:t>Another question:</a:t>
            </a:r>
          </a:p>
          <a:p>
            <a:r>
              <a:rPr lang="en-CA" b="1" dirty="0"/>
              <a:t>"How much was deposited versus withdrawn?"</a:t>
            </a:r>
            <a:endParaRPr lang="en-CA" dirty="0"/>
          </a:p>
          <a:p>
            <a:r>
              <a:rPr lang="en-CA" dirty="0"/>
              <a:t>PivotTable:</a:t>
            </a:r>
          </a:p>
          <a:p>
            <a:r>
              <a:rPr lang="en-CA" b="1" dirty="0"/>
              <a:t>Transaction Type → Sum of Amount</a:t>
            </a:r>
            <a:endParaRPr lang="en-CA" dirty="0"/>
          </a:p>
          <a:p>
            <a:r>
              <a:rPr lang="en-CA" dirty="0"/>
              <a:t>Another:</a:t>
            </a:r>
          </a:p>
          <a:p>
            <a:r>
              <a:rPr lang="en-CA" b="1" dirty="0"/>
              <a:t>"What is the monthly transaction value?"</a:t>
            </a:r>
            <a:endParaRPr lang="en-CA" dirty="0"/>
          </a:p>
          <a:p>
            <a:r>
              <a:rPr lang="en-CA" dirty="0"/>
              <a:t>PivotTable:</a:t>
            </a:r>
          </a:p>
          <a:p>
            <a:r>
              <a:rPr lang="en-CA" b="1" dirty="0"/>
              <a:t>Date grouped by Month → Sum of Amount</a:t>
            </a:r>
            <a:endParaRPr lang="en-CA" dirty="0"/>
          </a:p>
          <a:p>
            <a:r>
              <a:rPr lang="en-CA" b="1" dirty="0"/>
              <a:t>Management report</a:t>
            </a:r>
          </a:p>
          <a:p>
            <a:r>
              <a:rPr lang="en-CA" dirty="0"/>
              <a:t>The final dashboard might contain:</a:t>
            </a:r>
          </a:p>
          <a:p>
            <a:r>
              <a:rPr lang="en-CA" dirty="0"/>
              <a:t>Total transaction value </a:t>
            </a:r>
          </a:p>
          <a:p>
            <a:r>
              <a:rPr lang="en-CA" dirty="0"/>
              <a:t>Total transaction count </a:t>
            </a:r>
          </a:p>
          <a:p>
            <a:r>
              <a:rPr lang="en-CA" dirty="0"/>
              <a:t>Branch-wise transaction value </a:t>
            </a:r>
          </a:p>
          <a:p>
            <a:r>
              <a:rPr lang="en-CA" dirty="0"/>
              <a:t>Transaction-type distribution </a:t>
            </a:r>
          </a:p>
          <a:p>
            <a:r>
              <a:rPr lang="en-CA" dirty="0"/>
              <a:t>Monthly trend </a:t>
            </a:r>
          </a:p>
          <a:p>
            <a:r>
              <a:rPr lang="en-CA" dirty="0"/>
              <a:t>Top 10 branches </a:t>
            </a:r>
          </a:p>
          <a:p>
            <a:r>
              <a:rPr lang="en-CA" dirty="0"/>
              <a:t>So the same raw data becomes a </a:t>
            </a:r>
            <a:r>
              <a:rPr lang="en-CA" b="1" dirty="0"/>
              <a:t>financial management report</a:t>
            </a:r>
            <a:r>
              <a:rPr lang="en-CA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59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F5D18-534C-85C8-761D-E0527FE1E180}"/>
              </a:ext>
            </a:extLst>
          </p:cNvPr>
          <p:cNvSpPr txBox="1"/>
          <p:nvPr userDrawn="1"/>
        </p:nvSpPr>
        <p:spPr>
          <a:xfrm>
            <a:off x="-111407" y="4845879"/>
            <a:ext cx="2455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CA" b="1" i="0" dirty="0">
                <a:solidFill>
                  <a:srgbClr val="040053"/>
                </a:solidFill>
                <a:effectLst/>
              </a:rPr>
              <a:t>@AnnotateTech </a:t>
            </a:r>
            <a:r>
              <a:rPr lang="en-CA" b="1" i="0" dirty="0">
                <a:solidFill>
                  <a:srgbClr val="FF751F"/>
                </a:solidFill>
                <a:effectLst/>
              </a:rPr>
              <a:t>Claude</a:t>
            </a:r>
            <a:endParaRPr lang="en-CA" dirty="0">
              <a:effectLst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48564E-05BF-32FD-9E94-FA1C1A0A0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6B9D-6FC7-0B39-0FAF-6224B7A64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93723-602E-31C0-5AF5-530EB2940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766-A164-8C43-E0A0-ECDB86F3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E4E2-CD0C-6B19-36D0-D761EFDC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7240-9234-C8A0-6E4F-BFDEC557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1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1182-2A58-44E3-1B26-B335EDFC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600"/>
            <a:ext cx="7886700" cy="5666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3031-510D-25CD-098D-63BACC815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17685"/>
            <a:ext cx="7886700" cy="381464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40CB-A181-E958-DFF4-A042CF7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6AAD5-04C7-079F-AEBC-92CF2A26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E8D6-FA7A-5FB8-C639-635EEDC3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D159-D858-91AF-23CA-028E074A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134B8-D84D-80C4-205C-F15175B8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AD7BA-2C8E-8290-169D-5593496C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B649-038E-ECAB-B5A7-B5A536B8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59DA7-941E-3489-0B06-9364F44C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058-9251-142D-B2C7-0E4A33AB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3F97-FB91-4C48-9F41-34EAE0EA6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41ECD-2B03-3533-3905-8655F3DE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6F127-D1B5-4E9D-4E89-A46B69AD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C6C06-B485-F7D1-4016-3927367B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38C1E-570A-B60E-3985-0FB26721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1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2BA5-9394-6C2A-A215-FA13A60A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8FE5A-798F-0339-FE62-2CCFA5756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4C3B6-4969-88DF-C2A4-309172BF7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91313-9F1D-5701-5611-43920FEEA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02FC-F5A7-B71D-1729-6C226F4E1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E2A1B-CAED-3987-3975-7AC687E5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1F795-828B-BBB3-22DA-70EBB30E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E514A-7D36-052A-8171-C7A1894F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3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FFAB-C0C4-8606-011A-1B2667D7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31B80-6E56-FEDD-7573-44ABE3C5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C2227-4571-9E75-B293-81626719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D3066-7472-657F-5B11-F21BB1C2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4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B5C5C-54B0-33A6-A2AF-07985F1F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B333E-011F-8374-CAF7-BB1D7EBF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779C9-A436-F8FE-761C-B53E365D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FF90-3A83-7251-9D07-B9452676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8BCB-78B4-1B47-99E4-778FC3504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C1916-1F9A-A98A-93F3-D45727042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74FBC-0127-F788-1394-90A21C95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8AEC2-895A-3F54-DF19-69C19339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8F825-027C-8089-AC7B-89EA062C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7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982E-0FA9-C371-2980-773309FC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47075-BC91-CB48-261D-3F2AA37E7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E86D8-18F7-812A-85DC-458D617BC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3033-140A-B4C8-87FD-8932AF37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0F370-C06F-FFCE-58F1-7A5149FA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6566-C6F1-D693-0F10-E9AEF039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2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86F2-CCA8-9E8A-200A-341CC9BA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F3053-EE75-ABB1-E0A2-55639A541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4E7F5-B203-10CC-CB3C-7F18FD10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CFAF-CC6B-6746-F8FE-388283D5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4E20-1008-E61C-7FAD-94D616BB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4C26A-B925-1DF1-3DD9-9551F6DE2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2019B-BDA0-1BFA-F4E5-41F93E2C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A2221-91D9-EFE6-5EA2-A92F8333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D1CE-249C-FA4D-14C8-E4051215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F923-E62F-245F-AF69-1AFDD92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05FA82D-CB5E-9AB7-9395-DEFC805C2AE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EF53C-D697-2C00-ADC9-9BB9256E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035F9-E156-A203-C8A8-F23C780F3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CE358-E585-7C7E-4E6E-46267937F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87240-7F04-0846-ADC9-2D3C92CE7B8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DB79-93ED-BA07-B6CE-B2D66D871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48CB-0803-4CC5-5323-FA201A09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0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 smtClean="0">
          <a:solidFill>
            <a:srgbClr val="7C2D0A"/>
          </a:solidFill>
          <a:latin typeface="Cambria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1" kern="1200" dirty="0" smtClean="0">
          <a:solidFill>
            <a:srgbClr val="7C2D0A"/>
          </a:solidFill>
          <a:latin typeface="Cambria" pitchFamily="34" charset="0"/>
          <a:ea typeface="+mj-ea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B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B79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031" y="63610"/>
            <a:ext cx="9219031" cy="51776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495" y="730302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Analyst – </a:t>
            </a:r>
            <a:r>
              <a:rPr lang="en-US" sz="4000" b="1" dirty="0">
                <a:solidFill>
                  <a:srgbClr val="7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KPMG V4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411480" y="1572768"/>
            <a:ext cx="7505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Foundation</a:t>
            </a:r>
          </a:p>
        </p:txBody>
      </p:sp>
      <p:sp>
        <p:nvSpPr>
          <p:cNvPr id="9" name="Text 5"/>
          <p:cNvSpPr/>
          <p:nvPr/>
        </p:nvSpPr>
        <p:spPr>
          <a:xfrm>
            <a:off x="411480" y="3527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</a:t>
            </a:r>
          </a:p>
        </p:txBody>
      </p:sp>
      <p:sp>
        <p:nvSpPr>
          <p:cNvPr id="13" name="Shape 9"/>
          <p:cNvSpPr/>
          <p:nvPr/>
        </p:nvSpPr>
        <p:spPr>
          <a:xfrm>
            <a:off x="61784" y="3869932"/>
            <a:ext cx="1470454" cy="331364"/>
          </a:xfrm>
          <a:prstGeom prst="roundRect">
            <a:avLst>
              <a:gd name="adj" fmla="val 13889"/>
            </a:avLst>
          </a:prstGeom>
          <a:solidFill>
            <a:srgbClr val="DCE6FF"/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56105" y="3707438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5BD9"/>
                </a:solidFill>
              </a:rPr>
              <a:t>Excel Foundation</a:t>
            </a:r>
            <a:endParaRPr lang="en-US" sz="13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6F5D293-F476-1E4A-982F-084D080FDFCD}"/>
              </a:ext>
            </a:extLst>
          </p:cNvPr>
          <p:cNvSpPr/>
          <p:nvPr/>
        </p:nvSpPr>
        <p:spPr>
          <a:xfrm>
            <a:off x="1874520" y="3857784"/>
            <a:ext cx="1470454" cy="331364"/>
          </a:xfrm>
          <a:prstGeom prst="roundRect">
            <a:avLst>
              <a:gd name="adj" fmla="val 13889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299BA745-6465-1C01-A32C-0E0B3699E021}"/>
              </a:ext>
            </a:extLst>
          </p:cNvPr>
          <p:cNvSpPr/>
          <p:nvPr/>
        </p:nvSpPr>
        <p:spPr>
          <a:xfrm>
            <a:off x="3733356" y="3857784"/>
            <a:ext cx="1470454" cy="331364"/>
          </a:xfrm>
          <a:prstGeom prst="roundRect">
            <a:avLst>
              <a:gd name="adj" fmla="val 1388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C4364B33-E997-0667-C6ED-53F5F65520DE}"/>
              </a:ext>
            </a:extLst>
          </p:cNvPr>
          <p:cNvSpPr/>
          <p:nvPr/>
        </p:nvSpPr>
        <p:spPr>
          <a:xfrm>
            <a:off x="5598338" y="3857784"/>
            <a:ext cx="1470454" cy="331364"/>
          </a:xfrm>
          <a:prstGeom prst="roundRect">
            <a:avLst>
              <a:gd name="adj" fmla="val 13889"/>
            </a:avLst>
          </a:prstGeom>
          <a:solidFill>
            <a:srgbClr val="D592FF"/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9920618-DC5D-E20A-53E6-19836CFB2FE5}"/>
              </a:ext>
            </a:extLst>
          </p:cNvPr>
          <p:cNvSpPr/>
          <p:nvPr/>
        </p:nvSpPr>
        <p:spPr>
          <a:xfrm>
            <a:off x="7463320" y="3869932"/>
            <a:ext cx="1470454" cy="331364"/>
          </a:xfrm>
          <a:prstGeom prst="roundRect">
            <a:avLst>
              <a:gd name="adj" fmla="val 1388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235ABABF-7DC4-DDEE-0211-FA68F161C066}"/>
              </a:ext>
            </a:extLst>
          </p:cNvPr>
          <p:cNvSpPr/>
          <p:nvPr/>
        </p:nvSpPr>
        <p:spPr>
          <a:xfrm>
            <a:off x="1923123" y="3686840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5BD9"/>
                </a:solidFill>
              </a:rPr>
              <a:t>Core </a:t>
            </a: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Formula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CF77E89-A109-FE1B-0646-B5E989D91DE6}"/>
              </a:ext>
            </a:extLst>
          </p:cNvPr>
          <p:cNvSpPr/>
          <p:nvPr/>
        </p:nvSpPr>
        <p:spPr>
          <a:xfrm>
            <a:off x="3698379" y="3690956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</a:rPr>
              <a:t>Data Cleaning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B7011EA0-EFEB-E45D-DD70-EA6195BB119D}"/>
              </a:ext>
            </a:extLst>
          </p:cNvPr>
          <p:cNvSpPr/>
          <p:nvPr/>
        </p:nvSpPr>
        <p:spPr>
          <a:xfrm>
            <a:off x="5605443" y="3678596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</a:rPr>
              <a:t>Retail Banking </a:t>
            </a:r>
            <a:endParaRPr lang="en-US" sz="1300" dirty="0">
              <a:solidFill>
                <a:srgbClr val="7030A0"/>
              </a:solidFill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DC38CDF-E429-7D5B-F0EE-6521790ACD76}"/>
              </a:ext>
            </a:extLst>
          </p:cNvPr>
          <p:cNvSpPr/>
          <p:nvPr/>
        </p:nvSpPr>
        <p:spPr>
          <a:xfrm>
            <a:off x="7520743" y="3682714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</a:rPr>
              <a:t>Reinforcement Labs</a:t>
            </a:r>
            <a:endParaRPr lang="en-US" sz="13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27A8DE-AD88-A81E-A628-601EAA560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6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BD26EB-2AA7-1C67-1420-7E6F615B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184235-E0D7-EC50-4551-30249289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17" y="0"/>
            <a:ext cx="74604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0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114B2E-373A-7059-D1A5-B63B88BB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70" y="42040"/>
            <a:ext cx="9180243" cy="50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4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638E-BE17-9814-825D-0CA19A63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B16C3D3-74D9-D903-78D9-3366E16F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6C1D1808-1FB5-BBDF-F98E-20456A2FA0CF}"/>
              </a:ext>
            </a:extLst>
          </p:cNvPr>
          <p:cNvSpPr/>
          <p:nvPr/>
        </p:nvSpPr>
        <p:spPr>
          <a:xfrm>
            <a:off x="327495" y="650789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Data Cleaning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50B9A30-CCF9-B8DD-10E6-E89C5CAF862D}"/>
              </a:ext>
            </a:extLst>
          </p:cNvPr>
          <p:cNvSpPr/>
          <p:nvPr/>
        </p:nvSpPr>
        <p:spPr>
          <a:xfrm>
            <a:off x="411480" y="3527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– Day3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DA276-8119-438D-0386-4A5F12E01EE8}"/>
              </a:ext>
            </a:extLst>
          </p:cNvPr>
          <p:cNvSpPr txBox="1"/>
          <p:nvPr/>
        </p:nvSpPr>
        <p:spPr>
          <a:xfrm>
            <a:off x="327495" y="1776654"/>
            <a:ext cx="84050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to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blanks and inconsistent formulas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Standardizing IDs and Financial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596B7-09E2-81B0-CCD5-41E2B5C5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47" y="558478"/>
            <a:ext cx="18288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6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1803-F9BE-7912-38C6-6E868B85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DAC1-B5BE-BBE6-6401-868BB6CE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1800" b="0" dirty="0"/>
              <a:t>Clean inconsistent customer and transaction information</a:t>
            </a:r>
          </a:p>
          <a:p>
            <a:r>
              <a:rPr lang="en-CA" sz="1800" b="0" dirty="0"/>
              <a:t>Convert poorly structured operational data into usable fields</a:t>
            </a:r>
          </a:p>
          <a:p>
            <a:r>
              <a:rPr lang="en-CA" sz="1800" b="0" dirty="0"/>
              <a:t>Improve data quality before analysis</a:t>
            </a:r>
          </a:p>
          <a:p>
            <a:r>
              <a:rPr lang="en-CA" sz="1800" b="0" dirty="0"/>
              <a:t>Establish consistent formats across banking datasets</a:t>
            </a:r>
          </a:p>
          <a:p>
            <a:r>
              <a:rPr lang="en-CA" sz="1800" b="0" dirty="0"/>
              <a:t>Create a repeatable data-cleaning process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00AB6-0989-2A6C-B613-8CCEDBE3BA88}"/>
              </a:ext>
            </a:extLst>
          </p:cNvPr>
          <p:cNvSpPr txBox="1"/>
          <p:nvPr/>
        </p:nvSpPr>
        <p:spPr>
          <a:xfrm>
            <a:off x="254978" y="3741974"/>
            <a:ext cx="86837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/Users/</a:t>
            </a:r>
            <a:r>
              <a:rPr lang="en-US" sz="1000" dirty="0" err="1"/>
              <a:t>ashujauhari</a:t>
            </a:r>
            <a:r>
              <a:rPr lang="en-US" sz="1000" dirty="0"/>
              <a:t>/Data-2026/Client-2026/REVATURE-KPMG-</a:t>
            </a:r>
            <a:r>
              <a:rPr lang="en-US" sz="1000" dirty="0" err="1"/>
              <a:t>OperationAnalyst</a:t>
            </a:r>
            <a:r>
              <a:rPr lang="en-US" sz="1000" dirty="0"/>
              <a:t>/Week1-ExcelFoundation/Day3/KPMG_W1_Day3_Lab_DataCleaning.docx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F3574-CA9B-5C1F-B518-E7F156D8F959}"/>
              </a:ext>
            </a:extLst>
          </p:cNvPr>
          <p:cNvSpPr txBox="1"/>
          <p:nvPr/>
        </p:nvSpPr>
        <p:spPr>
          <a:xfrm>
            <a:off x="202223" y="4018085"/>
            <a:ext cx="8813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/Users/</a:t>
            </a:r>
            <a:r>
              <a:rPr lang="en-US" sz="1000" dirty="0" err="1"/>
              <a:t>ashujauhari</a:t>
            </a:r>
            <a:r>
              <a:rPr lang="en-US" sz="1000" dirty="0"/>
              <a:t>/Data-2026/Client-2026/REVATURE-KPMG-</a:t>
            </a:r>
            <a:r>
              <a:rPr lang="en-US" sz="1000" dirty="0" err="1"/>
              <a:t>OperationAnalyst</a:t>
            </a:r>
            <a:r>
              <a:rPr lang="en-US" sz="1000" dirty="0"/>
              <a:t>/Week1-ExcelFoundation/KPMG_W1_D2_BasicValidation_Lab_Manual.docx</a:t>
            </a:r>
          </a:p>
        </p:txBody>
      </p:sp>
    </p:spTree>
    <p:extLst>
      <p:ext uri="{BB962C8B-B14F-4D97-AF65-F5344CB8AC3E}">
        <p14:creationId xmlns:p14="http://schemas.microsoft.com/office/powerpoint/2010/main" val="2322373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1E3C6C-1668-E073-038B-7E040CD48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2" y="180242"/>
            <a:ext cx="8777435" cy="478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1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B7208-F956-D226-3D3E-A4E0AFE9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593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3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7C4F7-C632-4618-378F-9514BCBE1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30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0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4E81-EFA2-B78B-05C2-19FC6F50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BE88-D7EB-E22F-11C0-2AFD514DD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33ECD-B41B-4ED3-37CC-4C80C72E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4" y="143119"/>
            <a:ext cx="8869484" cy="491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3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9E6F-342B-F6FE-3FD4-0862D025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Remove duplicate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CCAB6-E04D-8500-6255-E8A4C30BE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646073"/>
              </p:ext>
            </p:extLst>
          </p:nvPr>
        </p:nvGraphicFramePr>
        <p:xfrm>
          <a:off x="628650" y="2176304"/>
          <a:ext cx="7886700" cy="109728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3429170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  <a:latin typeface="Helvetica" pitchFamily="2" charset="0"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Remove duplicates</a:t>
                      </a:r>
                    </a:p>
                    <a:p>
                      <a:pPr>
                        <a:buNone/>
                      </a:pPr>
                      <a:b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CA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7625" marR="476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440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DB18-5C49-3349-EF1C-6D38A9F1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C555-CCB1-8A58-1A06-D588E236A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Proper()</a:t>
            </a:r>
          </a:p>
          <a:p>
            <a:pPr lvl="1"/>
            <a:r>
              <a:rPr lang="en-CA" b="1" dirty="0"/>
              <a:t> </a:t>
            </a:r>
            <a:r>
              <a:rPr lang="en-CA" sz="1400" b="1" dirty="0"/>
              <a:t>PROPER(...)</a:t>
            </a:r>
            <a:r>
              <a:rPr lang="en-CA" sz="1400" dirty="0"/>
              <a:t> Capitalises the first letter of each word and lowercases the rest.</a:t>
            </a:r>
          </a:p>
          <a:p>
            <a:pPr lvl="1"/>
            <a:r>
              <a:rPr lang="en-CA" sz="1400" dirty="0"/>
              <a:t> "RAHUL MEHTA" → "Rahul Mehta"; ”</a:t>
            </a:r>
          </a:p>
          <a:p>
            <a:r>
              <a:rPr lang="en-US" dirty="0"/>
              <a:t>Trim()</a:t>
            </a:r>
          </a:p>
          <a:p>
            <a:pPr lvl="1"/>
            <a:r>
              <a:rPr lang="en-CA" dirty="0"/>
              <a:t> </a:t>
            </a:r>
            <a:r>
              <a:rPr lang="en-CA" sz="1400" dirty="0"/>
              <a:t>Removes leading and trailing spaces, and collapses any run of internal spaces down to a single space.</a:t>
            </a:r>
            <a:endParaRPr lang="en-US" sz="1400" dirty="0"/>
          </a:p>
          <a:p>
            <a:r>
              <a:rPr lang="en-US" dirty="0"/>
              <a:t>Clean()</a:t>
            </a:r>
          </a:p>
          <a:p>
            <a:pPr lvl="1"/>
            <a:r>
              <a:rPr lang="en-CA" sz="1400" dirty="0"/>
              <a:t>Strips non-printable control characters (ASCII 0–31) — the invisible junk that comes in from CSV exports, copy-paste from PDFs, or line breaks typed with </a:t>
            </a:r>
            <a:r>
              <a:rPr lang="en-CA" sz="1400" dirty="0" err="1"/>
              <a:t>Alt+Enter</a:t>
            </a:r>
            <a:r>
              <a:rPr lang="en-CA" sz="1400" dirty="0"/>
              <a:t>. It does not touch spaces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576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E1C-6D54-6057-D352-D4C96DC5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to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2D274-BDDF-7730-CD4F-ABB4D1408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33011"/>
            <a:ext cx="7886700" cy="1199314"/>
          </a:xfrm>
        </p:spPr>
        <p:txBody>
          <a:bodyPr/>
          <a:lstStyle/>
          <a:p>
            <a:r>
              <a:rPr lang="en-US" dirty="0"/>
              <a:t>Data -&gt; Text To Column -&gt; Delimiter -&gt; Specify the delimiter -&gt; 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607C7-3ADA-E135-36C1-DA79D19E3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1" y="668215"/>
            <a:ext cx="6011779" cy="258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87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BDEC-FB61-A4F7-428C-FAFBACE9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6C3D3-B136-4CCE-1864-EAE92C11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Clean Data Sheet</a:t>
            </a:r>
          </a:p>
          <a:p>
            <a:pPr lvl="1"/>
            <a:r>
              <a:rPr lang="en-CA" dirty="0"/>
              <a:t>Refer F3 Cell:  =IFERROR(VALUE(SUBSTITUTE(SUBSTITUTE(TRIM(Raw_Data!F2),"$",""),",","")),"CHECK")</a:t>
            </a:r>
          </a:p>
          <a:p>
            <a:pPr marL="0" indent="0">
              <a:buNone/>
            </a:pPr>
            <a:r>
              <a:rPr lang="en-CA" b="0" dirty="0"/>
              <a:t>This converts messy text amounts into real numbers:</a:t>
            </a:r>
          </a:p>
          <a:p>
            <a:r>
              <a:rPr lang="en-CA" dirty="0"/>
              <a:t>1. TRIM(Raw_Data!F2)</a:t>
            </a:r>
            <a:r>
              <a:rPr lang="en-CA" b="0" dirty="0"/>
              <a:t> Strips leading/trailing spaces and collapses internal double-spaces. Import files often carry a trailing space that alone is enough to break the conversion.</a:t>
            </a:r>
          </a:p>
          <a:p>
            <a:r>
              <a:rPr lang="en-CA" dirty="0"/>
              <a:t>2. SUBSTITUTE(..., "$", "")</a:t>
            </a:r>
            <a:r>
              <a:rPr lang="en-CA" b="0" dirty="0"/>
              <a:t> Deletes every $ sign. Your Raw_DataF3</a:t>
            </a:r>
          </a:p>
          <a:p>
            <a:r>
              <a:rPr lang="en-CA" dirty="0"/>
              <a:t> is the text "$8,500.00" — this makes it "8,500.00".</a:t>
            </a:r>
          </a:p>
          <a:p>
            <a:r>
              <a:rPr lang="en-CA" dirty="0"/>
              <a:t>3. SUBSTITUTE(..., ",", "")</a:t>
            </a:r>
            <a:r>
              <a:rPr lang="en-CA" b="0" dirty="0"/>
              <a:t> Deletes every comma (thousands separator) → "8500.00". The two SUBSTITUTEs are nested rather than combined because each one only handles a single find-and-replace.</a:t>
            </a:r>
          </a:p>
          <a:p>
            <a:r>
              <a:rPr lang="en-CA" dirty="0"/>
              <a:t>4. VALUE(...)</a:t>
            </a:r>
            <a:r>
              <a:rPr lang="en-CA" b="0" dirty="0"/>
              <a:t> Converts the resulting clean text string into an actual number: "8500.00" → </a:t>
            </a:r>
            <a:r>
              <a:rPr lang="en-CA" dirty="0"/>
              <a:t>8500</a:t>
            </a:r>
            <a:r>
              <a:rPr lang="en-CA" b="0" dirty="0"/>
              <a:t>. Until this step everything is still text and would be silently ignored by SUM.</a:t>
            </a:r>
          </a:p>
          <a:p>
            <a:r>
              <a:rPr lang="en-CA" dirty="0"/>
              <a:t>5. IFERROR(..., "CHECK")</a:t>
            </a:r>
            <a:r>
              <a:rPr lang="en-CA" b="0" dirty="0"/>
              <a:t> The safety net. If what's left still isn't numeric — e.g. "N/A", "pending", "—", a blank, or a stray "USD" — VALUE returns #VALUE!, and IFERROR swaps that error for the flag </a:t>
            </a:r>
            <a:r>
              <a:rPr lang="en-CA" dirty="0"/>
              <a:t>"CHECK"</a:t>
            </a:r>
            <a:r>
              <a:rPr lang="en-CA" b="0" dirty="0"/>
              <a:t> so you get a readable exception instead of an error cascading into your totals.</a:t>
            </a:r>
          </a:p>
          <a:p>
            <a:pPr lvl="1"/>
            <a:endParaRPr lang="en-CA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384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60C5-0C7A-6836-1D3D-3AB80F8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CB5AA-27DD-56C9-1422-29F6B396E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Refer: H4</a:t>
            </a:r>
          </a:p>
          <a:p>
            <a:pPr lvl="1"/>
            <a:r>
              <a:rPr lang="en-US" sz="1200" dirty="0"/>
              <a:t>=IF(TRIM(Raw_Data!H4)="","UNKNOWN",TRIM(Raw_Data!H4))</a:t>
            </a:r>
          </a:p>
          <a:p>
            <a:r>
              <a:rPr lang="en-US" dirty="0"/>
              <a:t>Refer J3:</a:t>
            </a:r>
          </a:p>
          <a:p>
            <a:pPr lvl="1"/>
            <a:r>
              <a:rPr lang="en-US" sz="1200" dirty="0"/>
              <a:t>=PROPER(TRIM(CLEAN(Raw_Data!J2)))</a:t>
            </a:r>
          </a:p>
        </p:txBody>
      </p:sp>
    </p:spTree>
    <p:extLst>
      <p:ext uri="{BB962C8B-B14F-4D97-AF65-F5344CB8AC3E}">
        <p14:creationId xmlns:p14="http://schemas.microsoft.com/office/powerpoint/2010/main" val="3650715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5CF7-FC41-C0C2-6386-A38F7AF3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Handling blanks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9EDF8-7093-D212-40C8-0C4D1D55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Handling blanks</a:t>
            </a:r>
            <a:endParaRPr lang="en-CA" sz="1400" b="0" dirty="0"/>
          </a:p>
          <a:p>
            <a:pPr lvl="2"/>
            <a:r>
              <a:rPr lang="en-CA" sz="1400" dirty="0" err="1"/>
              <a:t>Branch_Code</a:t>
            </a:r>
            <a:r>
              <a:rPr lang="en-CA" sz="1400" dirty="0"/>
              <a:t> (column H)</a:t>
            </a:r>
            <a:r>
              <a:rPr lang="en-CA" sz="1400" b="0" dirty="0"/>
              <a:t> — truly empty cells: Raw_Data-Day3 H4</a:t>
            </a:r>
          </a:p>
          <a:p>
            <a:pPr lvl="2"/>
            <a:r>
              <a:rPr lang="en-CA" sz="1400" b="0" dirty="0"/>
              <a:t>, H9, H14, H17, H22, H26 (6 of 30 rows). Decide: fill from the customer's other rows, or tag UNKNOWN — don't leave silent gaps.</a:t>
            </a:r>
          </a:p>
          <a:p>
            <a:pPr lvl="2"/>
            <a:r>
              <a:rPr lang="en-CA" sz="1400" dirty="0"/>
              <a:t>Amount F13 = N/A</a:t>
            </a:r>
            <a:r>
              <a:rPr lang="en-CA" sz="1400" b="0" dirty="0"/>
              <a:t> — a disguised blank. It looks populated but breaks SUM/AVERAGE; convert to a real blank or 0 with a flag.</a:t>
            </a:r>
          </a:p>
          <a:p>
            <a:pPr lvl="2"/>
            <a:r>
              <a:rPr lang="en-CA" sz="1400" dirty="0"/>
              <a:t>Whitespace-only look-alikes</a:t>
            </a:r>
            <a:r>
              <a:rPr lang="en-CA" sz="1400" b="0" dirty="0"/>
              <a:t> — values like CUST-1020 (A23) and Pending credit (J13) read as filled but need TRIM before any blank check.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56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197F-AEC2-A12C-6C1A-3B6721D6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Inconsistent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7121-2E11-EF1A-C584-69FDB7B5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Inconsistent formats</a:t>
            </a:r>
            <a:endParaRPr lang="en-CA" b="0" dirty="0"/>
          </a:p>
          <a:p>
            <a:r>
              <a:rPr lang="en-CA" sz="1500" dirty="0" err="1">
                <a:solidFill>
                  <a:srgbClr val="EB793D"/>
                </a:solidFill>
                <a:latin typeface="+mn-lt"/>
                <a:ea typeface="+mn-ea"/>
                <a:cs typeface="+mn-cs"/>
              </a:rPr>
              <a:t>Transaction_Date</a:t>
            </a:r>
            <a:r>
              <a:rPr lang="en-CA" sz="150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 (D) </a:t>
            </a:r>
            <a:r>
              <a:rPr lang="en-CA" sz="18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— 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three formats mixed: ISO 2026-08-01 (most rows), 01/08/2026 (D4, D14), 25/08/2026 (D31), 08-Aug-2026 (D9), 21-Aug-2026 (D22). Also stored as text, so they won't sort chronologically.</a:t>
            </a:r>
          </a:p>
          <a:p>
            <a:r>
              <a:rPr lang="en-CA" sz="1500" dirty="0" err="1">
                <a:solidFill>
                  <a:srgbClr val="EB793D"/>
                </a:solidFill>
                <a:latin typeface="+mn-lt"/>
                <a:ea typeface="+mn-ea"/>
                <a:cs typeface="+mn-cs"/>
              </a:rPr>
              <a:t>Transaction_Type</a:t>
            </a:r>
            <a:r>
              <a:rPr lang="en-CA" sz="150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 (E) 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— casing all over: </a:t>
            </a:r>
            <a:r>
              <a:rPr lang="en-CA" sz="1500" b="0" dirty="0">
                <a:solidFill>
                  <a:srgbClr val="EB793D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Credit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CA" sz="1500" b="0" dirty="0">
                <a:solidFill>
                  <a:srgbClr val="EB793D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CREDIT (E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16, E27), credit (E4, E23, E31), DEBIT(E3, E7, E19, E22), debit, plus trailing spaces in E26 (Debit  ).</a:t>
            </a:r>
          </a:p>
          <a:p>
            <a:r>
              <a:rPr lang="en-CA" sz="1500" dirty="0" err="1">
                <a:solidFill>
                  <a:srgbClr val="EB793D"/>
                </a:solidFill>
                <a:latin typeface="+mn-lt"/>
                <a:ea typeface="+mn-ea"/>
                <a:cs typeface="+mn-cs"/>
              </a:rPr>
              <a:t>Customer_Name</a:t>
            </a:r>
            <a:r>
              <a:rPr lang="en-CA" sz="150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 (C) 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— </a:t>
            </a:r>
            <a:r>
              <a:rPr lang="en-CA" sz="1500" b="0" dirty="0">
                <a:solidFill>
                  <a:srgbClr val="EB793D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Priya Sharma vs MEENA KRISHNAN 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vs </a:t>
            </a:r>
            <a:r>
              <a:rPr lang="en-CA" sz="1500" b="0" dirty="0" err="1">
                <a:solidFill>
                  <a:srgbClr val="EB793D"/>
                </a:solidFill>
                <a:latin typeface="+mn-lt"/>
                <a:ea typeface="+mn-ea"/>
                <a:cs typeface="+mn-cs"/>
              </a:rPr>
              <a:t>ananya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CA" sz="1500" b="0" dirty="0" err="1">
                <a:solidFill>
                  <a:srgbClr val="EB793D"/>
                </a:solidFill>
                <a:latin typeface="+mn-lt"/>
                <a:ea typeface="+mn-ea"/>
                <a:cs typeface="+mn-cs"/>
              </a:rPr>
              <a:t>iyer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; padded values RAHUL MEHTA (C3, C19), Arjun Bose (C11); double internal spaces in C18 (Rohit Kumar).</a:t>
            </a:r>
          </a:p>
          <a:p>
            <a:r>
              <a:rPr lang="en-CA" sz="150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Amount (F) 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— 15000 vs $8,500.00 vs 1,200.50vs $600 (covered in the standardization list).</a:t>
            </a:r>
          </a:p>
          <a:p>
            <a:r>
              <a:rPr lang="en-CA" sz="150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Notes (J) </a:t>
            </a:r>
            <a:r>
              <a:rPr lang="en-CA" sz="1500" b="0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— leading/trailing padding (J3, J13, J17, J19, J23, J29), double spaces (J8 Coffee shop payment), and a stray system tag in J4 (Loan disbursement [SYS]).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48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C48A-D65A-F449-364F-2B361D60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600"/>
            <a:ext cx="7886700" cy="1093537"/>
          </a:xfrm>
        </p:spPr>
        <p:txBody>
          <a:bodyPr>
            <a:noAutofit/>
          </a:bodyPr>
          <a:lstStyle/>
          <a:p>
            <a:r>
              <a:rPr lang="en-US" sz="3600" dirty="0"/>
              <a:t>Standardizing Ids and Financial fields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0A334D-A48B-A3D7-BB30-220DC2DCF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368271"/>
              </p:ext>
            </p:extLst>
          </p:nvPr>
        </p:nvGraphicFramePr>
        <p:xfrm>
          <a:off x="628650" y="817563"/>
          <a:ext cx="7886700" cy="27432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69162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7625" marR="476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84977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3027C9-4685-53F0-74D8-20F98A01590F}"/>
              </a:ext>
            </a:extLst>
          </p:cNvPr>
          <p:cNvSpPr txBox="1">
            <a:spLocks/>
          </p:cNvSpPr>
          <p:nvPr/>
        </p:nvSpPr>
        <p:spPr>
          <a:xfrm>
            <a:off x="628650" y="1371599"/>
            <a:ext cx="7886700" cy="326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1" kern="1200">
                <a:solidFill>
                  <a:srgbClr val="7C2D0A"/>
                </a:solidFill>
                <a:latin typeface="Cambria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EB793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F201A4-F683-7422-D311-9DF7588E723B}"/>
              </a:ext>
            </a:extLst>
          </p:cNvPr>
          <p:cNvSpPr txBox="1">
            <a:spLocks/>
          </p:cNvSpPr>
          <p:nvPr/>
        </p:nvSpPr>
        <p:spPr>
          <a:xfrm>
            <a:off x="492292" y="1807846"/>
            <a:ext cx="7886700" cy="2824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1" kern="1200">
                <a:solidFill>
                  <a:srgbClr val="7C2D0A"/>
                </a:solidFill>
                <a:latin typeface="Cambria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EB793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B71D7-5BF1-D978-FDAA-50FB07FF233F}"/>
              </a:ext>
            </a:extLst>
          </p:cNvPr>
          <p:cNvSpPr txBox="1"/>
          <p:nvPr/>
        </p:nvSpPr>
        <p:spPr>
          <a:xfrm>
            <a:off x="697832" y="1406148"/>
            <a:ext cx="781751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CA" b="1" i="0" dirty="0">
                <a:solidFill>
                  <a:srgbClr val="121212"/>
                </a:solidFill>
                <a:effectLst/>
                <a:latin typeface="system-ui"/>
              </a:rPr>
              <a:t>IDs (</a:t>
            </a:r>
            <a:r>
              <a:rPr lang="en-CA" b="1" i="0" dirty="0" err="1">
                <a:solidFill>
                  <a:srgbClr val="121212"/>
                </a:solidFill>
                <a:effectLst/>
                <a:latin typeface="system-ui"/>
              </a:rPr>
              <a:t>Customer_ID</a:t>
            </a:r>
            <a:r>
              <a:rPr lang="en-CA" b="1" i="0" dirty="0">
                <a:solidFill>
                  <a:srgbClr val="121212"/>
                </a:solidFill>
                <a:effectLst/>
                <a:latin typeface="system-ui"/>
              </a:rPr>
              <a:t>, column A)</a:t>
            </a:r>
            <a:endParaRPr lang="en-CA" sz="1200" b="1" i="0" dirty="0">
              <a:solidFill>
                <a:srgbClr val="121212"/>
              </a:solidFill>
              <a:effectLst/>
              <a:latin typeface="system-ui"/>
            </a:endParaRPr>
          </a:p>
          <a:p>
            <a:pPr algn="l">
              <a:buNone/>
            </a:pPr>
            <a:endParaRPr lang="en-CA" sz="1200" b="0" i="0" dirty="0">
              <a:solidFill>
                <a:srgbClr val="121212"/>
              </a:solidFill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en-CA" sz="1400" dirty="0">
                <a:solidFill>
                  <a:srgbClr val="EB793D"/>
                </a:solidFill>
              </a:rPr>
              <a:t>  Missing CUST- prefix — stored as bare numbers: A4 (1003), A12 (1011), A14    (1003), A17 (1015),</a:t>
            </a:r>
          </a:p>
          <a:p>
            <a:pPr algn="l"/>
            <a:r>
              <a:rPr lang="en-CA" sz="1400" dirty="0">
                <a:solidFill>
                  <a:srgbClr val="EB793D"/>
                </a:solidFill>
              </a:rPr>
              <a:t>	    A25 (1022), A31 (1028).</a:t>
            </a:r>
          </a:p>
          <a:p>
            <a:pPr algn="l">
              <a:buFont typeface="+mj-lt"/>
              <a:buAutoNum type="arabicPeriod"/>
            </a:pPr>
            <a:r>
              <a:rPr lang="en-CA" sz="1400" dirty="0">
                <a:solidFill>
                  <a:srgbClr val="EB793D"/>
                </a:solidFill>
              </a:rPr>
              <a:t> Space inside the prefix: A7 (CUST -1006), A27 (CUST -1024).</a:t>
            </a:r>
          </a:p>
          <a:p>
            <a:pPr algn="l">
              <a:buFont typeface="+mj-lt"/>
              <a:buAutoNum type="arabicPeriod"/>
            </a:pPr>
            <a:r>
              <a:rPr lang="en-CA" sz="1400" dirty="0">
                <a:solidFill>
                  <a:srgbClr val="EB793D"/>
                </a:solidFill>
              </a:rPr>
              <a:t> Leading whitespace: A23 ( CUST-1020).</a:t>
            </a:r>
          </a:p>
          <a:p>
            <a:pPr algn="l">
              <a:buFont typeface="+mj-lt"/>
              <a:buAutoNum type="arabicPeriod"/>
            </a:pPr>
            <a:r>
              <a:rPr lang="en-CA" sz="1400" dirty="0">
                <a:solidFill>
                  <a:srgbClr val="EB793D"/>
                </a:solidFill>
              </a:rPr>
              <a:t> Target format: CUST-####, trimmed, no internal spaces.</a:t>
            </a:r>
          </a:p>
          <a:p>
            <a:pPr>
              <a:buFont typeface="+mj-lt"/>
              <a:buAutoNum type="arabicPeriod"/>
            </a:pPr>
            <a:r>
              <a:rPr lang="en-CA" sz="1400" dirty="0">
                <a:solidFill>
                  <a:srgbClr val="EB793D"/>
                </a:solidFill>
              </a:rPr>
              <a:t> Currency symbol embedded in the value: F3, F9, F10, F16, F19, F22, F27, F28 (e.g. $45,000). </a:t>
            </a:r>
          </a:p>
          <a:p>
            <a:r>
              <a:rPr lang="en-CA" sz="1400" dirty="0">
                <a:solidFill>
                  <a:srgbClr val="EB793D"/>
                </a:solidFill>
              </a:rPr>
              <a:t>6. Thousands separators making the value text: F7 (1,200.50), F20 (1,050), F24 (12,750). </a:t>
            </a:r>
          </a:p>
          <a:p>
            <a:r>
              <a:rPr lang="en-CA" sz="1400" dirty="0">
                <a:solidFill>
                  <a:srgbClr val="EB793D"/>
                </a:solidFill>
              </a:rPr>
              <a:t>7. Non-numeric placeholder: F13 (N/A) — needs a real value or a blank. </a:t>
            </a:r>
          </a:p>
          <a:p>
            <a:r>
              <a:rPr lang="en-CA" sz="1400" dirty="0">
                <a:solidFill>
                  <a:srgbClr val="EB793D"/>
                </a:solidFill>
              </a:rPr>
              <a:t>8. Mixed decimal precision — some values carry .00, most have none. </a:t>
            </a:r>
          </a:p>
          <a:p>
            <a:r>
              <a:rPr lang="en-CA" sz="1400" dirty="0">
                <a:solidFill>
                  <a:srgbClr val="EB793D"/>
                </a:solidFill>
              </a:rPr>
              <a:t>9. Currency mismatch: column G says INR for every row, but amounts are written with $. </a:t>
            </a:r>
          </a:p>
          <a:p>
            <a:r>
              <a:rPr lang="en-CA" sz="1400" dirty="0">
                <a:solidFill>
                  <a:srgbClr val="EB793D"/>
                </a:solidFill>
              </a:rPr>
              <a:t>10. Entire column F is stored as text, so it won't sum — convert to numbers and apply one format (e.g. ₹#,##0.00).</a:t>
            </a:r>
          </a:p>
          <a:p>
            <a:pPr>
              <a:buNone/>
            </a:pPr>
            <a:br>
              <a:rPr lang="en-CA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77941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73CD5-598B-9EB1-12ED-B76A3D6D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2FD72B7-C342-D439-329C-FC8796A16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29"/>
            <a:ext cx="9144000" cy="5135554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C696F0EF-9BF3-E890-B5A7-1CD1B4D14A29}"/>
              </a:ext>
            </a:extLst>
          </p:cNvPr>
          <p:cNvSpPr/>
          <p:nvPr/>
        </p:nvSpPr>
        <p:spPr>
          <a:xfrm>
            <a:off x="79022" y="650789"/>
            <a:ext cx="8952089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Pivot Table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7448DAA-E042-AEE5-5208-FBD9E9DFACB2}"/>
              </a:ext>
            </a:extLst>
          </p:cNvPr>
          <p:cNvSpPr/>
          <p:nvPr/>
        </p:nvSpPr>
        <p:spPr>
          <a:xfrm>
            <a:off x="112889" y="352738"/>
            <a:ext cx="57849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– Day4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033FF1-803A-DAEE-7345-0F232DF36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002009"/>
              </p:ext>
            </p:extLst>
          </p:nvPr>
        </p:nvGraphicFramePr>
        <p:xfrm>
          <a:off x="518746" y="1645920"/>
          <a:ext cx="7996604" cy="2589689"/>
        </p:xfrm>
        <a:graphic>
          <a:graphicData uri="http://schemas.openxmlformats.org/drawingml/2006/table">
            <a:tbl>
              <a:tblPr/>
              <a:tblGrid>
                <a:gridCol w="7996604">
                  <a:extLst>
                    <a:ext uri="{9D8B030D-6E8A-4147-A177-3AD203B41FA5}">
                      <a16:colId xmlns:a16="http://schemas.microsoft.com/office/drawing/2014/main" val="1943921594"/>
                    </a:ext>
                  </a:extLst>
                </a:gridCol>
              </a:tblGrid>
              <a:tr h="2589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  <a:latin typeface="Helvetica" pitchFamily="2" charset="0"/>
                        </a:rPr>
                        <a:t> 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Creating pivot tables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Grouping &amp;summarizing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Filtering &amp; slicing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Pivot charts(basic)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Transaction summary use cases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Reporting use cases (finance &amp;AML)</a:t>
                      </a:r>
                    </a:p>
                    <a:p>
                      <a:pPr>
                        <a:buNone/>
                      </a:pPr>
                      <a:b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CA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7625" marR="476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01332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4FBAACC-F081-5E60-AF7C-C724BEEB9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750" y="36283"/>
            <a:ext cx="18288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1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AB2D-1931-E648-6AF8-748AABF3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F968-C533-ED17-05BF-ABB4466E8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0" dirty="0"/>
              <a:t>Summarize thousands of transactions quickly</a:t>
            </a:r>
          </a:p>
          <a:p>
            <a:r>
              <a:rPr lang="en-CA" b="0" dirty="0"/>
              <a:t>Identify monthly and branch-level transaction patterns</a:t>
            </a:r>
          </a:p>
          <a:p>
            <a:r>
              <a:rPr lang="en-CA" b="0" dirty="0"/>
              <a:t>Perform interactive analysis of banking transactions</a:t>
            </a:r>
          </a:p>
          <a:p>
            <a:r>
              <a:rPr lang="en-CA" b="0" dirty="0"/>
              <a:t>Present transaction trends visually to management</a:t>
            </a:r>
          </a:p>
          <a:p>
            <a:r>
              <a:rPr lang="en-CA" b="0" dirty="0"/>
              <a:t>Answer Operations Manager's transaction questions</a:t>
            </a:r>
          </a:p>
          <a:p>
            <a:r>
              <a:rPr lang="en-CA" b="0" dirty="0"/>
              <a:t>Prepare basic Finance-oriented management reports</a:t>
            </a:r>
          </a:p>
          <a:p>
            <a:r>
              <a:rPr lang="en-CA" b="0" dirty="0"/>
              <a:t>Support initial AML analysis and escalation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40009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2F4F-6AB9-F25E-EC27-B031328D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7"/>
            <a:ext cx="7886700" cy="993775"/>
          </a:xfrm>
        </p:spPr>
        <p:txBody>
          <a:bodyPr>
            <a:normAutofit/>
          </a:bodyPr>
          <a:lstStyle/>
          <a:p>
            <a:r>
              <a:rPr lang="en-CA" sz="3200" dirty="0"/>
              <a:t>Business Scenario: Retail Bank Transaction Analysis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8314F-F485-A178-8594-3D5CA77E8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3717925"/>
          </a:xfrm>
        </p:spPr>
        <p:txBody>
          <a:bodyPr>
            <a:normAutofit/>
          </a:bodyPr>
          <a:lstStyle/>
          <a:p>
            <a:r>
              <a:rPr lang="en-CA" sz="1400" b="0" dirty="0"/>
              <a:t>Imagine a bank has received 50,000 customer transactions from different branches during the month</a:t>
            </a:r>
            <a:endParaRPr lang="en-US" sz="14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DA4E14-67E6-C3FE-DDDC-AD0898DF7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55160"/>
              </p:ext>
            </p:extLst>
          </p:nvPr>
        </p:nvGraphicFramePr>
        <p:xfrm>
          <a:off x="202222" y="1538656"/>
          <a:ext cx="8836271" cy="2237508"/>
        </p:xfrm>
        <a:graphic>
          <a:graphicData uri="http://schemas.openxmlformats.org/drawingml/2006/table">
            <a:tbl>
              <a:tblPr/>
              <a:tblGrid>
                <a:gridCol w="1104534">
                  <a:extLst>
                    <a:ext uri="{9D8B030D-6E8A-4147-A177-3AD203B41FA5}">
                      <a16:colId xmlns:a16="http://schemas.microsoft.com/office/drawing/2014/main" val="768640253"/>
                    </a:ext>
                  </a:extLst>
                </a:gridCol>
                <a:gridCol w="1104534">
                  <a:extLst>
                    <a:ext uri="{9D8B030D-6E8A-4147-A177-3AD203B41FA5}">
                      <a16:colId xmlns:a16="http://schemas.microsoft.com/office/drawing/2014/main" val="1423471696"/>
                    </a:ext>
                  </a:extLst>
                </a:gridCol>
                <a:gridCol w="1104534">
                  <a:extLst>
                    <a:ext uri="{9D8B030D-6E8A-4147-A177-3AD203B41FA5}">
                      <a16:colId xmlns:a16="http://schemas.microsoft.com/office/drawing/2014/main" val="1536480393"/>
                    </a:ext>
                  </a:extLst>
                </a:gridCol>
                <a:gridCol w="1332888">
                  <a:extLst>
                    <a:ext uri="{9D8B030D-6E8A-4147-A177-3AD203B41FA5}">
                      <a16:colId xmlns:a16="http://schemas.microsoft.com/office/drawing/2014/main" val="4178018229"/>
                    </a:ext>
                  </a:extLst>
                </a:gridCol>
                <a:gridCol w="1131837">
                  <a:extLst>
                    <a:ext uri="{9D8B030D-6E8A-4147-A177-3AD203B41FA5}">
                      <a16:colId xmlns:a16="http://schemas.microsoft.com/office/drawing/2014/main" val="677624467"/>
                    </a:ext>
                  </a:extLst>
                </a:gridCol>
                <a:gridCol w="842282">
                  <a:extLst>
                    <a:ext uri="{9D8B030D-6E8A-4147-A177-3AD203B41FA5}">
                      <a16:colId xmlns:a16="http://schemas.microsoft.com/office/drawing/2014/main" val="3109675343"/>
                    </a:ext>
                  </a:extLst>
                </a:gridCol>
                <a:gridCol w="1111128">
                  <a:extLst>
                    <a:ext uri="{9D8B030D-6E8A-4147-A177-3AD203B41FA5}">
                      <a16:colId xmlns:a16="http://schemas.microsoft.com/office/drawing/2014/main" val="248127760"/>
                    </a:ext>
                  </a:extLst>
                </a:gridCol>
                <a:gridCol w="1104534">
                  <a:extLst>
                    <a:ext uri="{9D8B030D-6E8A-4147-A177-3AD203B41FA5}">
                      <a16:colId xmlns:a16="http://schemas.microsoft.com/office/drawing/2014/main" val="3142850093"/>
                    </a:ext>
                  </a:extLst>
                </a:gridCol>
              </a:tblGrid>
              <a:tr h="468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solidFill>
                            <a:srgbClr val="C00000"/>
                          </a:solidFill>
                        </a:rPr>
                        <a:t>Transaction ID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solidFill>
                            <a:srgbClr val="C00000"/>
                          </a:solidFill>
                        </a:rPr>
                        <a:t>Date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solidFill>
                            <a:srgbClr val="C00000"/>
                          </a:solidFill>
                        </a:rPr>
                        <a:t>Branch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solidFill>
                            <a:srgbClr val="C00000"/>
                          </a:solidFill>
                        </a:rPr>
                        <a:t>Customer ID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solidFill>
                            <a:srgbClr val="C00000"/>
                          </a:solidFill>
                        </a:rPr>
                        <a:t>Transaction Type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solidFill>
                            <a:srgbClr val="C00000"/>
                          </a:solidFill>
                        </a:rPr>
                        <a:t>Channel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>
                          <a:solidFill>
                            <a:srgbClr val="C00000"/>
                          </a:solidFill>
                        </a:rPr>
                        <a:t>Amount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solidFill>
                            <a:srgbClr val="C00000"/>
                          </a:solidFill>
                        </a:rPr>
                        <a:t>Risk Flag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47966"/>
                  </a:ext>
                </a:extLst>
              </a:tr>
              <a:tr h="3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TXN001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01-Sep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Pune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CUST-101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Deposit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Branch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₹25,000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No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300861"/>
                  </a:ext>
                </a:extLst>
              </a:tr>
              <a:tr h="42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TXN002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01-Sep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Mumbai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CUST-102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Withdrawal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ATM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₹15,000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No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553437"/>
                  </a:ext>
                </a:extLst>
              </a:tr>
              <a:tr h="3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TXN003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02-Sep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Pune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CUST-103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Transfer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Online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₹85,000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Yes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176960"/>
                  </a:ext>
                </a:extLst>
              </a:tr>
              <a:tr h="3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TXN004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02-Sep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Delhi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CUST-104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Deposit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Branch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₹10,000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No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940869"/>
                  </a:ext>
                </a:extLst>
              </a:tr>
              <a:tr h="3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TXN005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03-Sep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Mumbai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CUST-105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Transfer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Online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₹2,50,000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Yes</a:t>
                      </a:r>
                    </a:p>
                  </a:txBody>
                  <a:tcPr marL="72496" marR="72496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2836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FE678D-E3E3-C203-2223-65E641B4F281}"/>
              </a:ext>
            </a:extLst>
          </p:cNvPr>
          <p:cNvSpPr txBox="1"/>
          <p:nvPr/>
        </p:nvSpPr>
        <p:spPr>
          <a:xfrm>
            <a:off x="202222" y="3776165"/>
            <a:ext cx="56314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Management now asks:</a:t>
            </a:r>
          </a:p>
          <a:p>
            <a:r>
              <a:rPr lang="en-CA" sz="1200" b="1" dirty="0"/>
              <a:t>"Where is our transaction volume coming from, which branches/channels are </a:t>
            </a:r>
          </a:p>
          <a:p>
            <a:r>
              <a:rPr lang="en-CA" sz="1200" b="1" dirty="0"/>
              <a:t>generating the most activity, and where should Operations and AML teams </a:t>
            </a:r>
          </a:p>
          <a:p>
            <a:r>
              <a:rPr lang="en-CA" sz="1200" b="1" dirty="0"/>
              <a:t>investigate?”</a:t>
            </a:r>
          </a:p>
          <a:p>
            <a:endParaRPr lang="en-CA" sz="1200" dirty="0"/>
          </a:p>
          <a:p>
            <a:r>
              <a:rPr lang="en-CA" sz="1200" dirty="0"/>
              <a:t>This is where PivotTables become useful.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09484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F155-D80D-0848-B5E6-24ED2D47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702B6-DEFD-5F9A-647F-F5D76EA18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The Operations Manager wants to know:</a:t>
            </a:r>
          </a:p>
          <a:p>
            <a:r>
              <a:rPr lang="en-CA" sz="1800" b="0" dirty="0"/>
              <a:t>How much transaction value is being processed by each branch?</a:t>
            </a:r>
          </a:p>
          <a:p>
            <a:pPr marL="0" indent="0">
              <a:buNone/>
            </a:pPr>
            <a:r>
              <a:rPr lang="en-CA" sz="1800" dirty="0"/>
              <a:t>Instead of manually adding thousands of transactions, the analyst creates a PivotTable.</a:t>
            </a:r>
          </a:p>
          <a:p>
            <a:r>
              <a:rPr lang="en-CA" sz="1400" b="0" dirty="0"/>
              <a:t>PivotTable setup</a:t>
            </a:r>
          </a:p>
          <a:p>
            <a:r>
              <a:rPr lang="en-CA" sz="1400" b="0" dirty="0"/>
              <a:t>Rows → Branch </a:t>
            </a:r>
          </a:p>
          <a:p>
            <a:r>
              <a:rPr lang="en-CA" sz="1400" b="0" dirty="0"/>
              <a:t>Values → Sum of Amount </a:t>
            </a:r>
          </a:p>
          <a:p>
            <a:r>
              <a:rPr lang="en-CA" sz="1400" b="0" dirty="0"/>
              <a:t>Values → Count of Transaction ID</a:t>
            </a:r>
          </a:p>
          <a:p>
            <a:endParaRPr lang="en-CA" sz="1800" b="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7091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0049-9677-7FA6-8C70-458F3019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 pivot table on clean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B41E-168C-42C4-48FB-98110BA17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highlight>
                  <a:srgbClr val="EB793D"/>
                </a:highlight>
              </a:rPr>
              <a:t>1. Transaction Type Perspective</a:t>
            </a:r>
          </a:p>
          <a:p>
            <a:pPr marL="0" indent="0">
              <a:buNone/>
            </a:pPr>
            <a:r>
              <a:rPr lang="en-CA" dirty="0"/>
              <a:t>How are transactions divided between Credit and Debit?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57882-B528-CFAE-9302-7DE2434A5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036" y="1677970"/>
            <a:ext cx="5257800" cy="32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25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6253-DDE5-D3F1-3A7D-9F5A28DB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93A6-33CA-CF06-877C-43DB283A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 pivot table on clean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04A6-8650-589B-A3AE-F2D8B3B20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highlight>
                  <a:srgbClr val="EB793D"/>
                </a:highlight>
              </a:rPr>
              <a:t>1. Branch Perspective</a:t>
            </a:r>
            <a:endParaRPr lang="en-CA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CA" dirty="0"/>
              <a:t>Which branches are handling the transaction activity?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59208-5893-E12A-FD09-2F940810A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1679460"/>
            <a:ext cx="4741636" cy="1784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86DEA-6BB8-B0D0-C33F-A554F27FA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063" y="1583871"/>
            <a:ext cx="2504867" cy="32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07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A598-D83F-CF18-FE9C-9DE398DD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 pivot table on clean sheet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4468C-8577-07A8-FB7A-CCB3A5CF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9" y="668215"/>
            <a:ext cx="5563903" cy="1810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9AC90D-8DB3-CA56-A84E-2FC9D8C04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32" y="817685"/>
            <a:ext cx="2477918" cy="442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6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70E2-730B-26D8-FA2F-864B78A1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D85AB-1C5A-EE16-7714-6BC71A5E8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Sort by </a:t>
            </a:r>
            <a:r>
              <a:rPr lang="en-CA" dirty="0" err="1"/>
              <a:t>Branch_Code_Clean</a:t>
            </a:r>
            <a:r>
              <a:rPr lang="en-CA" dirty="0"/>
              <a:t>. </a:t>
            </a:r>
          </a:p>
          <a:p>
            <a:r>
              <a:rPr lang="en-CA" dirty="0"/>
              <a:t>Select the rows belonging to BRN-01. </a:t>
            </a:r>
          </a:p>
          <a:p>
            <a:r>
              <a:rPr lang="en-CA" dirty="0"/>
              <a:t>Go to Data → Group → Group. </a:t>
            </a:r>
          </a:p>
          <a:p>
            <a:r>
              <a:rPr lang="en-CA" dirty="0"/>
              <a:t>Select the rows belonging to BRN-02. </a:t>
            </a:r>
          </a:p>
          <a:p>
            <a:r>
              <a:rPr lang="en-CA" dirty="0"/>
              <a:t>Group them. </a:t>
            </a:r>
          </a:p>
          <a:p>
            <a:r>
              <a:rPr lang="en-CA" dirty="0"/>
              <a:t>Repeat for BRN-03, BRN-04, BRN-05, UNKNOWN, etc.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81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67C3-9C42-D43D-DE7A-2ECFCCC83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988B-312F-DE6C-64AF-ADCD3F786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the data A2 to J31</a:t>
            </a:r>
          </a:p>
          <a:p>
            <a:r>
              <a:rPr lang="en-US" dirty="0"/>
              <a:t>Data-&gt;Sort -&gt; Branch code</a:t>
            </a:r>
          </a:p>
          <a:p>
            <a:r>
              <a:rPr lang="en-US" dirty="0"/>
              <a:t>Table -&gt; Convert to table </a:t>
            </a:r>
          </a:p>
        </p:txBody>
      </p:sp>
    </p:spTree>
    <p:extLst>
      <p:ext uri="{BB962C8B-B14F-4D97-AF65-F5344CB8AC3E}">
        <p14:creationId xmlns:p14="http://schemas.microsoft.com/office/powerpoint/2010/main" val="143188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3E0C-A2BC-B64E-8421-46AA8869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398B-772F-D5AB-4625-980C0021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68215"/>
            <a:ext cx="7886700" cy="3964110"/>
          </a:xfrm>
        </p:spPr>
        <p:txBody>
          <a:bodyPr>
            <a:normAutofit/>
          </a:bodyPr>
          <a:lstStyle/>
          <a:p>
            <a:r>
              <a:rPr lang="en-US" sz="1050" dirty="0"/>
              <a:t>When we have multiple branch code </a:t>
            </a:r>
          </a:p>
          <a:p>
            <a:r>
              <a:rPr lang="en-CA" sz="1050" dirty="0"/>
              <a:t>Sort → Subtotal → Outline/Group</a:t>
            </a:r>
            <a:endParaRPr lang="en-US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6AAED-B43A-DC40-9E9E-1243C4EB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91" y="1154897"/>
            <a:ext cx="8335737" cy="396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30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D53A-F490-8811-873F-06C357AB7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21270-B413-8225-D95F-03F5B3601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0" dirty="0"/>
              <a:t>Filtering means temporarily showing only the rows that meet a specific condition and hiding the other rows.</a:t>
            </a:r>
          </a:p>
          <a:p>
            <a:r>
              <a:rPr lang="en-CA" dirty="0"/>
              <a:t>Suppose you want to see only Credit transactions.</a:t>
            </a:r>
          </a:p>
          <a:p>
            <a:pPr lvl="2"/>
            <a:r>
              <a:rPr lang="en-CA" dirty="0"/>
              <a:t>Select your data. </a:t>
            </a:r>
          </a:p>
          <a:p>
            <a:pPr lvl="2"/>
            <a:r>
              <a:rPr lang="en-CA" dirty="0"/>
              <a:t>Go to Data → Filter. </a:t>
            </a:r>
          </a:p>
          <a:p>
            <a:pPr lvl="2"/>
            <a:r>
              <a:rPr lang="en-CA" dirty="0"/>
              <a:t>Click the filter arrow on </a:t>
            </a:r>
            <a:r>
              <a:rPr lang="en-CA" dirty="0" err="1"/>
              <a:t>Transaction_Type_Clean</a:t>
            </a:r>
            <a:r>
              <a:rPr lang="en-CA" dirty="0"/>
              <a:t>. </a:t>
            </a:r>
          </a:p>
          <a:p>
            <a:pPr lvl="2"/>
            <a:r>
              <a:rPr lang="en-CA" dirty="0"/>
              <a:t>Uncheck Select All. </a:t>
            </a:r>
          </a:p>
          <a:p>
            <a:pPr lvl="2"/>
            <a:r>
              <a:rPr lang="en-CA" dirty="0"/>
              <a:t>Select Credit. </a:t>
            </a:r>
          </a:p>
          <a:p>
            <a:pPr lvl="2"/>
            <a:r>
              <a:rPr lang="en-CA" dirty="0"/>
              <a:t>Click OK.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462764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AC2D-E065-A3B4-422D-60625CC1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2A0D-22FB-4EE2-71B7-0FA024E5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CA" dirty="0"/>
              <a:t>Show only BRN-01</a:t>
            </a:r>
          </a:p>
          <a:p>
            <a:r>
              <a:rPr lang="en-CA" dirty="0"/>
              <a:t>2. Show amounts greater than ₹20,000</a:t>
            </a:r>
          </a:p>
          <a:p>
            <a:r>
              <a:rPr lang="en-CA" dirty="0"/>
              <a:t>3. Show transactions between 1-Aug-2026 and 15-Aug-2026</a:t>
            </a:r>
          </a:p>
          <a:p>
            <a:r>
              <a:rPr lang="en-CA" dirty="0"/>
              <a:t>4. Transaction Type = Credit</a:t>
            </a:r>
            <a:br>
              <a:rPr lang="en-CA" dirty="0"/>
            </a:br>
            <a:r>
              <a:rPr lang="en-CA" dirty="0"/>
              <a:t>AND</a:t>
            </a:r>
            <a:br>
              <a:rPr lang="en-CA" dirty="0"/>
            </a:br>
            <a:r>
              <a:rPr lang="en-CA" dirty="0"/>
              <a:t>Amount &gt; ₹20,000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018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4F12-D0D3-2D44-840F-3130B8D4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is Slicing?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549B1-6C0B-9FC8-EE6E-902749C42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400" b="0" dirty="0"/>
              <a:t>I</a:t>
            </a:r>
            <a:r>
              <a:rPr lang="en-CA" sz="1400" b="0" dirty="0"/>
              <a:t>n Excel, Slicer is a visual filtering control.</a:t>
            </a:r>
          </a:p>
          <a:p>
            <a:r>
              <a:rPr lang="en-CA" sz="1400" b="0" dirty="0"/>
              <a:t>Instead of opening the small filter arrow in a column, you get buttons that you can click.</a:t>
            </a:r>
          </a:p>
          <a:p>
            <a:pPr marL="0" indent="0">
              <a:buNone/>
            </a:pPr>
            <a:r>
              <a:rPr lang="en-CA" dirty="0"/>
              <a:t>Create a Slicer</a:t>
            </a:r>
          </a:p>
          <a:p>
            <a:r>
              <a:rPr lang="en-CA" dirty="0"/>
              <a:t>Select your dataset. </a:t>
            </a:r>
          </a:p>
          <a:p>
            <a:r>
              <a:rPr lang="en-CA" dirty="0"/>
              <a:t>Press </a:t>
            </a:r>
            <a:r>
              <a:rPr lang="en-CA" dirty="0" err="1"/>
              <a:t>Cmd</a:t>
            </a:r>
            <a:r>
              <a:rPr lang="en-CA" dirty="0"/>
              <a:t> + T on Mac or Ctrl + T on Windows. </a:t>
            </a:r>
          </a:p>
          <a:p>
            <a:r>
              <a:rPr lang="en-CA" dirty="0"/>
              <a:t>Confirm My table has headers. </a:t>
            </a:r>
          </a:p>
          <a:p>
            <a:r>
              <a:rPr lang="en-CA" dirty="0"/>
              <a:t>Go to the Table tab. </a:t>
            </a:r>
          </a:p>
          <a:p>
            <a:r>
              <a:rPr lang="en-CA" dirty="0"/>
              <a:t>Select Insert Slicer. </a:t>
            </a:r>
          </a:p>
          <a:p>
            <a:r>
              <a:rPr lang="en-CA" dirty="0"/>
              <a:t>Select fields such as: </a:t>
            </a:r>
          </a:p>
          <a:p>
            <a:pPr lvl="1"/>
            <a:r>
              <a:rPr lang="en-CA" dirty="0" err="1"/>
              <a:t>Transaction_Type_Clean</a:t>
            </a:r>
            <a:r>
              <a:rPr lang="en-CA" dirty="0"/>
              <a:t> </a:t>
            </a:r>
          </a:p>
          <a:p>
            <a:pPr lvl="1"/>
            <a:r>
              <a:rPr lang="en-CA" dirty="0" err="1"/>
              <a:t>Branch_Code_Clean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Currency </a:t>
            </a:r>
          </a:p>
          <a:p>
            <a:r>
              <a:rPr lang="en-CA" dirty="0"/>
              <a:t>Click OK.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7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B1C7-E031-B29B-E31A-68B19B58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 Vs Slicing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5F8197-A5AD-E00A-32E0-5CA1C7ED9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599226"/>
              </p:ext>
            </p:extLst>
          </p:nvPr>
        </p:nvGraphicFramePr>
        <p:xfrm>
          <a:off x="628650" y="824593"/>
          <a:ext cx="7886700" cy="299763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469515656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29635234"/>
                    </a:ext>
                  </a:extLst>
                </a:gridCol>
              </a:tblGrid>
              <a:tr h="4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highlight>
                            <a:srgbClr val="EB793D"/>
                          </a:highlight>
                        </a:rPr>
                        <a:t>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highlight>
                            <a:srgbClr val="EB793D"/>
                          </a:highlight>
                        </a:rPr>
                        <a:t>Slicing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435541"/>
                  </a:ext>
                </a:extLst>
              </a:tr>
              <a:tr h="4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Uses drop-down arrows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Uses visual buttons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093595"/>
                  </a:ext>
                </a:extLst>
              </a:tr>
              <a:tr h="4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Compact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More visual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276697"/>
                  </a:ext>
                </a:extLst>
              </a:tr>
              <a:tr h="4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Good for detailed 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Good for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602090"/>
                  </a:ext>
                </a:extLst>
              </a:tr>
              <a:tr h="4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Can filter many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Easy for users to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246778"/>
                  </a:ext>
                </a:extLst>
              </a:tr>
              <a:tr h="4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Available directly in Excel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Usually used with Tables/PivotTables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7492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A08A8E-EFB2-27BB-B93A-19F2CA2483DC}"/>
              </a:ext>
            </a:extLst>
          </p:cNvPr>
          <p:cNvSpPr txBox="1"/>
          <p:nvPr/>
        </p:nvSpPr>
        <p:spPr>
          <a:xfrm>
            <a:off x="563336" y="4073979"/>
            <a:ext cx="7108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Filtering is the action of narrowing down the data. </a:t>
            </a:r>
          </a:p>
          <a:p>
            <a:r>
              <a:rPr lang="en-CA" dirty="0"/>
              <a:t>A slicer is a visual tool that makes filtering easier and more interactive.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593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E153-C0F6-C8DF-01E6-0CB5A333E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Transaction Summary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BCD48-AA96-7A95-4C25-15EE25F4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1. Daily Transaction Monitoring</a:t>
            </a:r>
          </a:p>
          <a:p>
            <a:pPr lvl="1"/>
            <a:r>
              <a:rPr lang="en-CA" b="1" dirty="0"/>
              <a:t>Question:</a:t>
            </a:r>
            <a:r>
              <a:rPr lang="en-CA" dirty="0"/>
              <a:t> How many transactions were processed each day?</a:t>
            </a:r>
          </a:p>
          <a:p>
            <a:r>
              <a:rPr lang="en-CA" dirty="0"/>
              <a:t>Why it is useful?</a:t>
            </a:r>
          </a:p>
          <a:p>
            <a:pPr lvl="1"/>
            <a:r>
              <a:rPr lang="en-CA" dirty="0"/>
              <a:t>Monitoring daily workload Identifying unusually busy days Comparing transaction volumes across 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05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51DF-458C-47B3-97F8-7608C007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Transaction Summary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BF3D-BC9F-1004-65DB-5F0F3701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2. Credit vs Debit Analysis</a:t>
            </a:r>
          </a:p>
          <a:p>
            <a:pPr lvl="1"/>
            <a:r>
              <a:rPr lang="en-CA" dirty="0"/>
              <a:t>Question: How much activity is Credit versus Debit?</a:t>
            </a:r>
          </a:p>
          <a:p>
            <a:pPr marL="0" indent="0">
              <a:buNone/>
            </a:pPr>
            <a:r>
              <a:rPr lang="en-CA" dirty="0"/>
              <a:t>Useful for:</a:t>
            </a:r>
          </a:p>
          <a:p>
            <a:pPr lvl="1"/>
            <a:r>
              <a:rPr lang="en-CA" dirty="0"/>
              <a:t>Understanding transaction composition </a:t>
            </a:r>
          </a:p>
          <a:p>
            <a:pPr lvl="1"/>
            <a:r>
              <a:rPr lang="en-CA" dirty="0"/>
              <a:t>Monitoring inflow/outflow </a:t>
            </a:r>
          </a:p>
          <a:p>
            <a:pPr lvl="1"/>
            <a:r>
              <a:rPr lang="en-CA" dirty="0"/>
              <a:t>Comparing transaction volumes and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2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7D69-7CD1-427A-A4E3-7D3FC962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Transaction Summary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E50CF-A255-BBB7-525E-66533661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3. Branch-Level Transaction Summary</a:t>
            </a:r>
          </a:p>
          <a:p>
            <a:pPr lvl="1"/>
            <a:r>
              <a:rPr lang="en-CA" dirty="0"/>
              <a:t>Question: How much transaction activity is occurring at each branch?</a:t>
            </a:r>
          </a:p>
          <a:p>
            <a:r>
              <a:rPr lang="en-CA" dirty="0"/>
              <a:t>Useful for:</a:t>
            </a:r>
          </a:p>
          <a:p>
            <a:pPr lvl="1"/>
            <a:r>
              <a:rPr lang="en-CA" dirty="0"/>
              <a:t>Branch operational monitoring </a:t>
            </a:r>
          </a:p>
          <a:p>
            <a:pPr lvl="1"/>
            <a:r>
              <a:rPr lang="en-CA" dirty="0"/>
              <a:t>Workload comparison </a:t>
            </a:r>
          </a:p>
          <a:p>
            <a:pPr lvl="1"/>
            <a:r>
              <a:rPr lang="en-CA" dirty="0"/>
              <a:t>Identifying branches with higher transaction activity </a:t>
            </a:r>
          </a:p>
          <a:p>
            <a:pPr lvl="1"/>
            <a:r>
              <a:rPr lang="en-CA" dirty="0"/>
              <a:t>Identifying UNKNOWN branch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13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0225-6446-287E-11E5-522ED0F1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Transaction Summary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5622-0384-8981-3175-B35176A5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4. Customer Transaction Summary</a:t>
            </a:r>
          </a:p>
          <a:p>
            <a:r>
              <a:rPr lang="en-CA" dirty="0"/>
              <a:t>Question: What is the transaction activity for each customer?</a:t>
            </a:r>
          </a:p>
          <a:p>
            <a:r>
              <a:rPr lang="en-CA" dirty="0"/>
              <a:t>Useful for:</a:t>
            </a:r>
          </a:p>
          <a:p>
            <a:pPr lvl="1"/>
            <a:r>
              <a:rPr lang="en-CA" dirty="0"/>
              <a:t>Understanding customer activity </a:t>
            </a:r>
          </a:p>
          <a:p>
            <a:pPr lvl="1"/>
            <a:r>
              <a:rPr lang="en-CA" dirty="0"/>
              <a:t>Identifying customers with multiple transactions </a:t>
            </a:r>
          </a:p>
          <a:p>
            <a:pPr lvl="1"/>
            <a:r>
              <a:rPr lang="en-CA" dirty="0"/>
              <a:t>Comparing transaction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176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6B35-6DD2-947A-ABDB-EF8EE9352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Transaction Summary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DDDD-BC7E-C4F6-041B-7410C7B29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5. High-Value Transaction Summary</a:t>
            </a:r>
          </a:p>
          <a:p>
            <a:r>
              <a:rPr lang="en-CA" dirty="0"/>
              <a:t>Question: How many transactions exceed a defined threshold?</a:t>
            </a:r>
          </a:p>
          <a:p>
            <a:r>
              <a:rPr lang="en-CA" dirty="0"/>
              <a:t>Useful for:</a:t>
            </a:r>
          </a:p>
          <a:p>
            <a:pPr lvl="1"/>
            <a:r>
              <a:rPr lang="en-CA" dirty="0"/>
              <a:t>Operational review </a:t>
            </a:r>
          </a:p>
          <a:p>
            <a:pPr lvl="1"/>
            <a:r>
              <a:rPr lang="en-CA" dirty="0"/>
              <a:t>Exception identification </a:t>
            </a:r>
          </a:p>
          <a:p>
            <a:pPr lvl="1"/>
            <a:r>
              <a:rPr lang="en-CA" dirty="0"/>
              <a:t>Transaction-monitoring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32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3325-064B-4B0D-2D52-E441B51B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Transaction Summary into 5 perspectives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A44D-7F2C-82ED-E91F-26A82888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r>
              <a:rPr lang="en-CA" dirty="0"/>
              <a:t>1. Volume → How many transactions?</a:t>
            </a:r>
          </a:p>
          <a:p>
            <a:r>
              <a:rPr lang="en-CA" dirty="0"/>
              <a:t>2. Value → How much money?</a:t>
            </a:r>
          </a:p>
          <a:p>
            <a:r>
              <a:rPr lang="en-CA" dirty="0"/>
              <a:t>3. Type → Credit vs Debit?</a:t>
            </a:r>
          </a:p>
          <a:p>
            <a:r>
              <a:rPr lang="en-CA" dirty="0"/>
              <a:t>4. Distribution → Where/how are transactions concentrated?</a:t>
            </a:r>
          </a:p>
          <a:p>
            <a:r>
              <a:rPr lang="en-CA" dirty="0"/>
              <a:t>5. Exceptions → What needs further operational review?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7273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80CD9-3C2E-4935-E068-2949D8FEB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600"/>
            <a:ext cx="7886700" cy="339271"/>
          </a:xfrm>
        </p:spPr>
        <p:txBody>
          <a:bodyPr>
            <a:noAutofit/>
          </a:bodyPr>
          <a:lstStyle/>
          <a:p>
            <a:r>
              <a:rPr lang="en-CA" sz="3200" dirty="0"/>
              <a:t>Reporting Use Cases — Finance &amp; AML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385D0-BF62-41FC-EC87-85185F8CC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435" y="440871"/>
            <a:ext cx="8548007" cy="4191454"/>
          </a:xfrm>
        </p:spPr>
        <p:txBody>
          <a:bodyPr/>
          <a:lstStyle/>
          <a:p>
            <a:r>
              <a:rPr lang="en-CA" dirty="0"/>
              <a:t>1. Finance Reporting Use Cases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EBB159-3726-EDE8-6D23-FBF90A0BA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68484"/>
              </p:ext>
            </p:extLst>
          </p:nvPr>
        </p:nvGraphicFramePr>
        <p:xfrm>
          <a:off x="514350" y="857250"/>
          <a:ext cx="7878537" cy="4005496"/>
        </p:xfrm>
        <a:graphic>
          <a:graphicData uri="http://schemas.openxmlformats.org/drawingml/2006/table">
            <a:tbl>
              <a:tblPr/>
              <a:tblGrid>
                <a:gridCol w="2626179">
                  <a:extLst>
                    <a:ext uri="{9D8B030D-6E8A-4147-A177-3AD203B41FA5}">
                      <a16:colId xmlns:a16="http://schemas.microsoft.com/office/drawing/2014/main" val="1881457537"/>
                    </a:ext>
                  </a:extLst>
                </a:gridCol>
                <a:gridCol w="2626179">
                  <a:extLst>
                    <a:ext uri="{9D8B030D-6E8A-4147-A177-3AD203B41FA5}">
                      <a16:colId xmlns:a16="http://schemas.microsoft.com/office/drawing/2014/main" val="2212386225"/>
                    </a:ext>
                  </a:extLst>
                </a:gridCol>
                <a:gridCol w="2626179">
                  <a:extLst>
                    <a:ext uri="{9D8B030D-6E8A-4147-A177-3AD203B41FA5}">
                      <a16:colId xmlns:a16="http://schemas.microsoft.com/office/drawing/2014/main" val="945957927"/>
                    </a:ext>
                  </a:extLst>
                </a:gridCol>
              </a:tblGrid>
              <a:tr h="232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Reporting Use Case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What the report shows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Example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657602"/>
                  </a:ext>
                </a:extLst>
              </a:tr>
              <a:tr h="41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 dirty="0"/>
                        <a:t>Transaction Summary Report</a:t>
                      </a:r>
                      <a:endParaRPr lang="en-CA" sz="1050" dirty="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Total transactions, total value, credits and debits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28 transactions, ₹X total value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954647"/>
                  </a:ext>
                </a:extLst>
              </a:tr>
              <a:tr h="34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 dirty="0"/>
                        <a:t>Daily Transaction Report</a:t>
                      </a:r>
                      <a:endParaRPr lang="en-CA" sz="1050" dirty="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Transaction volume and value by date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Aug 25 had 5 transactions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22768"/>
                  </a:ext>
                </a:extLst>
              </a:tr>
              <a:tr h="34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/>
                        <a:t>Credit vs Debit Report</a:t>
                      </a:r>
                      <a:endParaRPr lang="en-CA" sz="105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Incoming vs outgoing money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Credit = ₹X, Debit = ₹Y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754764"/>
                  </a:ext>
                </a:extLst>
              </a:tr>
              <a:tr h="34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 dirty="0"/>
                        <a:t>Branch Performance Report</a:t>
                      </a:r>
                      <a:endParaRPr lang="en-CA" sz="1050" dirty="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Transaction count and value by branch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BRN-01 processed ₹X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151805"/>
                  </a:ext>
                </a:extLst>
              </a:tr>
              <a:tr h="34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/>
                        <a:t>Customer Transaction Report</a:t>
                      </a:r>
                      <a:endParaRPr lang="en-CA" sz="105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Customer-wise transaction activity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Ananya Iyer: 3 transactions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968106"/>
                  </a:ext>
                </a:extLst>
              </a:tr>
              <a:tr h="41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/>
                        <a:t>High-Value Transaction Report</a:t>
                      </a:r>
                      <a:endParaRPr lang="en-CA" sz="105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Transactions above a defined threshold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Transactions &gt; ₹20,000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453051"/>
                  </a:ext>
                </a:extLst>
              </a:tr>
              <a:tr h="34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 dirty="0"/>
                        <a:t>Exception Report</a:t>
                      </a:r>
                      <a:endParaRPr lang="en-CA" sz="1050" dirty="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Missing/invalid/unusual records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>
                          <a:latin typeface="Courier New" panose="02070309020205020404" pitchFamily="49" charset="0"/>
                        </a:rPr>
                        <a:t>CHECK</a:t>
                      </a:r>
                      <a:r>
                        <a:rPr lang="en-CA" sz="1050" dirty="0"/>
                        <a:t> amount, </a:t>
                      </a:r>
                      <a:r>
                        <a:rPr lang="en-CA" sz="1050" dirty="0">
                          <a:latin typeface="Courier New" panose="02070309020205020404" pitchFamily="49" charset="0"/>
                        </a:rPr>
                        <a:t>UNKNOWN</a:t>
                      </a:r>
                      <a:r>
                        <a:rPr lang="en-CA" sz="1050" dirty="0"/>
                        <a:t> branch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950441"/>
                  </a:ext>
                </a:extLst>
              </a:tr>
              <a:tr h="485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/>
                        <a:t>Reconciliation Report</a:t>
                      </a:r>
                      <a:endParaRPr lang="en-CA" sz="105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Comparison between expected and actual records/amounts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Source total vs system total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645003"/>
                  </a:ext>
                </a:extLst>
              </a:tr>
              <a:tr h="34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/>
                        <a:t>Transaction Type Report</a:t>
                      </a:r>
                      <a:endParaRPr lang="en-CA" sz="105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Summary by transaction type/purpose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Salary, EMI, ATM, Transfer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066745"/>
                  </a:ext>
                </a:extLst>
              </a:tr>
              <a:tr h="41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b="1"/>
                        <a:t>Management Dashboard</a:t>
                      </a:r>
                      <a:endParaRPr lang="en-CA" sz="1050"/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Key KPIs and trends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Volume, value, credits, debits, exceptions</a:t>
                      </a:r>
                    </a:p>
                  </a:txBody>
                  <a:tcPr marL="42368" marR="42368" marT="21184" marB="21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4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093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EAAD-4266-A87E-499B-C41C6C5C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2. AML Reporting 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D8A4-7134-ADB8-195B-DCDD8ED3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69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6CC2-D125-C58A-5273-B696A578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5E57-50C9-464F-A1F6-4B827B6CC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Create a pivot table for AML analysis:</a:t>
            </a:r>
          </a:p>
          <a:p>
            <a:pPr lvl="1"/>
            <a:r>
              <a:rPr lang="en-CA" dirty="0"/>
              <a:t>Which customers have multiple transactions? </a:t>
            </a:r>
          </a:p>
          <a:p>
            <a:pPr lvl="1"/>
            <a:r>
              <a:rPr lang="en-CA" dirty="0"/>
              <a:t>Which customers have both credits and debits?</a:t>
            </a:r>
          </a:p>
          <a:p>
            <a:pPr lvl="1"/>
            <a:r>
              <a:rPr lang="en-CA" dirty="0"/>
              <a:t>Which customers have higher transaction values?</a:t>
            </a:r>
          </a:p>
          <a:p>
            <a:pPr lvl="1"/>
            <a:r>
              <a:rPr lang="en-CA" dirty="0"/>
              <a:t>Which activity is associated with UNKNOWN branches? </a:t>
            </a:r>
          </a:p>
          <a:p>
            <a:pPr lvl="1"/>
            <a:r>
              <a:rPr lang="en-CA" dirty="0"/>
              <a:t>Are there duplicate transaction records? </a:t>
            </a:r>
          </a:p>
          <a:p>
            <a:pPr lvl="1"/>
            <a:r>
              <a:rPr lang="en-CA" dirty="0"/>
              <a:t>Which transactions require further review based on predefined rules?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76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F24C-3BD0-146A-0F9C-BBF99299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F72BC-916B-2109-61F5-99DD329B5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59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7D2E-70F0-3F1E-01FA-385C7D06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276F2-8DEB-1DB7-DEC5-AB3D37C00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20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A37D-339F-54A8-40C3-14DD184B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Pivot Table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72BDF6-E0BD-CA87-A4A6-DA8A09340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0262133"/>
              </p:ext>
            </p:extLst>
          </p:nvPr>
        </p:nvGraphicFramePr>
        <p:xfrm>
          <a:off x="254977" y="1072663"/>
          <a:ext cx="7367955" cy="2346960"/>
        </p:xfrm>
        <a:graphic>
          <a:graphicData uri="http://schemas.openxmlformats.org/drawingml/2006/table">
            <a:tbl>
              <a:tblPr/>
              <a:tblGrid>
                <a:gridCol w="2455985">
                  <a:extLst>
                    <a:ext uri="{9D8B030D-6E8A-4147-A177-3AD203B41FA5}">
                      <a16:colId xmlns:a16="http://schemas.microsoft.com/office/drawing/2014/main" val="694041752"/>
                    </a:ext>
                  </a:extLst>
                </a:gridCol>
                <a:gridCol w="2455985">
                  <a:extLst>
                    <a:ext uri="{9D8B030D-6E8A-4147-A177-3AD203B41FA5}">
                      <a16:colId xmlns:a16="http://schemas.microsoft.com/office/drawing/2014/main" val="48024825"/>
                    </a:ext>
                  </a:extLst>
                </a:gridCol>
                <a:gridCol w="2455985">
                  <a:extLst>
                    <a:ext uri="{9D8B030D-6E8A-4147-A177-3AD203B41FA5}">
                      <a16:colId xmlns:a16="http://schemas.microsoft.com/office/drawing/2014/main" val="2177607451"/>
                    </a:ext>
                  </a:extLst>
                </a:gridCol>
              </a:tblGrid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/>
                        <a:t>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 b="1"/>
                        <a:t>Transaction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 b="1" dirty="0"/>
                        <a:t>Transaction 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57073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8,250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₹18.5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113482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11,400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₹27.8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45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Delhi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7,850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₹15.2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75352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Bangalore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9,600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₹21.4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62032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 dirty="0"/>
                        <a:t>12,900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/>
                        <a:t>₹32.6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40886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/>
                        <a:t>Grand Total</a:t>
                      </a:r>
                      <a:endParaRPr lang="en-CA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 b="1"/>
                        <a:t>50,000</a:t>
                      </a:r>
                      <a:endParaRPr lang="en-CA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600" b="1" dirty="0"/>
                        <a:t>₹115.5 Cr</a:t>
                      </a:r>
                      <a:endParaRPr lang="en-CA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7067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E118FD-E1C9-41CE-066A-2FE7645C764A}"/>
              </a:ext>
            </a:extLst>
          </p:cNvPr>
          <p:cNvSpPr txBox="1"/>
          <p:nvPr/>
        </p:nvSpPr>
        <p:spPr>
          <a:xfrm>
            <a:off x="316523" y="3815861"/>
            <a:ext cx="8335109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100" b="1" dirty="0"/>
              <a:t>Business interpretation</a:t>
            </a:r>
          </a:p>
          <a:p>
            <a:r>
              <a:rPr lang="en-CA" sz="1100" dirty="0"/>
              <a:t>The analyst can immediately say:</a:t>
            </a:r>
          </a:p>
          <a:p>
            <a:r>
              <a:rPr lang="en-CA" sz="1100" dirty="0"/>
              <a:t>"Hyderabad has the highest transaction volume and value, while Delhi has comparatively lower activity."</a:t>
            </a:r>
          </a:p>
          <a:p>
            <a:r>
              <a:rPr lang="en-CA" sz="1100" b="1" dirty="0"/>
              <a:t>Why PivotTable?</a:t>
            </a:r>
            <a:endParaRPr lang="en-CA" sz="1100" dirty="0"/>
          </a:p>
          <a:p>
            <a:r>
              <a:rPr lang="en-CA" sz="1100" dirty="0"/>
              <a:t>Because the analyst doesn't need formulas across 50,000 rows. Excel summarizes the data dynamically.</a:t>
            </a:r>
          </a:p>
          <a:p>
            <a:r>
              <a:rPr lang="en-US" sz="11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798025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5606-232A-B5B2-EF53-46C91170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Cambria" pitchFamily="34" charset="0"/>
                <a:ea typeface="+mj-ea"/>
                <a:cs typeface="+mj-cs"/>
              </a:rPr>
              <a:t>2. Grouping and Summarizing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2D32E-EA94-0C48-0658-84F992733190}"/>
              </a:ext>
            </a:extLst>
          </p:cNvPr>
          <p:cNvSpPr txBox="1"/>
          <p:nvPr/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200" b="1" dirty="0">
                <a:solidFill>
                  <a:srgbClr val="7C2D0A"/>
                </a:solidFill>
              </a:rPr>
              <a:t>A bank doesn't only want the total monthly transaction amount.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Management may ask: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"How does transaction activity change throughout the month?"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The analyst can group transaction dates into: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Days 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Weeks 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Months 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7C2D0A"/>
                </a:solidFill>
              </a:rPr>
              <a:t>Quarters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A3CF70-9011-5E8A-D7AD-2F90EA856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24946"/>
              </p:ext>
            </p:extLst>
          </p:nvPr>
        </p:nvGraphicFramePr>
        <p:xfrm>
          <a:off x="4648200" y="2081633"/>
          <a:ext cx="3867151" cy="1839073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958525">
                  <a:extLst>
                    <a:ext uri="{9D8B030D-6E8A-4147-A177-3AD203B41FA5}">
                      <a16:colId xmlns:a16="http://schemas.microsoft.com/office/drawing/2014/main" val="4263959282"/>
                    </a:ext>
                  </a:extLst>
                </a:gridCol>
                <a:gridCol w="1454313">
                  <a:extLst>
                    <a:ext uri="{9D8B030D-6E8A-4147-A177-3AD203B41FA5}">
                      <a16:colId xmlns:a16="http://schemas.microsoft.com/office/drawing/2014/main" val="2879306198"/>
                    </a:ext>
                  </a:extLst>
                </a:gridCol>
                <a:gridCol w="1454313">
                  <a:extLst>
                    <a:ext uri="{9D8B030D-6E8A-4147-A177-3AD203B41FA5}">
                      <a16:colId xmlns:a16="http://schemas.microsoft.com/office/drawing/2014/main" val="789317284"/>
                    </a:ext>
                  </a:extLst>
                </a:gridCol>
              </a:tblGrid>
              <a:tr h="702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b="0" cap="none" spc="0" dirty="0">
                          <a:solidFill>
                            <a:schemeClr val="bg1"/>
                          </a:solidFill>
                        </a:rPr>
                        <a:t>Month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b="0" cap="none" spc="0">
                          <a:solidFill>
                            <a:schemeClr val="bg1"/>
                          </a:solidFill>
                        </a:rPr>
                        <a:t>Transaction Count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b="0" cap="none" spc="0">
                          <a:solidFill>
                            <a:schemeClr val="bg1"/>
                          </a:solidFill>
                        </a:rPr>
                        <a:t>Transaction Amount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56267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January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 dirty="0">
                          <a:solidFill>
                            <a:schemeClr val="tx1"/>
                          </a:solidFill>
                        </a:rPr>
                        <a:t>48,200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₹105 Cr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33012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February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 dirty="0">
                          <a:solidFill>
                            <a:schemeClr val="tx1"/>
                          </a:solidFill>
                        </a:rPr>
                        <a:t>51,600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₹112 Cr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295831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March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56,300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cap="none" spc="0" dirty="0">
                          <a:solidFill>
                            <a:schemeClr val="tx1"/>
                          </a:solidFill>
                        </a:rPr>
                        <a:t>₹128 Cr</a:t>
                      </a:r>
                    </a:p>
                  </a:txBody>
                  <a:tcPr marL="97134" marR="97134" marT="97134" marB="485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99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7080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C571-F6FC-E80C-A7E7-2E477258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Grouping and Summarizing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6420-5049-94B0-76BA-29184E28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62401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CA" sz="4400" dirty="0"/>
              <a:t>Business question</a:t>
            </a:r>
          </a:p>
          <a:p>
            <a:r>
              <a:rPr lang="en-CA" dirty="0">
                <a:solidFill>
                  <a:srgbClr val="FF0000"/>
                </a:solidFill>
              </a:rPr>
              <a:t>"Why did March transaction volume increase?"</a:t>
            </a:r>
          </a:p>
          <a:p>
            <a:pPr marL="0" indent="0">
              <a:buNone/>
            </a:pPr>
            <a:r>
              <a:rPr lang="en-CA" dirty="0"/>
              <a:t>The analyst can drill further into:</a:t>
            </a:r>
          </a:p>
          <a:p>
            <a:r>
              <a:rPr lang="en-CA" dirty="0"/>
              <a:t>Month → Branch → Transaction Type</a:t>
            </a:r>
          </a:p>
          <a:p>
            <a:pPr marL="0" indent="0">
              <a:buNone/>
            </a:pPr>
            <a:r>
              <a:rPr lang="en-CA" dirty="0"/>
              <a:t>For example:</a:t>
            </a:r>
          </a:p>
          <a:p>
            <a:r>
              <a:rPr lang="en-CA" dirty="0"/>
              <a:t>March → Mumbai → Fund Transfer</a:t>
            </a:r>
          </a:p>
          <a:p>
            <a:r>
              <a:rPr lang="en-CA" dirty="0"/>
              <a:t>This helps management identify what actually caused the increase.</a:t>
            </a:r>
          </a:p>
          <a:p>
            <a:pPr marL="0" indent="0">
              <a:buNone/>
            </a:pPr>
            <a:r>
              <a:rPr lang="en-CA" sz="4400" dirty="0"/>
              <a:t>Banking use</a:t>
            </a:r>
          </a:p>
          <a:p>
            <a:pPr marL="0" indent="0">
              <a:buNone/>
            </a:pPr>
            <a:r>
              <a:rPr lang="en-CA" dirty="0"/>
              <a:t>Grouping can also be used to analyze:</a:t>
            </a:r>
          </a:p>
          <a:p>
            <a:r>
              <a:rPr lang="en-CA" dirty="0">
                <a:solidFill>
                  <a:srgbClr val="00B050"/>
                </a:solidFill>
              </a:rPr>
              <a:t>Daily transaction volumes </a:t>
            </a:r>
          </a:p>
          <a:p>
            <a:r>
              <a:rPr lang="en-CA" dirty="0">
                <a:solidFill>
                  <a:srgbClr val="00B050"/>
                </a:solidFill>
              </a:rPr>
              <a:t>Weekly operational workload </a:t>
            </a:r>
          </a:p>
          <a:p>
            <a:r>
              <a:rPr lang="en-CA" dirty="0">
                <a:solidFill>
                  <a:srgbClr val="00B050"/>
                </a:solidFill>
              </a:rPr>
              <a:t>Monthly deposits </a:t>
            </a:r>
          </a:p>
          <a:p>
            <a:r>
              <a:rPr lang="en-CA" dirty="0">
                <a:solidFill>
                  <a:srgbClr val="00B050"/>
                </a:solidFill>
              </a:rPr>
              <a:t>Quarterly withdrawals </a:t>
            </a:r>
          </a:p>
          <a:p>
            <a:r>
              <a:rPr lang="en-CA" dirty="0">
                <a:solidFill>
                  <a:srgbClr val="00B050"/>
                </a:solidFill>
              </a:rPr>
              <a:t>Monthly suspicious transactions </a:t>
            </a:r>
          </a:p>
          <a:p>
            <a:r>
              <a:rPr lang="en-CA" dirty="0">
                <a:solidFill>
                  <a:srgbClr val="00B050"/>
                </a:solidFill>
              </a:rPr>
              <a:t>Yearly transaction trends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382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17F1-A78C-F894-D801-C8D5A97A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Cambria" pitchFamily="34" charset="0"/>
                <a:ea typeface="+mj-ea"/>
                <a:cs typeface="+mj-cs"/>
              </a:rPr>
              <a:t>3. Filtering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5EF82-213D-FEEA-CB4F-0BC8F6D1F6E5}"/>
              </a:ext>
            </a:extLst>
          </p:cNvPr>
          <p:cNvSpPr txBox="1"/>
          <p:nvPr/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7C2D0A"/>
                </a:solidFill>
              </a:rPr>
              <a:t>Now imagine the AML Manager asks: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0000"/>
                </a:solidFill>
              </a:rPr>
              <a:t>"Show me only high-value transactions performed through online banking."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7C2D0A"/>
                </a:solidFill>
              </a:rPr>
              <a:t>Instead of creating another report, the analyst can use filters or Slicers.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7C2D0A"/>
                </a:solidFill>
              </a:rPr>
              <a:t>For example: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</a:rPr>
              <a:t>Channel = Online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</a:rPr>
              <a:t>Amount = High Value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</a:rPr>
              <a:t>Risk Flag = Yes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2E4CB2-F089-08CC-2C8F-C73E3A844CB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7840416"/>
              </p:ext>
            </p:extLst>
          </p:nvPr>
        </p:nvGraphicFramePr>
        <p:xfrm>
          <a:off x="4648200" y="1908086"/>
          <a:ext cx="3867152" cy="218616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69912">
                  <a:extLst>
                    <a:ext uri="{9D8B030D-6E8A-4147-A177-3AD203B41FA5}">
                      <a16:colId xmlns:a16="http://schemas.microsoft.com/office/drawing/2014/main" val="1069759197"/>
                    </a:ext>
                  </a:extLst>
                </a:gridCol>
                <a:gridCol w="1441729">
                  <a:extLst>
                    <a:ext uri="{9D8B030D-6E8A-4147-A177-3AD203B41FA5}">
                      <a16:colId xmlns:a16="http://schemas.microsoft.com/office/drawing/2014/main" val="442847240"/>
                    </a:ext>
                  </a:extLst>
                </a:gridCol>
                <a:gridCol w="1055511">
                  <a:extLst>
                    <a:ext uri="{9D8B030D-6E8A-4147-A177-3AD203B41FA5}">
                      <a16:colId xmlns:a16="http://schemas.microsoft.com/office/drawing/2014/main" val="2208108514"/>
                    </a:ext>
                  </a:extLst>
                </a:gridCol>
              </a:tblGrid>
              <a:tr h="64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Branch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Transaction Count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Amount</a:t>
                      </a:r>
                    </a:p>
                  </a:txBody>
                  <a:tcPr marL="87913" marR="87913" marT="43957" marB="43957" anchor="ctr"/>
                </a:tc>
                <a:extLst>
                  <a:ext uri="{0D108BD9-81ED-4DB2-BD59-A6C34878D82A}">
                    <a16:rowId xmlns:a16="http://schemas.microsoft.com/office/drawing/2014/main" val="1062821487"/>
                  </a:ext>
                </a:extLst>
              </a:tr>
              <a:tr h="385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Pune</a:t>
                      </a:r>
                    </a:p>
                  </a:txBody>
                  <a:tcPr marL="87913" marR="87913" marT="43957" marB="43957" anchor="ctr"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145</a:t>
                      </a:r>
                    </a:p>
                  </a:txBody>
                  <a:tcPr marL="87913" marR="87913" marT="43957" marB="43957" anchor="ctr"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₹4.8 Cr</a:t>
                      </a:r>
                    </a:p>
                  </a:txBody>
                  <a:tcPr marL="87913" marR="87913" marT="43957" marB="43957" anchor="ctr"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366964"/>
                  </a:ext>
                </a:extLst>
              </a:tr>
              <a:tr h="385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Mumbai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218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₹7.2 Cr</a:t>
                      </a:r>
                    </a:p>
                  </a:txBody>
                  <a:tcPr marL="87913" marR="87913" marT="43957" marB="43957" anchor="ctr"/>
                </a:tc>
                <a:extLst>
                  <a:ext uri="{0D108BD9-81ED-4DB2-BD59-A6C34878D82A}">
                    <a16:rowId xmlns:a16="http://schemas.microsoft.com/office/drawing/2014/main" val="3090001500"/>
                  </a:ext>
                </a:extLst>
              </a:tr>
              <a:tr h="385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Delhi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92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₹2.9 Cr</a:t>
                      </a:r>
                    </a:p>
                  </a:txBody>
                  <a:tcPr marL="87913" marR="87913" marT="43957" marB="43957" anchor="ctr"/>
                </a:tc>
                <a:extLst>
                  <a:ext uri="{0D108BD9-81ED-4DB2-BD59-A6C34878D82A}">
                    <a16:rowId xmlns:a16="http://schemas.microsoft.com/office/drawing/2014/main" val="875439340"/>
                  </a:ext>
                </a:extLst>
              </a:tr>
              <a:tr h="385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Hyderabad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/>
                        <a:t>301</a:t>
                      </a:r>
                    </a:p>
                  </a:txBody>
                  <a:tcPr marL="87913" marR="87913" marT="43957" marB="43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dirty="0"/>
                        <a:t>₹9.5 Cr</a:t>
                      </a:r>
                    </a:p>
                  </a:txBody>
                  <a:tcPr marL="87913" marR="87913" marT="43957" marB="43957" anchor="ctr"/>
                </a:tc>
                <a:extLst>
                  <a:ext uri="{0D108BD9-81ED-4DB2-BD59-A6C34878D82A}">
                    <a16:rowId xmlns:a16="http://schemas.microsoft.com/office/drawing/2014/main" val="27151382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AC272D-1A73-708C-8E9D-BE32251CDB0D}"/>
              </a:ext>
            </a:extLst>
          </p:cNvPr>
          <p:cNvSpPr txBox="1"/>
          <p:nvPr/>
        </p:nvSpPr>
        <p:spPr>
          <a:xfrm>
            <a:off x="4870938" y="1450731"/>
            <a:ext cx="350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C2D0A"/>
                </a:solidFill>
              </a:rPr>
              <a:t>The PivotTable might now show: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9321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6894-DB24-21A7-D2C1-405D89E8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Why slicing is useful?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5DF8-8F4C-84AB-9044-34AC778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A manager can interactively select:</a:t>
            </a:r>
          </a:p>
          <a:p>
            <a:pPr lvl="1"/>
            <a:r>
              <a:rPr lang="en-CA" dirty="0"/>
              <a:t>Branch → Mumbai</a:t>
            </a:r>
          </a:p>
          <a:p>
            <a:pPr marL="0" indent="0">
              <a:buNone/>
            </a:pPr>
            <a:r>
              <a:rPr lang="en-CA" dirty="0"/>
              <a:t>Then:</a:t>
            </a:r>
          </a:p>
          <a:p>
            <a:pPr lvl="1"/>
            <a:r>
              <a:rPr lang="en-CA" dirty="0"/>
              <a:t>Transaction Type → Transfer</a:t>
            </a:r>
          </a:p>
          <a:p>
            <a:pPr marL="0" indent="0">
              <a:buNone/>
            </a:pPr>
            <a:r>
              <a:rPr lang="en-CA" dirty="0"/>
              <a:t>Then:</a:t>
            </a:r>
          </a:p>
          <a:p>
            <a:pPr lvl="1"/>
            <a:r>
              <a:rPr lang="en-CA" dirty="0"/>
              <a:t>Risk Flag → Yes</a:t>
            </a:r>
          </a:p>
          <a:p>
            <a:pPr lvl="1"/>
            <a:r>
              <a:rPr lang="en-CA" dirty="0"/>
              <a:t>The report immediately changes.</a:t>
            </a:r>
          </a:p>
          <a:p>
            <a:r>
              <a:rPr lang="en-CA" b="0" dirty="0"/>
              <a:t>This is much more useful in an operational environment than maintaining multiple static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661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D62C-264C-AB6F-D7DC-ADF1564E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Pivot Chart (Basics)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629AB-A2C7-8CE5-3B3E-BB28AE9E9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 b="0" dirty="0"/>
              <a:t>Management may not want to study a table containing thousands of numbers.</a:t>
            </a:r>
          </a:p>
          <a:p>
            <a:pPr marL="0" indent="0">
              <a:buNone/>
            </a:pPr>
            <a:r>
              <a:rPr lang="en-CA" sz="1600" b="0" dirty="0"/>
              <a:t>They may simply ask:</a:t>
            </a:r>
          </a:p>
          <a:p>
            <a:r>
              <a:rPr lang="en-CA" sz="1600" b="0" dirty="0">
                <a:solidFill>
                  <a:srgbClr val="00B050"/>
                </a:solidFill>
              </a:rPr>
              <a:t>"Which branches have the highest transaction value?"</a:t>
            </a:r>
          </a:p>
          <a:p>
            <a:pPr marL="0" indent="0">
              <a:buNone/>
            </a:pPr>
            <a:r>
              <a:rPr lang="en-CA" sz="1600" b="0" dirty="0"/>
              <a:t>The analyst can create a PivotChart from the PivotTable.</a:t>
            </a:r>
          </a:p>
          <a:p>
            <a:pPr marL="0" indent="0">
              <a:buNone/>
            </a:pPr>
            <a:r>
              <a:rPr lang="en-CA" sz="1600" b="0" dirty="0"/>
              <a:t>For example:</a:t>
            </a:r>
          </a:p>
          <a:p>
            <a:r>
              <a:rPr lang="en-CA" sz="1600" b="0" dirty="0">
                <a:solidFill>
                  <a:srgbClr val="00B050"/>
                </a:solidFill>
              </a:rPr>
              <a:t>Branch vs Transaction Amount</a:t>
            </a:r>
          </a:p>
          <a:p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0822482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22450-9F8E-B19C-B313-DB3714F8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Pivot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B676-7778-C06F-B7D5-7E805487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5077"/>
            <a:ext cx="7886700" cy="3577248"/>
          </a:xfrm>
        </p:spPr>
        <p:txBody>
          <a:bodyPr>
            <a:normAutofit/>
          </a:bodyPr>
          <a:lstStyle/>
          <a:p>
            <a:r>
              <a:rPr lang="en-CA" sz="1600" dirty="0"/>
              <a:t>Transaction value by branch Illustrative monthly transaction value for a retail bank.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B18DB-4767-4616-9D77-234248398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38" y="1648662"/>
            <a:ext cx="6110654" cy="2603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6C954C-39CF-DACB-32C7-05A3F5FDB6EB}"/>
              </a:ext>
            </a:extLst>
          </p:cNvPr>
          <p:cNvSpPr txBox="1"/>
          <p:nvPr/>
        </p:nvSpPr>
        <p:spPr>
          <a:xfrm>
            <a:off x="395654" y="4510454"/>
            <a:ext cx="7749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chart makes the business message immediately visible:</a:t>
            </a:r>
          </a:p>
          <a:p>
            <a:r>
              <a:rPr lang="en-CA" b="1" dirty="0"/>
              <a:t>Hyderabad and Mumbai are the largest contributors to transaction value.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140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9986-E724-E884-184A-1881CA55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8348296" cy="349616"/>
          </a:xfrm>
        </p:spPr>
        <p:txBody>
          <a:bodyPr>
            <a:normAutofit fontScale="90000"/>
          </a:bodyPr>
          <a:lstStyle/>
          <a:p>
            <a:r>
              <a:rPr lang="en-US" dirty="0"/>
              <a:t>5. </a:t>
            </a:r>
            <a:r>
              <a:rPr lang="en-CA" dirty="0"/>
              <a:t>Transaction Summary 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128F8-2913-1C32-6298-B819F65DB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 dirty="0"/>
              <a:t>Now connect PivotTables to the daily work of an Operations Analyst.</a:t>
            </a:r>
          </a:p>
          <a:p>
            <a:pPr marL="0" indent="0">
              <a:buNone/>
            </a:pPr>
            <a:r>
              <a:rPr lang="en-CA" sz="1600" dirty="0"/>
              <a:t>Use Case 1 — Branch Performance</a:t>
            </a:r>
          </a:p>
          <a:p>
            <a:r>
              <a:rPr lang="en-CA" sz="1600" dirty="0"/>
              <a:t>Management </a:t>
            </a:r>
            <a:r>
              <a:rPr lang="en-CA" sz="1600" dirty="0" err="1"/>
              <a:t>asks:</a:t>
            </a:r>
            <a:r>
              <a:rPr lang="en-CA" sz="1600" dirty="0" err="1">
                <a:solidFill>
                  <a:srgbClr val="00B050"/>
                </a:solidFill>
              </a:rPr>
              <a:t>"Which</a:t>
            </a:r>
            <a:r>
              <a:rPr lang="en-CA" sz="1600" dirty="0">
                <a:solidFill>
                  <a:srgbClr val="00B050"/>
                </a:solidFill>
              </a:rPr>
              <a:t> branches processed the highest number of transactions?"</a:t>
            </a:r>
          </a:p>
          <a:p>
            <a:pPr marL="0" indent="0">
              <a:buNone/>
            </a:pPr>
            <a:r>
              <a:rPr lang="en-CA" sz="1600" dirty="0"/>
              <a:t>PivotTable:    </a:t>
            </a:r>
            <a:r>
              <a:rPr lang="en-CA" sz="1600" dirty="0">
                <a:solidFill>
                  <a:srgbClr val="EB793D"/>
                </a:solidFill>
              </a:rPr>
              <a:t>Branch → Count of Transactions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88490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CBB17-DD6F-4FB2-1FCD-6CC0C1CC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8E02-E59A-0C6E-944A-2B9B5325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93"/>
            <a:ext cx="8348296" cy="455924"/>
          </a:xfrm>
        </p:spPr>
        <p:txBody>
          <a:bodyPr>
            <a:normAutofit fontScale="90000"/>
          </a:bodyPr>
          <a:lstStyle/>
          <a:p>
            <a:r>
              <a:rPr lang="en-US" dirty="0"/>
              <a:t>5. </a:t>
            </a:r>
            <a:r>
              <a:rPr lang="en-CA" dirty="0"/>
              <a:t>Transaction Summary 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7B3B-770C-3077-0447-A2123AB03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/>
              <a:t>Use Case 2 — Transaction Type</a:t>
            </a:r>
          </a:p>
          <a:p>
            <a:r>
              <a:rPr lang="en-CA" sz="1600"/>
              <a:t>Management asks: </a:t>
            </a:r>
            <a:r>
              <a:rPr lang="en-CA" sz="1600">
                <a:solidFill>
                  <a:srgbClr val="00B050"/>
                </a:solidFill>
              </a:rPr>
              <a:t>"What type of transactions are customers performing?"</a:t>
            </a:r>
          </a:p>
          <a:p>
            <a:r>
              <a:rPr lang="en-CA" sz="1600"/>
              <a:t>PivotTable:  </a:t>
            </a:r>
            <a:r>
              <a:rPr lang="en-CA" sz="1600">
                <a:solidFill>
                  <a:srgbClr val="EB793D"/>
                </a:solidFill>
              </a:rPr>
              <a:t>Transaction Type → Count + Sum of Amount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CB5EF8-7922-CBF9-C231-AC4DB1E7D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542856"/>
              </p:ext>
            </p:extLst>
          </p:nvPr>
        </p:nvGraphicFramePr>
        <p:xfrm>
          <a:off x="628650" y="2110154"/>
          <a:ext cx="7556988" cy="2104355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9239208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429686"/>
                    </a:ext>
                  </a:extLst>
                </a:gridCol>
                <a:gridCol w="2299188">
                  <a:extLst>
                    <a:ext uri="{9D8B030D-6E8A-4147-A177-3AD203B41FA5}">
                      <a16:colId xmlns:a16="http://schemas.microsoft.com/office/drawing/2014/main" val="4284324588"/>
                    </a:ext>
                  </a:extLst>
                </a:gridCol>
              </a:tblGrid>
              <a:tr h="420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Transaction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988606"/>
                  </a:ext>
                </a:extLst>
              </a:tr>
              <a:tr h="420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Deposit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12,500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₹28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896571"/>
                  </a:ext>
                </a:extLst>
              </a:tr>
              <a:tr h="420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Withdrawal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10,800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₹19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849459"/>
                  </a:ext>
                </a:extLst>
              </a:tr>
              <a:tr h="420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Transfer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18,200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₹52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69067"/>
                  </a:ext>
                </a:extLst>
              </a:tr>
              <a:tr h="420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8,500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dirty="0"/>
                        <a:t>₹16.5 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846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B546F8-7138-6591-A438-526EA42AF2A9}"/>
              </a:ext>
            </a:extLst>
          </p:cNvPr>
          <p:cNvSpPr txBox="1"/>
          <p:nvPr/>
        </p:nvSpPr>
        <p:spPr>
          <a:xfrm>
            <a:off x="501162" y="4501662"/>
            <a:ext cx="7555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This tells the bank that </a:t>
            </a:r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transfers represent the largest transaction value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7862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8B8E-A05F-4353-B44C-96741E36D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4C85-DA7F-0CD6-2176-F99F5F4F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730"/>
            <a:ext cx="8348296" cy="472287"/>
          </a:xfrm>
        </p:spPr>
        <p:txBody>
          <a:bodyPr>
            <a:normAutofit fontScale="90000"/>
          </a:bodyPr>
          <a:lstStyle/>
          <a:p>
            <a:r>
              <a:rPr lang="en-US" dirty="0"/>
              <a:t>5. </a:t>
            </a:r>
            <a:r>
              <a:rPr lang="en-CA" dirty="0"/>
              <a:t>Transaction Summary 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B2C5-49D2-6144-8DD2-8469C7061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 dirty="0"/>
              <a:t>Use Case 3 — Channel Analysis</a:t>
            </a:r>
          </a:p>
          <a:p>
            <a:r>
              <a:rPr lang="en-CA" sz="1600" dirty="0"/>
              <a:t>Management asks: </a:t>
            </a:r>
            <a:r>
              <a:rPr lang="en-CA" sz="1600" dirty="0">
                <a:solidFill>
                  <a:srgbClr val="00B050"/>
                </a:solidFill>
              </a:rPr>
              <a:t>"Are customers using branches, ATMs or digital channels?"</a:t>
            </a:r>
          </a:p>
          <a:p>
            <a:r>
              <a:rPr lang="en-CA" sz="1600" dirty="0"/>
              <a:t>PivotTable: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EE631-088A-2123-4C20-FDC9C2B070EB}"/>
              </a:ext>
            </a:extLst>
          </p:cNvPr>
          <p:cNvSpPr txBox="1"/>
          <p:nvPr/>
        </p:nvSpPr>
        <p:spPr>
          <a:xfrm>
            <a:off x="501162" y="4501662"/>
            <a:ext cx="643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This can help Operations plan staffing and technology capacity.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B954CE-0E9C-4ABC-EC50-B5DD6B9F1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61438"/>
              </p:ext>
            </p:extLst>
          </p:nvPr>
        </p:nvGraphicFramePr>
        <p:xfrm>
          <a:off x="628650" y="2359330"/>
          <a:ext cx="7886700" cy="15620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33298054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898403103"/>
                    </a:ext>
                  </a:extLst>
                </a:gridCol>
              </a:tblGrid>
              <a:tr h="31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Channel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b="1" dirty="0"/>
                        <a:t>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447907"/>
                  </a:ext>
                </a:extLst>
              </a:tr>
              <a:tr h="31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dirty="0"/>
                        <a:t>12,500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221475"/>
                  </a:ext>
                </a:extLst>
              </a:tr>
              <a:tr h="31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15,200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10072"/>
                  </a:ext>
                </a:extLst>
              </a:tr>
              <a:tr h="31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/>
                        <a:t>14,800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913788"/>
                  </a:ext>
                </a:extLst>
              </a:tr>
              <a:tr h="31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Internet Banking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dirty="0"/>
                        <a:t>7,500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938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1554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9995-C542-225B-FF5B-2134922C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DAC7-2433-79E6-BC50-EA84497D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8262"/>
            <a:ext cx="8348296" cy="589085"/>
          </a:xfrm>
        </p:spPr>
        <p:txBody>
          <a:bodyPr>
            <a:normAutofit fontScale="90000"/>
          </a:bodyPr>
          <a:lstStyle/>
          <a:p>
            <a:r>
              <a:rPr lang="en-US" dirty="0"/>
              <a:t>5. </a:t>
            </a:r>
            <a:r>
              <a:rPr lang="en-CA" dirty="0"/>
              <a:t>Transaction Summary 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D619-09E3-E5C4-C125-F1D6D23AD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6623"/>
            <a:ext cx="7886700" cy="3515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 dirty="0"/>
              <a:t>Use Case 4 — High-Value Transactions</a:t>
            </a:r>
          </a:p>
          <a:p>
            <a:pPr marL="0" indent="0">
              <a:buNone/>
            </a:pPr>
            <a:r>
              <a:rPr lang="en-CA" sz="1600" dirty="0"/>
              <a:t>Management asks:   </a:t>
            </a:r>
            <a:r>
              <a:rPr lang="en-CA" sz="1600" dirty="0">
                <a:solidFill>
                  <a:srgbClr val="00B050"/>
                </a:solidFill>
              </a:rPr>
              <a:t>"How many transactions exceed ₹10 lakh?"</a:t>
            </a:r>
          </a:p>
          <a:p>
            <a:pPr marL="0" indent="0">
              <a:buNone/>
            </a:pPr>
            <a:r>
              <a:rPr lang="en-CA" sz="1600" dirty="0"/>
              <a:t>The analyst can filter:       </a:t>
            </a:r>
            <a:r>
              <a:rPr lang="en-CA" sz="1600" dirty="0">
                <a:solidFill>
                  <a:srgbClr val="00B050"/>
                </a:solidFill>
              </a:rPr>
              <a:t>Amount &gt; ₹10,00,000</a:t>
            </a:r>
          </a:p>
          <a:p>
            <a:r>
              <a:rPr lang="en-CA" sz="1600" dirty="0"/>
              <a:t>Then summarize by:     </a:t>
            </a:r>
            <a:r>
              <a:rPr lang="en-CA" sz="1600" dirty="0">
                <a:solidFill>
                  <a:srgbClr val="00B050"/>
                </a:solidFill>
              </a:rPr>
              <a:t>Branch → Count</a:t>
            </a:r>
          </a:p>
          <a:p>
            <a:pPr marL="0" indent="0">
              <a:buNone/>
            </a:pPr>
            <a:endParaRPr lang="en-CA" sz="1600" dirty="0"/>
          </a:p>
          <a:p>
            <a:pPr marL="0" indent="0">
              <a:buNone/>
            </a:pPr>
            <a:endParaRPr lang="en-CA" sz="1600" dirty="0"/>
          </a:p>
          <a:p>
            <a:pPr marL="0" indent="0">
              <a:buNone/>
            </a:pPr>
            <a:endParaRPr lang="en-CA" sz="1600" dirty="0"/>
          </a:p>
          <a:p>
            <a:pPr marL="0" indent="0">
              <a:buNone/>
            </a:pPr>
            <a:r>
              <a:rPr lang="en-CA" sz="1600" dirty="0">
                <a:solidFill>
                  <a:schemeClr val="accent1">
                    <a:lumMod val="75000"/>
                  </a:schemeClr>
                </a:solidFill>
              </a:rPr>
              <a:t>This can identify branches gene	rating unusually high-value activity.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8788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6D05-D627-CCB6-19E0-DD5646D8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8119696" cy="499085"/>
          </a:xfrm>
        </p:spPr>
        <p:txBody>
          <a:bodyPr>
            <a:normAutofit fontScale="90000"/>
          </a:bodyPr>
          <a:lstStyle/>
          <a:p>
            <a:r>
              <a:rPr lang="en-CA" dirty="0"/>
              <a:t>6. Reporting Use Cases — Finance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77EDC8-C39C-EFF1-DA9B-1EE9DD46C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145" y="840581"/>
            <a:ext cx="8529201" cy="43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149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9AA1-9890-56A0-2111-7CA0086C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7. Reporting Use Cases — AML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7A62-214B-D5DD-EBA6-63B7CBA8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6290896" cy="326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 dirty="0"/>
              <a:t>The AML team asks a different set of questions.</a:t>
            </a:r>
          </a:p>
          <a:p>
            <a:r>
              <a:rPr lang="en-CA" sz="1400" dirty="0"/>
              <a:t>Their focus is not simply:   </a:t>
            </a:r>
            <a:r>
              <a:rPr lang="en-CA" sz="1400" dirty="0">
                <a:solidFill>
                  <a:srgbClr val="00B050"/>
                </a:solidFill>
              </a:rPr>
              <a:t>"How much money did we process?"</a:t>
            </a:r>
          </a:p>
          <a:p>
            <a:r>
              <a:rPr lang="en-CA" sz="1400" dirty="0"/>
              <a:t>Instead:   </a:t>
            </a:r>
            <a:r>
              <a:rPr lang="en-CA" sz="1400" dirty="0">
                <a:solidFill>
                  <a:srgbClr val="EB793D"/>
                </a:solidFill>
              </a:rPr>
              <a:t>"Where is potentially unusual activity occurring?"</a:t>
            </a:r>
          </a:p>
          <a:p>
            <a:r>
              <a:rPr lang="en-CA" sz="1400" dirty="0"/>
              <a:t>For example, the analyst creates a PivotTable:</a:t>
            </a:r>
          </a:p>
          <a:p>
            <a:endParaRPr lang="en-US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949757-879C-1665-5C94-E6423DE10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114832"/>
              </p:ext>
            </p:extLst>
          </p:nvPr>
        </p:nvGraphicFramePr>
        <p:xfrm>
          <a:off x="430823" y="2607272"/>
          <a:ext cx="3868616" cy="16459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67154">
                  <a:extLst>
                    <a:ext uri="{9D8B030D-6E8A-4147-A177-3AD203B41FA5}">
                      <a16:colId xmlns:a16="http://schemas.microsoft.com/office/drawing/2014/main" val="2040876788"/>
                    </a:ext>
                  </a:extLst>
                </a:gridCol>
                <a:gridCol w="967154">
                  <a:extLst>
                    <a:ext uri="{9D8B030D-6E8A-4147-A177-3AD203B41FA5}">
                      <a16:colId xmlns:a16="http://schemas.microsoft.com/office/drawing/2014/main" val="1554200286"/>
                    </a:ext>
                  </a:extLst>
                </a:gridCol>
                <a:gridCol w="967154">
                  <a:extLst>
                    <a:ext uri="{9D8B030D-6E8A-4147-A177-3AD203B41FA5}">
                      <a16:colId xmlns:a16="http://schemas.microsoft.com/office/drawing/2014/main" val="2609233700"/>
                    </a:ext>
                  </a:extLst>
                </a:gridCol>
                <a:gridCol w="967154">
                  <a:extLst>
                    <a:ext uri="{9D8B030D-6E8A-4147-A177-3AD203B41FA5}">
                      <a16:colId xmlns:a16="http://schemas.microsoft.com/office/drawing/2014/main" val="3571196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/>
                        <a:t>Branch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b="1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b="1"/>
                        <a:t>Suspicious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b="1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383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dirty="0"/>
                        <a:t>8,100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8,250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996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10,900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11,400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7,700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7,850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56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dirty="0"/>
                        <a:t>9,300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dirty="0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9,600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541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dirty="0"/>
                        <a:t>12,000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/>
                        <a:t>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dirty="0"/>
                        <a:t>12,900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5226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8772B7-09AE-AF02-08EE-2D4D39B9B8B9}"/>
              </a:ext>
            </a:extLst>
          </p:cNvPr>
          <p:cNvSpPr txBox="1"/>
          <p:nvPr/>
        </p:nvSpPr>
        <p:spPr>
          <a:xfrm>
            <a:off x="4519247" y="2576146"/>
            <a:ext cx="46247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Now the AML Manager immediately sees:</a:t>
            </a:r>
          </a:p>
          <a:p>
            <a:r>
              <a:rPr lang="en-CA" sz="1200" b="1" dirty="0">
                <a:solidFill>
                  <a:srgbClr val="EB793D"/>
                </a:solidFill>
              </a:rPr>
              <a:t>Hyderabad has the highest number of flagged transactions.</a:t>
            </a:r>
            <a:endParaRPr lang="en-CA" sz="1200" dirty="0">
              <a:solidFill>
                <a:srgbClr val="EB793D"/>
              </a:solidFill>
            </a:endParaRPr>
          </a:p>
          <a:p>
            <a:r>
              <a:rPr lang="en-CA" sz="1200" dirty="0"/>
              <a:t>But this </a:t>
            </a:r>
            <a:r>
              <a:rPr lang="en-CA" sz="1200" b="1" dirty="0">
                <a:solidFill>
                  <a:srgbClr val="FF0000"/>
                </a:solidFill>
              </a:rPr>
              <a:t>does not automatically mean Hyderabad has money-laundering activity</a:t>
            </a:r>
            <a:r>
              <a:rPr lang="en-CA" sz="1200" dirty="0"/>
              <a:t>.</a:t>
            </a:r>
          </a:p>
          <a:p>
            <a:r>
              <a:rPr lang="en-CA" sz="1200" dirty="0"/>
              <a:t>It means:</a:t>
            </a:r>
          </a:p>
          <a:p>
            <a:r>
              <a:rPr lang="en-CA" sz="1200" b="1" dirty="0">
                <a:solidFill>
                  <a:srgbClr val="EB793D"/>
                </a:solidFill>
              </a:rPr>
              <a:t>"This branch deserves further investigation."</a:t>
            </a:r>
            <a:endParaRPr lang="en-CA" sz="1200" dirty="0">
              <a:solidFill>
                <a:srgbClr val="EB793D"/>
              </a:solidFill>
            </a:endParaRPr>
          </a:p>
          <a:p>
            <a:r>
              <a:rPr lang="en-CA" sz="1200" dirty="0"/>
              <a:t>The analyst can then slice the data further:</a:t>
            </a:r>
          </a:p>
          <a:p>
            <a:r>
              <a:rPr lang="en-CA" sz="1200" b="1" dirty="0"/>
              <a:t>Hyderabad → Suspicious → Online → Transfer</a:t>
            </a:r>
            <a:endParaRPr lang="en-CA" sz="1200" dirty="0"/>
          </a:p>
          <a:p>
            <a:r>
              <a:rPr lang="en-CA" sz="1200" dirty="0"/>
              <a:t>and investigate the underlying transactions.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18068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A30B-68C2-2B7D-3937-34881EF4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8CDA-E741-07F8-05EF-BE6ADD53C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BB51D-FCEB-AACA-4718-8A669A5BE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582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6335-14EB-6478-0F53-875535D9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80A6-998E-49AF-3C64-E8BBE6F43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The key teaching message</a:t>
            </a:r>
            <a:endParaRPr lang="en-CA" sz="1800" b="0" dirty="0"/>
          </a:p>
          <a:p>
            <a:r>
              <a:rPr lang="en-CA" sz="1800" b="0" dirty="0"/>
              <a:t>A PivotTable is not just an Excel feature. </a:t>
            </a:r>
          </a:p>
          <a:p>
            <a:r>
              <a:rPr lang="en-CA" sz="1800" b="0" dirty="0"/>
              <a:t>It is a way for an Operations Analyst to </a:t>
            </a:r>
            <a:r>
              <a:rPr lang="en-CA" sz="1800" b="0" dirty="0">
                <a:solidFill>
                  <a:srgbClr val="FF0000"/>
                </a:solidFill>
              </a:rPr>
              <a:t>convert thousands of banking transactions into answers to management questions</a:t>
            </a:r>
            <a:r>
              <a:rPr lang="en-CA" sz="1800" b="0" dirty="0"/>
              <a:t>.</a:t>
            </a:r>
          </a:p>
          <a:p>
            <a:r>
              <a:rPr lang="en-CA" sz="1800" b="0" dirty="0"/>
              <a:t>The progression for your training can therefore be:</a:t>
            </a:r>
          </a:p>
          <a:p>
            <a:r>
              <a:rPr lang="en-CA" sz="1800" b="0" dirty="0">
                <a:solidFill>
                  <a:srgbClr val="C00000"/>
                </a:solidFill>
              </a:rPr>
              <a:t>Raw Transactions → PivotTable → Group → Filter/Slice → PivotChart → Business Insight → Management Report</a:t>
            </a:r>
          </a:p>
          <a:p>
            <a:r>
              <a:rPr lang="en-CA" sz="1800" b="0" dirty="0"/>
              <a:t>This makes the Excel training much more realistic for a </a:t>
            </a:r>
            <a:r>
              <a:rPr lang="en-CA" sz="1800" dirty="0">
                <a:solidFill>
                  <a:srgbClr val="00B050"/>
                </a:solidFill>
              </a:rPr>
              <a:t>Retail Banking Operations Analyst </a:t>
            </a:r>
            <a:r>
              <a:rPr lang="en-CA" sz="1800" b="0" dirty="0"/>
              <a:t>rather than teaching PivotTables as isolated Excel commands.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533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9ECA-8E5C-4E8A-41E3-5A2B6D0C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Reinforcement Lab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EFE7A19-FA4B-2746-6B4C-0D176744F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168484"/>
              </p:ext>
            </p:extLst>
          </p:nvPr>
        </p:nvGraphicFramePr>
        <p:xfrm>
          <a:off x="628650" y="1268413"/>
          <a:ext cx="4611565" cy="2830036"/>
        </p:xfrm>
        <a:graphic>
          <a:graphicData uri="http://schemas.openxmlformats.org/drawingml/2006/table">
            <a:tbl>
              <a:tblPr/>
              <a:tblGrid>
                <a:gridCol w="4611565">
                  <a:extLst>
                    <a:ext uri="{9D8B030D-6E8A-4147-A177-3AD203B41FA5}">
                      <a16:colId xmlns:a16="http://schemas.microsoft.com/office/drawing/2014/main" val="2716964443"/>
                    </a:ext>
                  </a:extLst>
                </a:gridCol>
              </a:tblGrid>
              <a:tr h="2830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  <a:latin typeface="Helvetica" pitchFamily="2" charset="0"/>
                        </a:rPr>
                        <a:t> 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 err="1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Combine:Cleaning</a:t>
                      </a: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 , formulas &amp;validation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Reconcile two datasets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lookup/</a:t>
                      </a:r>
                      <a:r>
                        <a:rPr lang="en-CA" dirty="0" err="1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pivotswherever</a:t>
                      </a: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 applicable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 err="1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Identifymismatches</a:t>
                      </a:r>
                      <a:endParaRPr lang="en-CA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Build </a:t>
                      </a:r>
                      <a:r>
                        <a:rPr lang="en-CA" dirty="0" err="1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validationtracker</a:t>
                      </a:r>
                      <a: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</a:p>
                    <a:p>
                      <a:pPr>
                        <a:buNone/>
                      </a:pPr>
                      <a:br>
                        <a:rPr lang="en-CA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CA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47625" marR="476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2383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7571C2B-E48B-433C-E6BE-87D389130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861" y="0"/>
            <a:ext cx="16980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5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21613</TotalTime>
  <Words>3122</Words>
  <Application>Microsoft Macintosh PowerPoint</Application>
  <PresentationFormat>On-screen Show (16:9)</PresentationFormat>
  <Paragraphs>549</Paragraphs>
  <Slides>60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Aptos</vt:lpstr>
      <vt:lpstr>Arial</vt:lpstr>
      <vt:lpstr>Cambria</vt:lpstr>
      <vt:lpstr>Courier New</vt:lpstr>
      <vt:lpstr>Helvetica</vt:lpstr>
      <vt:lpstr>system-ui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</vt:lpstr>
      <vt:lpstr>PowerPoint Presentation</vt:lpstr>
      <vt:lpstr>PowerPoint Presentation</vt:lpstr>
      <vt:lpstr>PowerPoint Presentation</vt:lpstr>
      <vt:lpstr>PowerPoint Presentation</vt:lpstr>
      <vt:lpstr>Remove duplicate</vt:lpstr>
      <vt:lpstr>Function</vt:lpstr>
      <vt:lpstr>Text to Column</vt:lpstr>
      <vt:lpstr>Data Cleaning</vt:lpstr>
      <vt:lpstr>Data Cleaning</vt:lpstr>
      <vt:lpstr>Handling blanks </vt:lpstr>
      <vt:lpstr>Inconsistent Formats</vt:lpstr>
      <vt:lpstr>Standardizing Ids and Financial fields </vt:lpstr>
      <vt:lpstr>PowerPoint Presentation</vt:lpstr>
      <vt:lpstr>Learning Outcome</vt:lpstr>
      <vt:lpstr>Business Scenario: Retail Bank Transaction Analysis</vt:lpstr>
      <vt:lpstr>1. Pivot Table</vt:lpstr>
      <vt:lpstr>Apply pivot table on clean sheet</vt:lpstr>
      <vt:lpstr>Apply pivot table on clean sheet</vt:lpstr>
      <vt:lpstr>Apply pivot table on clean sheet</vt:lpstr>
      <vt:lpstr>Grouping</vt:lpstr>
      <vt:lpstr>Subtotal</vt:lpstr>
      <vt:lpstr>Subtotal</vt:lpstr>
      <vt:lpstr>Filtering</vt:lpstr>
      <vt:lpstr>Filter</vt:lpstr>
      <vt:lpstr>What is Slicing?</vt:lpstr>
      <vt:lpstr>Filtering Vs Slicing</vt:lpstr>
      <vt:lpstr>Transaction Summary use cases</vt:lpstr>
      <vt:lpstr>Transaction Summary use cases</vt:lpstr>
      <vt:lpstr>Transaction Summary use cases</vt:lpstr>
      <vt:lpstr>Transaction Summary use cases</vt:lpstr>
      <vt:lpstr>Transaction Summary use cases</vt:lpstr>
      <vt:lpstr>Transaction Summary into 5 perspectives</vt:lpstr>
      <vt:lpstr>Reporting Use Cases — Finance &amp; AML</vt:lpstr>
      <vt:lpstr>2. AML Reporting Use Cases</vt:lpstr>
      <vt:lpstr>Assignment</vt:lpstr>
      <vt:lpstr>PowerPoint Presentation</vt:lpstr>
      <vt:lpstr>PowerPoint Presentation</vt:lpstr>
      <vt:lpstr>Pivot Table </vt:lpstr>
      <vt:lpstr>2. Grouping and Summarizing </vt:lpstr>
      <vt:lpstr>2. Grouping and Summarizing </vt:lpstr>
      <vt:lpstr>3. Filtering</vt:lpstr>
      <vt:lpstr>Why slicing is useful?</vt:lpstr>
      <vt:lpstr>4. Pivot Chart (Basics)</vt:lpstr>
      <vt:lpstr>Pivot Chart</vt:lpstr>
      <vt:lpstr>5. Transaction Summary Use Cases</vt:lpstr>
      <vt:lpstr>5. Transaction Summary Use Cases</vt:lpstr>
      <vt:lpstr>5. Transaction Summary Use Cases</vt:lpstr>
      <vt:lpstr>5. Transaction Summary Use Cases</vt:lpstr>
      <vt:lpstr>6. Reporting Use Cases — Finance</vt:lpstr>
      <vt:lpstr>7. Reporting Use Cases — AML</vt:lpstr>
      <vt:lpstr>PowerPoint Presentation</vt:lpstr>
      <vt:lpstr>Key Message</vt:lpstr>
      <vt:lpstr>Reinforcement Lab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Ashu Jauhari</cp:lastModifiedBy>
  <cp:revision>268</cp:revision>
  <dcterms:created xsi:type="dcterms:W3CDTF">2026-07-30T07:56:53Z</dcterms:created>
  <dcterms:modified xsi:type="dcterms:W3CDTF">2026-09-18T14:04:21Z</dcterms:modified>
</cp:coreProperties>
</file>